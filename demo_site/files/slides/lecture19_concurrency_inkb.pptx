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8" r:id="rId3"/>
    <p:sldId id="259" r:id="rId4"/>
    <p:sldId id="327" r:id="rId5"/>
    <p:sldId id="328" r:id="rId6"/>
    <p:sldId id="329" r:id="rId7"/>
    <p:sldId id="330" r:id="rId8"/>
    <p:sldId id="331" r:id="rId9"/>
    <p:sldId id="264" r:id="rId10"/>
    <p:sldId id="260" r:id="rId11"/>
    <p:sldId id="332" r:id="rId12"/>
    <p:sldId id="333" r:id="rId13"/>
    <p:sldId id="261" r:id="rId14"/>
    <p:sldId id="324" r:id="rId15"/>
    <p:sldId id="325" r:id="rId16"/>
    <p:sldId id="326" r:id="rId17"/>
    <p:sldId id="269" r:id="rId18"/>
    <p:sldId id="270" r:id="rId19"/>
    <p:sldId id="271" r:id="rId20"/>
    <p:sldId id="272" r:id="rId21"/>
    <p:sldId id="273" r:id="rId22"/>
    <p:sldId id="274" r:id="rId23"/>
    <p:sldId id="276" r:id="rId24"/>
    <p:sldId id="334" r:id="rId25"/>
    <p:sldId id="277" r:id="rId26"/>
    <p:sldId id="278" r:id="rId27"/>
    <p:sldId id="279" r:id="rId28"/>
    <p:sldId id="335" r:id="rId29"/>
    <p:sldId id="282" r:id="rId30"/>
    <p:sldId id="283" r:id="rId31"/>
    <p:sldId id="284" r:id="rId32"/>
    <p:sldId id="285" r:id="rId33"/>
    <p:sldId id="286" r:id="rId34"/>
    <p:sldId id="288" r:id="rId35"/>
    <p:sldId id="289" r:id="rId36"/>
    <p:sldId id="290" r:id="rId37"/>
    <p:sldId id="291" r:id="rId38"/>
    <p:sldId id="292" r:id="rId39"/>
    <p:sldId id="293" r:id="rId40"/>
    <p:sldId id="336" r:id="rId41"/>
    <p:sldId id="294" r:id="rId42"/>
    <p:sldId id="295" r:id="rId43"/>
    <p:sldId id="296" r:id="rId44"/>
    <p:sldId id="322" r:id="rId45"/>
    <p:sldId id="298" r:id="rId46"/>
    <p:sldId id="300" r:id="rId47"/>
    <p:sldId id="301" r:id="rId48"/>
    <p:sldId id="314" r:id="rId49"/>
    <p:sldId id="315" r:id="rId50"/>
    <p:sldId id="316" r:id="rId51"/>
    <p:sldId id="317" r:id="rId52"/>
    <p:sldId id="318" r:id="rId53"/>
    <p:sldId id="319" r:id="rId54"/>
    <p:sldId id="320" r:id="rId55"/>
    <p:sldId id="321" r:id="rId56"/>
    <p:sldId id="302" r:id="rId57"/>
    <p:sldId id="303" r:id="rId58"/>
    <p:sldId id="304" r:id="rId59"/>
    <p:sldId id="305" r:id="rId60"/>
    <p:sldId id="306" r:id="rId61"/>
    <p:sldId id="307" r:id="rId62"/>
    <p:sldId id="308" r:id="rId63"/>
    <p:sldId id="309" r:id="rId64"/>
    <p:sldId id="311" r:id="rId65"/>
    <p:sldId id="310" r:id="rId66"/>
    <p:sldId id="312" r:id="rId67"/>
    <p:sldId id="313" r:id="rId6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FF9900"/>
    <a:srgbClr val="FF9797"/>
    <a:srgbClr val="FF6464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3T23:41:53.2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6555 5826 0,'-9'0'0,"1"17"0,8-17 0,-26 42 16,-17 26-16,-16 51 15,8 34 1,-1 9-16,-7 33 16,-1 1-16,26-68 31,0-60-31,16-26 15,10-16 1,8-18-16,0-8 16</inkml:trace>
  <inkml:trace contextRef="#ctx0" brushRef="#br0" timeOffset="683.42">6572 5817 0,'0'0'0,"0"0"0,8 9 16,27 25-1,41 17 1,44 0-16,76-26 15,35-16 1,16-26-16,18-26 16,8-25-1,-17 0-15,-26 26 16,-25 8 0,-26 25-16,-33 9 15,-36 17-15,-24 17 16,-18 0-1,-25 0 1,-9 9-16,-17 16 16,-17 35-16,-34 42 15,-26 17-15,0 0 16,1 0 0,7 9-16,10-26 31,8-17-31,17-17 15,-1-17 1,10-26-16,-1-8 0,1-8 16,-1-18-1,-8 1 1,-25-9-16,-52-9 16,-26-8-1,-51-25 1,-42-18-16,-26-16 0,-25 8 15,-1 8 1,17 9 0,1 9-16,8 8 15,34 0-15,43 0 16,-128-9 0</inkml:trace>
  <inkml:trace contextRef="#ctx0" brushRef="#br0" timeOffset="1386.59">7920 6089 0,'0'9'0,"0"50"0,0 35 16,0-1-16,0-8 16,-8 17-1,-1 26 1,9 8-16,0-8 15,-8 16-15,-26 145 16</inkml:trace>
  <inkml:trace contextRef="#ctx0" brushRef="#br0" timeOffset="2058.23">7152 6293 0,'0'0'16,"17"0"-16,9 17 0,8 9 15,9 8 1,-1 17-1,-7 17-15,-35 17 16,-17 17-16,-18-8 16,-16-18-1,0-25-15,17-25 16,0-1-16,17-16 31,0-1-31,17-8 16,0 0-1,8-8-15,26-18 16,52 1-16,42-1 16,8 1-1,9 8 1,163-17-16</inkml:trace>
  <inkml:trace contextRef="#ctx0" brushRef="#br0" timeOffset="6029.87">8791 4950 0,'0'0'0,"0"0"0,0 0 16,0 0 0,0 0-16,0 0 15,0 0 1,-9 0-1,-8 0 1,-17 0-16,-8 0 16,-1 0-16,0 0 15,-17 0 1,1 17 0,-1 17-16,9 8 15,8 26 1,9 9-16,17-35 0,8-16 15,1-18 1,-1-16-16,1-52 16,-1-16-1,9 59 1</inkml:trace>
  <inkml:trace contextRef="#ctx0" brushRef="#br0" timeOffset="6349.15">8253 4720 0,'0'0'0,"0"0"0,0 0 15,-8 0 1,-1 17 0,-16 26-16,-10-1 15,1 1 1,0 16-16,0 26 16,8 17-1,9-8 1,0-18-16,9-25 15,8-25-15,0-1 16,0-16 0,0-1-16,0 1 15,17-1 1,8 1-16,27-9 16,50-43-1,171-67-15</inkml:trace>
  <inkml:trace contextRef="#ctx0" brushRef="#br0" timeOffset="8960.77">5232 4992 0,'0'0'0,"26"0"15,25 17-15,8 0 16,-16 17-1,-17 9-15,-1 16 16,1 26 0,-9 9-16,-8 33 15,-1 35-15,-8-17 16,0-43 0,0 0-1,0 17-15,9-9 16,-9-25-1,25-8-15,18-18 16,25-16 0,26-9-16,9-9 15,-44-16-15,-8-1 16,18-8 0,-18 0-16,-34 0 15</inkml:trace>
  <inkml:trace contextRef="#ctx0" brushRef="#br0" timeOffset="9326.45">5992 6217 0,'0'0'0,"0"0"0,0 0 0,0 0 31,8 8-31,1 1 0,-1-1 16,1 1-16,-1-1 31,9 9-31,17 0 16,1 9-1,-10-1-15,1 1 16,-18 8 0,-25 25-16,-8 35 15,-10 51-15,-16-1 16,-17-59-16,42-51 31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3T23:42:29.9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16063 5392 0,'0'0'0,"0"0"16,8 8-16,9 35 15,18 50-15,-18 52 16,-34 34 0,-35 42-1,-33 17-15,8-60 16,34-25 0,9-8-16,9-43 15,25-51-15,0-8 16,0-26-1,0-9-15</inkml:trace>
  <inkml:trace contextRef="#ctx0" brushRef="#br0" timeOffset="876.71">16080 5383 0,'0'0'0,"0"0"16,8 0-1,18 0-15,17 9 16,42-1-16,34-8 31,27 0-15,24-8-16,10 8 0,24 17 16,10 8-1,-9 9 1,8 17-16,9 9 15,-17 8 1,-18 0-16,-24 0 16,-35 0-1,-17-17-15,-26 9 0,-17-1 32,-8 1-32,-17-1 15,-9 9 1,-9-8-16,-16-9 15,-9 17 1,-9 8-16,1-8 16,-1-8-1,1-1-15,8 1 16,0 0 0,8-1-16,9-8 15,0 17 1,-8-8-16,0-1 15,8-8 1,-9-8-16,1-18 16,-1 1-1,-8-18-15,-8 9 16,-9 0-16,-35 0 16,-33-8-1,-86-18-15,-25-16 31,25-1-31,-68 1 16,-17 8-16,-8 17 16,-9 8-1,-1 1-15,18 8 16,17-9 0,26-8-1,94-8-15,16-18 16,26 1-16,18-9 15,24-17 1,18 25 0</inkml:trace>
  <inkml:trace contextRef="#ctx0" brushRef="#br0" timeOffset="1197.58">17608 5758 0,'0'0'0,"-9"17"0,-17 42 15,-25 52 1,-26 25-16,9 17 16,0 25-16,0 9 15,16-16 1,18-35 0,0-17-16,17-17 0,8-60 31</inkml:trace>
  <inkml:trace contextRef="#ctx0" brushRef="#br0" timeOffset="1510.75">16515 6174 0,'0'0'0,"0"0"16,0 34-1,-8 34-15,-9 34 16,-18 51-16,-7 69 16,-18 126-1</inkml:trace>
  <inkml:trace contextRef="#ctx0" brushRef="#br0" timeOffset="3747.25">14356 5570 0,'0'9'0,"-9"16"0,1 18 0,-9 25 16,-9 17-1,-8-8 1,17 8-16,0 8 15,0 9 1,8-8-16,9-18 16,0-16-1,17-18-15,43 1 16,59-1 0,1-8-16,17-25 15,42-9-15,-9-17 16,-33-9-1,0 1 1,33-9-16,129-51 0</inkml:trace>
  <inkml:trace contextRef="#ctx0" brushRef="#br0" timeOffset="4123.76">15278 5953 0,'0'0'0,"0"0"15,0 17-15,0 0 16,17 9-1,17 16-15,26 1 16,8-1 0,9 9-16,-1-8 15,-7-18 1,-35 1-16,-9-1 16,1 1-1,-9 8-15,-17 25 16,-60 35-16,-76 59 15,-35 9 1,17-26-16,-76 68 16</inkml:trace>
  <inkml:trace contextRef="#ctx0" brushRef="#br0" timeOffset="6611.75">10848 4541 0,'0'0'0,"-9"9"15,-8 25-15,-8 17 16,-1 17-1,0 0-15,1 9 16,-1-18 0,9-16-16,0-18 15,9 1 1,8-18-16,0 1 16,8-18-1,52-16 1,51-26-16,34-26 15,-9-8 1,-33 25-16,-26 35 16,-43 8-1,-9 17-15,-16 34 16,-9 43-16,-17 33 16,-9 9-1,9-34-15,17-17 16,17-34-1,26-17-15,51-51 16,51-51 0,0-34-1,-25 9-15,-35 16 16,-42 43 0,-18 17-1,-8 17-15,-8 17 16,-18 17-16,-16 51 15,-35 60-15,-17 25 16,17-17 0,26-51-1,17-34-15,17-26 16,0-8-16,43-25 16,76-77-1,43-51-15,1 17 16,-10 25-1,-16 26-15,-35 26 16,-16 33-16,-27 26 16,-7 26-1,-18 8-15,-9 17 32,-16-9-32,-1-16 15,9-1 1,43-16-16,111-52 15,153-67-15</inkml:trace>
  <inkml:trace contextRef="#ctx0" brushRef="#br0" timeOffset="9331.39">5497 4873 0,'0'0'0,"-9"0"15,0 0 1,1 0-16,-9 17 0,0 17 31,-9 9-31,9 8 16,0 8-1,17-16-15,0-18 16,9-16 0,8-9-1,59-51-15,61-43 16,17-25-16,-26 9 16,-17 7-1,-9 10-15,-25 33 16,-17 35-1,-18 16 1,1 18-16,-9 42 16,-17 59-1,-17 27-15,-8-1 16,-9-17 0,-1-43-16,18-25 15,9-25-15,25-26 16,26-26-1,42-50-15,18-18 16,-9 1 0,-9-9-1,-8 16-15,-43 35 16,-17 26 0,-8 8-16,-9 17 15,0 25-15,-25 60 16,-44 94-1,-16 17-15,17-69 16,34-59 0,8-17-16,18-25 15,25-1 1,34 1 0,69-18-16,42-8 15,-42-17-15,-86 9 16</inkml:trace>
  <inkml:trace contextRef="#ctx0" brushRef="#br0" timeOffset="10445.99">4404 5060 0,'0'0'0,"0"0"0,0 0 16,0 0-16,-9 0 15,1 9 1,-1 8 0,1 17-16,-1 25 15,9 26-15,26 17 16,25 17-1,26 34-15,8 1 16,26-18 0,26 17-16,8-9 15,26-25 1,42-17 0,43-17-16,26-8 15,25-17 1,-8-1-16,16-8 15,35-8-15,26-9 16,-9-26 0,9 1-1,25-9-15,8-9 0,-8 1 16,26-1 0,8 9-1,-16 17 1,-10 17-16,27-8 15,-10-9 1,-50 0 0,-9 0-16,0 0 0,-17 17 15,-34 0-15,-9 0 16,-42 0 0,-52-9-1,-42 1 1,-60-18-1,-35 1-15,-33-1 16,-17-8-16,-18 0 16,-8 0-16,-8-8 15,-9-9 1,-26-26 0,-17 1-16,-8 8 15,-9 0 1,0 8-16,18 9 15,16 9-15,9 8 16,17 0 0,17 0-1,8 0-15,43 17 16,43 0 0,34 8-16,0-8 15,-17 9-15,-42-1 16,-10-8-1,-8 17 1,-16 9 0,-27 33-16,-25 35 15,-43 25 1,-25 0-16,-9 0 16,-85 111-16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3T23:43:25.7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2868 5341 0,'0'0'0,"0"0"0,0 0 15,0 0 1,0 8-1,0 1-15</inkml:trace>
  <inkml:trace contextRef="#ctx0" brushRef="#br0" timeOffset="1101.63">6145 6030 0,'0'0'0,"0"0"16,0 0-16,0 0 16,0 8-1,0 18 1,0 25-16,0 17 16,9-9-1,-1 1-15,9-1 16,0 1-16,26-9 15,17 8 1,17-16-16,51-9 16,25-9-1,9-16 1,18-18-16,16-8 16,9 0-1,17-17-15,-9 9 16,18-1-1,-1 18-15,26-1 16,0 9-16,-34 9 31,8-1-31,-33 18 16,33-1 0,18 1-16,-9-1 15,-26-8-15,-59 0 0,-43-8 31,-43 0-15,-25-1-16,-18-8 0,-16 0 16,-1 0-1,1 0 1,-9-8-16,8-18 16,1-34-1,-1 18 1</inkml:trace>
  <inkml:trace contextRef="#ctx0" brushRef="#br0" timeOffset="15585.11">14774 6132 0,'0'0'0,"9"0"15,42 17-15,43 8 16,17 9-16,-9 0 15,77 0 1,43-8-16,85-18 16,43 1-1,0-35-15,145 1 16,34 42 0,26 34-1,-137 0-15</inkml:trace>
  <inkml:trace contextRef="#ctx0" brushRef="#br0" timeOffset="18806.74">7664 7314 0,'0'0'0,"0"0"16,0 0-16,0 0 16,0 0-1,0 0 1,0 0-1,0 0-15,0 0 16,0 0-16,0 0 16,0 0-1,17 8 1,60 26-16,77 9 0,-18-9 31,-8 8-31,120 18 0,8-18 31,26-25-31,127 9 16,18-17-16,43-1 16,170-8-16,-214 0 31</inkml:trace>
  <inkml:trace contextRef="#ctx0" brushRef="#br0" timeOffset="22577.68">7203 8173 0,'0'0'0,"0"0"0,0 0 16,0 0-1,0 0-15,0 8 16,0 1-16,0-1 16,-8 9-1,8 0 1,0 9-16,0 16 15,8 9 1,10 9 0,-1-9-16,17-9 15,0 1 1,34-18-16,26 1 16,8-17-1,35-18-15,59-17 16,-25 9-16,-17-8 15,68-18 1,-18 18-16,27 16 16,-9-8-1,8 17 1,18 0-16,8 17 16,25 9-16,-16-9 15,8-9 1,9 9-1,-1 0-15,18 17 16,8-8-16,18 8 16,-18-8-1,-17-18 1,0 1-16,-34-1 16,-34 1-1,-17-9-15,-9 8 16,-67-16-16,-36-1 15,-33 9 1,-26 0 0,-8-8-16,-18-1 15,1 1 1,-18-26-16,-8-60 16,-25-187-1</inkml:trace>
  <inkml:trace contextRef="#ctx0" brushRef="#br0" timeOffset="55240.2">5539 9423 0,'0'0'0,"0"25"16,-8 18 0,8 34-16,0 8 15,0 17 1,17 8-16,0 1 16,17-9-1,0-34-15,0-26 16,0 1-16,26-9 15,34-9 1,25-8-16,18-17 16,8 0-1,26 9-15,0-9 16,25 0 0,17-17-16,9 0 15,9-9 1,-1-8-1,9-8-15,8 8 16,10 0-16,-10 17 16,1 17-1,-1 0 1,1 8-16,8 1 16,17-9-1,34-9-15,17 1 16,-8-1-16,8 1 15,9-18 1,9 1 0,-9-9-16,-1 0 15,27 0-15,-18 17 16,-25 17 0,-34 0-16,-18 8 15,-33 1 1,-61 8-1,-24 8-15,-44 1 16,-17-1 0,-25-8-16,-17 0 15,-9-8-15,-8-1 16,-18 1 0,1-9-16,8-9 15,17-25 1,26-51-1,-26 34-15</inkml:trace>
  <inkml:trace contextRef="#ctx0" brushRef="#br0" timeOffset="56534.17">17838 9865 0,'0'0'0,"0"0"16,0 0-16,9 0 15,8 9 1,59-1 0,112-8-16,68-17 15,52 0 1,187-8-16,8 16 15,-25 26 1,51 17-16,-25 17 16,-95-17-16</inkml:trace>
  <inkml:trace contextRef="#ctx0" brushRef="#br0" timeOffset="65419.88">3235 11498 0,'0'0'0,"-9"0"0,1 17 16,-9 17 0,-9 0-1,9 17-15,0 9 16,0 8 0,0 0-16,0 17 15,0-9 1,17-16-16,0-18 15,17 1-15,0-9 16,17-9-16,9-16 16,8-1-1,17-25 1,26 0 0,17-8-16,17-9 15,8 0-15,18 0 16,17 0-1,17 8-15,-1 1 16,27-1 0,8 9-1,-9 9-15,9-1 16,0 9-16,0-8 16,17 8-1,8 0 1,-8 0-16,-8 8 15,8 1 1,8-9-16,1 8 16,16 1-16,-8-1 15,9-8 1,-18 9-16,26 8 16,-16 0-1,-19 17 1,19 0-16,-10 17 15,9 0 1,-34 0-16,0-9 16,-9-16-16,9-1 15,17 1 1,-8-9 0,-18 0-16,17 8 0,-16-7 31,-1-10-31,-8 1 15,-26-1 1,18 1-16,7-1 16,-24 1-1,-1 8 1,-8-9-16,-26 1 16,-9-1-16,-8 1 15,0 8 1,0-9-16,-17 1 15,-17-9 1,-9 0 0,-25-9-16,0 1 15,-17-1 1,-18 1-16,1-1 16,-1 1-16,1-9 15,0-9 1,-1-25-16,1-17 15,-18-26 1,-8-16 0,9-9-16,-9-17 15,8 8-15,10 1 16,-1 25 0,-9 25-16,1 26 15,-1 17 1,-8 8-16,0 9 15,0 9 1,0-1 0,0 9-16,-8 0 15,-1 0-15,-34 0 16,-33 26 0,-18 8-16,-9 0 15,-33 0-15,-18-8 16,9-18-1,-26-16 1,-33-1 0,-10-8-16,-16 8 15,-9 1 1,8-1-16,-8-16 0,9-1 31,-9 1-31,-17-1 16,0-8-16,-9 0 15,1 17 1,-1 0-16,-8 9 16,8-1-16,9-8 31,9-8-31,-1-1 16,-8 9-1,0-8 1,9 8-16,8 8 0,-9 9 15,9 0 1,-8-8 0,16 8-16,1-9 15,8 1 1,9-9-16,-1 0 16,9 8-1,-8 1-15,8-1 16,26-8-16,-17 0 15,8 0 1,34 0-16,-17 0 16,-8 0-1,26 17-15,-27 0 16,10 0 0,25-8-1,8-1-15,-8-8 16,0 0-1,25 0-15,1 0 16,-1 0-16,9 0 16,18 0-1,24 9 1,27 8-16,7 0 16,18 0-1,0 0-15,0 0 16,0 42-16,0 60 15,9 85 1,16 26 0,35 93-16</inkml:trace>
  <inkml:trace contextRef="#ctx0" brushRef="#br0" timeOffset="71782.32">18342 12468 0,'0'0'0,"0"0"16,34-9-16,34-16 16,43-1-1,51-17-15,52 9 16,93-8-1,77-1-15,85 26 16,-59 17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3T23:46:13.6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1980 5868 0,'0'0'0,"0"0"0,0 0 16,0 17-1,17 0-15,17 17 16,26-8 0,145-1-1,102-25-15,60-51 16,145-17-16,-85 26 15,-43 16 1,0 18-16,-25-1 16</inkml:trace>
  <inkml:trace contextRef="#ctx0" brushRef="#br0" timeOffset="2290.08">20492 7492 0,'0'0'0,"0"0"16,0 0-16,0 0 15,26-8 1,25-9-16,103-26 15,93-8 1,163 26-16,145 50 16,-17 60-1,8 26-15,43-26 16,-163-42 0</inkml:trace>
  <inkml:trace contextRef="#ctx0" brushRef="#br0" timeOffset="4567.99">4524 7688 0,'0'0'0,"0"0"15,0 0-15,8 17 32,9 17-32,9 9 15,-9-1 1,8 1-16,1-1 15,8-8 1,26 0-16,0-8 16,25-9-16,52-17 15,59-26 1,9-8 0,17 0-16,0-8 0,8-1 31,0 9-31,44 9 15,16 8 1,25 0-16,1 8 0,-26 1 16,18 8-16,-27 17 15,10 0 1,-10 17 0,9 17-1,-16-9 1,50 1-16,-8 8 15,25-17 1,-8 0-16,-43-17 16,43 0-16,-9-9 0,43 1 31,-42 8-31,-35-17 16,51 0-1,-76 0-15,34-9 0</inkml:trace>
  <inkml:trace contextRef="#ctx0" brushRef="#br0" timeOffset="9603.04">7246 8113 0,'0'0'0,"0"0"0,0 0 16,-8 17-1,-9 26-15,-9 42 16,-25 42-16,0-8 16,8-25-1,17 0 1,9-1-16,17-8 15,0 9-15,9-26 32,8-9-32,0-16 15,0-9 1,26 0-16,33 0 16,52-9-1,9 1-15,25-9 16,52-9-1,-35-8-15,9 0 16,42 17-16,-34-8 0,43 8 16,-8-9-1,33 9 1,1-8 0,8 8-16,-8-9 15,-1 1 1,1-1-16,-9-8 15,0 9 1,-17-9 0,25 0-16,-25 0 15,9-9 1,-52-8-16,-8 0 16,8 17-1,-68-8-15,-8 8 16,-9 8-16,-43 1 0,-25-1 15,-18 1 1,-8-9 0,0-9-1,1 1 1,7-18-16,9-16 16,0-18-1,9-25-15,0-8 16,-18 8-1,1-9-15,-9-8 16,-8 0 0,-1 17-16,1 8 15,-1 18 1,-8 16-16,0 9 16,0 17-1,0 0-15,0 9 16,0-1-1,0 9-15,0 0 16,-8 0-16,-1 0 16,-8 0-1,-34 9 1,-43 8-16,-51 17 16,-34-9-1,-43 1-15,-17-18 16,-26-8-16,-17-8 15,-33-18 1,-52 1 0,-26 8-16,-68 8 15,-25 26-15,16 9 16,9-1 0,-17-16-16,26-9 15,59-17 1,18 0-16,-43 17 15,25 0 1</inkml:trace>
  <inkml:trace contextRef="#ctx0" brushRef="#br0" timeOffset="12603.44">21192 9244 0,'0'0'0,"0"0"0,9 0 0,59 9 16,77 8-1,-8-9 1,-26 9 0,76 0-16,18 0 15,68-8 1,1-1-16,50-16 0,17 8 16,-42-9-1,25 1 1,-59 8-16,59 8 15,-25-16 1,17-1 0,-35 9-16,-42 0 15,0 9 1,-76 8-16,-18 0 16,-52 0-1,-41-9 1,-27 1-16,-16-1 0,-1 1 15,-33 8 1,-35 8 0,-77 9-16,-76-8 15,-69 8 1,-16-8-16,-86-1 16,8-16-1,43-9-15,-94-9 16,35 9-1</inkml:trace>
  <inkml:trace contextRef="#ctx0" brushRef="#br0" timeOffset="48571.76">3883 13599 0,'0'0'0,"-8"-9"0,-18 1 0,-170-69 0,102 69 15,0 8 1,9-9-16,8 1 0,17 8 31,18 0-31,7 0 16,1 0-1,0 0-15,0 8 16,-26 43 0,-8 43-16,8 50 15,18 26-15,25 0 16,8 26-1,9-9 1,0-8-16,0 8 0,0-17 16,0 17-1,-9 34 1,-8-8-16,9-26 16,-1-34-1,9-43 1,0-7-16,17-10 15,0-16-15,1-18 32,-1-8-32,17-8 15,25-9-15,52-9 16,43-16-16,85-9 16,51 34-1,52 34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3T23:57:05.1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3107 15597 0,'0'0'0,"0"0"15,0 0 1,0 0-16,25 17 16,1-8-1</inkml:trace>
  <inkml:trace contextRef="#ctx0" brushRef="#br0" timeOffset="2992.25">14202 9755 0,'0'0'0,"0"8"0,0 18 16,0 16 0,0 26-1,-8 17-15,-9 17 16,-9-25-1,0-9-15,-8 8 16,17-16 0,9-35-16</inkml:trace>
  <inkml:trace contextRef="#ctx0" brushRef="#br0" timeOffset="3495.54">14893 9746 0,'0'0'0,"0"0"16,-8 0-16,-9 17 15,-9 9 1,1 8-16,8-9 16,0 1-16,8 8 15,9 0 1,0 0-16,17 0 15,9 0 1,25 8-16,0-8 16,-8-8-1,-1-1-15,-16 1 16,-9-1 0,-8 9-1,-26 26-15,-26 33 16,-17-16-1,17-43-15,18-17 16,-1-51 0,9 9-16</inkml:trace>
  <inkml:trace contextRef="#ctx0" brushRef="#br0" timeOffset="3722.92">14808 9678 0,'0'0'0,"26"34"16,42 26-16,43 25 16,17-9-1,9-25-15,-1-17 16,1-25-1,-35-26-15,-68 0 16</inkml:trace>
  <inkml:trace contextRef="#ctx0" brushRef="#br0" timeOffset="4171.84">16413 9967 0,'0'0'0,"-9"-8"0,1-1 15,-18 1-15,-25-1 16,-17 9 0,-26 17-16,0 17 15,17 9-15,26 8 16,8 17 0,35 8-1,33-8-15,60 0 16,26-17-1,43-34-15,8-34 16,-34-17 0,-34-17-16,-34-8 15,-43-1 1,-43-25-16,-119-34 16,-153-51-1</inkml:trace>
  <inkml:trace contextRef="#ctx0" brushRef="#br0" timeOffset="17141.88">23633 10690 0,'0'0'0,"-8"9"15,-9 25-15,-17 8 16,-9 18-1,9 8-15,8-9 16,9-8-16,0-8 16,17-18-1,0-8-15</inkml:trace>
  <inkml:trace contextRef="#ctx0" brushRef="#br0" timeOffset="17708.84">24461 10682 0,'0'0'0,"0"0"15,-8 0-15,-1 8 16,1 1-1,-1-1-15,0 1 16,9-1 0,0 1-1,0-9-15,0 8 16,0 1 0,9 8-16,8-9 15,0 1-15,17 8 16,0 0-1,-8 17 1,-9 42-16,-25 35 16,-18-1-1,-8-33-15,-9-18 16,-17-25-16,1-8 16,-1-18-1,26 1-15</inkml:trace>
  <inkml:trace contextRef="#ctx0" brushRef="#br0" timeOffset="17949.8">24495 10460 0,'0'0'0,"0"0"15,0 0-15,9 0 16,25 18-16,17-1 16,35 0-1,16-9 1,17-16 0,9-9-16,0-9 15,1-17-15,-61 18 16</inkml:trace>
  <inkml:trace contextRef="#ctx0" brushRef="#br0" timeOffset="18305.03">25050 10886 0,'0'8'0,"0"18"15,0 16-15,9 18 0,33 16 32,18-8-32,34-8 0,8-35 15,1-16 1,-1-26-1,1-17 1,-35-17-16,-17-9 16,-25-8-1,-26-8-15,-43-26 16,-59 0 0,42 51-16</inkml:trace>
  <inkml:trace contextRef="#ctx0" brushRef="#br0" timeOffset="22878.9">17770 11387 0,'0'0'0,"0"0"0,0 0 15,0 0-15,0 0 16,8 0 0,9 17-1,18 0-15,7 1 16,44 16-1,67 0 1,9-17-16,43-9 0,43-16 31,-18 8-31,26 8 16,-8 9-16,16 9 16,9 8-16,-8 8 15,-9 18 1,-17-9-16,-9 0 15,-16-17 1,25 8-16,-69-25 16,-110-8-1</inkml:trace>
  <inkml:trace contextRef="#ctx0" brushRef="#br0" timeOffset="23717.08">20032 12612 0,'0'0'0,"0"0"0,8 0 15,9 0-15,26 9 16,25-1 0,0 1-1,9 8-15,17-9 16,8-8-16,35 0 15,17-8 1,-18-9-16,35-9 16,34 1-1,-9-1-15,26-8 32,-26 9-32,18-1 0,33 1 15,18 8 1,8 0-1,17 0-15,9-1 16,-9 1 0,-8 0-16,-9 9 15,-9 16 1,-16 1-16,25 8 16,34 17-16,9 0 15,-17 0 1,-26-34-1,60-8-15</inkml:trace>
  <inkml:trace contextRef="#ctx0" brushRef="#br0" timeOffset="28305.91">17471 13037 0,'0'0'0,"0"0"0,0 0 16,0 0 0,0 0-1,0 9-15,0 25 16,0 42-16,0 26 16,0-8-1,0 0 1,0 8-16,0-9 15,0-16 1,17-18-16,0-8 16,17-17-16,43-25 15,34-26 1,26-34-16,25-17 16,26 8-1,-52 26-15,9 9 16,34 8-1,-25 17 1,0 0-16,59 17 16,-42 8-1,-1 18-15,44-1 16,-43 1-16,-35-9 16,9 8-1,-8-8-15,-26-8 16,-43-18-1,-17 1 1,-25-9-16,-1-9 16,-7-8-1,-10-25-15,1-18 16,-1-25 0,9-25-16,-8 42 15</inkml:trace>
  <inkml:trace contextRef="#ctx0" brushRef="#br0" timeOffset="29393.31">23232 13641 0,'0'0'16,"0"0"-16,0 0 0,0 0 16,0 0-16,0 9 31,17 8-31,17 8 16,9 1-1,42-1-15,43 1 16,9-18-1,-35 1-15,-33-9 16,7 8 0,-24 1-16,-10-9 15,-16 8 1,-18-8-16,1 26 16,-26 16-1,-17 26-15,-26 9 16,-17 8-1,9-9-15,8-16 16,18-17 0,24-18-16,1 1 15,17-18 1,0 1-16</inkml:trace>
  <inkml:trace contextRef="#ctx0" brushRef="#br0" timeOffset="29851.69">24598 13956 0,'0'0'0,"0"0"16,0 0-1,0 0-15,-9 0 16,-8 17-16,-8 17 16,-1 0-1,9 0-15,0 0 16,17 0 0,0 0-1,0 0-15,17 8 31,17 18-31,9 0 0,-1-18 16,-8 1 0,-8-1-16,0-8 15,-18 9 1,-8 8 0,-17 0-16,-17 8 0,0-16 15,8-26 1,18-17-16</inkml:trace>
  <inkml:trace contextRef="#ctx0" brushRef="#br0" timeOffset="30050.74">24803 14041 0,'0'0'16,"0"0"-16,25 17 16,52 17-16,94 17 15,59-26 1,86-16-16</inkml:trace>
  <inkml:trace contextRef="#ctx0" brushRef="#br0" timeOffset="33598.21">5915 13599 0,'0'0'0,"0"0"16,0 0-16,0 0 15,0 0 1,0 0-16,0 0 16,0 0-1,17 0-15,60 8 16,59 9-1,9 0 1,0-8-16,26 8 16,0-9-16,-35 1 15,-25-1 1,9-8-16,-18-8 16,-16-1-1,-18-16-15,-17-1 16,-34 18-1</inkml:trace>
  <inkml:trace contextRef="#ctx0" brushRef="#br0" timeOffset="33851.49">7041 13471 0,'0'0'0,"-8"0"16,8 0-16,0 0 15,0 0 1,0 0-1,8 0 1,26 17-16,35 0 0,16 17 16,-8-8-1,-17-1 1,-18 1 0,-16 8-16,-26 25 15,-85 103-15,-43 67 16,25-33-1,-59 85 1</inkml:trace>
  <inkml:trace contextRef="#ctx0" brushRef="#br0" timeOffset="41208.1">7707 14075 0,'0'0'0,"0"0"0,0 0 16,0-9 0,0-8-1,17 0-15,9-8 16,25 8-16,17 0 16,35 0-1,8 8 1,17-16-16,76-18 15,1-8-15,9-8 16,16-1 0,18 18-16,-9 16 15,17 18 1,0 8-16,-9 8 16,9 1-1,-8-9 1,16-17-16,86-26 15</inkml:trace>
  <inkml:trace contextRef="#ctx0" brushRef="#br0" timeOffset="41832.9">10660 14526 0,'0'0'0,"0"0"31,0 0-31,0 0 16,34 0 0,52 0-1,42-9-15,34 1 16,34-1-1,18 1-15,42-1 16,42 1-16,27-1 16,59-16-1,8-1 1,26 9-16,9 17 16,9 26-16,-1 25 15,26 51 1,68-26-1,-119-50-15</inkml:trace>
  <inkml:trace contextRef="#ctx0" brushRef="#br0" timeOffset="48164.62">12273 16073 0,'0'0'0,"0"0"16,0 0-16,0 0 15,0 0 1,0 0-16,-8 0 15,-1 17-15,-25 17 16,-26 26 0,9 34-1,0 16 1,0-8-16,8-25 16,17-26-16,9-26 15,17-8 1,0-8-16,0-1 15,9 1-15,-1-1 16,9 1 0,1-1-1,-1 1-15,0-1 16,0 1-16,0 8 16,-9 0-1,1 0 1,-1 17-16,-8 0 15,-8 0 1,-1 0-16,1 0 16,-1-17-1,-8-9-15,-8-50 16,-1 8 0</inkml:trace>
  <inkml:trace contextRef="#ctx0" brushRef="#br0" timeOffset="48387.32">12162 16056 0,'0'0'0,"0"0"0,0 0 16,0 0 0,0 0-1,9 0-15,16 17 16,35 9-1,43-1-15,16-16 16,18-1-16,25-8 16,-26 0-1,-93 0-15</inkml:trace>
  <inkml:trace contextRef="#ctx0" brushRef="#br0" timeOffset="48711.15">13596 16329 0,'0'0'0,"-8"8"16,-27 26 0,-24 26-16,-18 8 15,0-9 1,0 9-16,9-8 16,17-9-1,17-17-15,8-9 16,9 1-1,17-1-15,17-8 16,34 9-16,52-26 16,25-34-1,0-17 1,-26-9-16,-25 1 16,-26-18-1,-25-8-15,-43 9 16,-77-1-1,-162-67-15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4T00:00:33.1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22080 8955 0,'0'0'0,"0"0"0,0 17 16,0 9-1,0-1-15,0 1 16,8 8 0,1 0-1,0 8-15,-1 18 16,1 8-16,-18 0 31,1-9-31,-1-16 16,9-1-1,0-25-15</inkml:trace>
  <inkml:trace contextRef="#ctx0" brushRef="#br0" timeOffset="485.12">23189 8879 0,'0'0'0,"0"0"15,0 0 1,-8 0-16,-9 8 16,-26 18-1,-17 8-15,-8 17 16,0-9 0,8 1-16,17-9 15,18-9-15,8-8 16,17-8-16,0-1 15,17 1 1,26-1 0,16 1-1,10-9-15,7 8 0,-24 1 32,-10 8-32,-16 0 0,-9 8 31,-9 18-31,-16 8 15,-1-17 1,-8-17-16,-8-26 0,8 1 31</inkml:trace>
  <inkml:trace contextRef="#ctx0" brushRef="#br0" timeOffset="723.29">23377 8462 0,'0'0'0,"9"8"16,25 26-16,26 34 15,-1 9 1,1-26-16,-9-8 15,1-18 1,-1-25-16,-17-8 16</inkml:trace>
  <inkml:trace contextRef="#ctx0" brushRef="#br0" timeOffset="1308.86">24145 9168 0,'0'0'0,"0"0"16,0 0-16,-8 0 15,-9 0 1,-9 0-16,-17 17 16,9 0-1,9 0-15,8 0 16,8 8 0,9 1-1,17-9-15,26 0 16,8-9-16,17-16 15,9-18 1,-9-25-16,-16-8 16,-18-9-1,-26 17-15,-25 0 16,-34 0 0,-85 0-1,-163-26-15</inkml:trace>
  <inkml:trace contextRef="#ctx0" brushRef="#br0" timeOffset="5813.26">8484 10537 0,'0'0'0,"-9"17"0,-16 34 16,-1 9 0,-17 8-16,9 8 15,0 9 1,17 0-16,0-25 16,17-1-1,0-16-15,17-9 16,-8-17-1</inkml:trace>
  <inkml:trace contextRef="#ctx0" brushRef="#br0" timeOffset="6182.34">8859 10954 0,'-8'0'0,"-1"17"16,1 17-16,-1 0 15,1-9-15,8 1 16,0-1 0,8-8-1,18-8-15,16-9 16,35-34-16,0-26 31,-9 9-31,-25 9 16,-9-9-1,-8-9-15,-18-16 0,-25-1 16,-8 9 0,-18 17-16,-25 9 31,25 16-31</inkml:trace>
  <inkml:trace contextRef="#ctx0" brushRef="#br0" timeOffset="6564.75">9610 10869 0,'0'0'0,"-8"0"16,-9 8-1,-9 9 1,1-8-16,7-1 16,1 1-1,17-1 1,0-8-16,0 0 15,26-8-15,17-1 16,16 1 0,1-18-16,-9 1 15,-16-9 1,-10-17 0,1 0-16,-18 0 15,1 17 1,-18-9-16,1 26 15</inkml:trace>
  <inkml:trace contextRef="#ctx0" brushRef="#br0" timeOffset="7198.87">11676 10707 0,'0'0'0,"0"0"16,0 0-16,0 0 15,0 17 1,0 9-16,-9 42 0,-16 25 16,-9 9-1,8-8-15,9-18 32,0-8-32,0-25 15,17-9 1,0-17-16</inkml:trace>
  <inkml:trace contextRef="#ctx0" brushRef="#br0" timeOffset="7623.69">12179 11056 0,'0'0'0,"0"0"0,-8 0 16,-1 8-16,1 1 15,-1-1 1,1 1 0,-9-1-16,8-8 15,9 0 1,0 0-16,0 0 15,0 0 1,9 0-16,16 0 16,9 0-1,-8 9-15,-9-1 16,0 9 0,-8 17-16,-1 0 15,-25 9 1,-8-1-16,-1 1 15,-8-18 1,17-8 0,0-8-16,17-9 15</inkml:trace>
  <inkml:trace contextRef="#ctx0" brushRef="#br0" timeOffset="7852.59">12222 10809 0,'0'0'0,"0"0"16,9 9-16,25-1 15,8 9 1,18-8-16,-9-1 15,1-16 1,7-9 0,-33 8-16</inkml:trace>
  <inkml:trace contextRef="#ctx0" brushRef="#br0" timeOffset="8272.07">13118 10937 0,'0'0'0,"0"8"16,0 9 0,0 17-1,0 0-15,0 0 16,0 0-1,0 0-15,9 0 16,-1 0-16,1-8 16,8-1-1,8-8 1,18-8-16,8-1 0,1-16 31,7-18-31,-7-16 16,-18-9-16,-17 0 15,-26 0 1,-25-17 0,-43 0-16,-34 25 15,52 26 1</inkml:trace>
  <inkml:trace contextRef="#ctx0" brushRef="#br0" timeOffset="10333.94">11394 13471 0,'0'0'0,"0"0"16,0 0-16,0 0 16,0 0-1,0 0-15,0 0 16,0 9 0,0 16-16,0 18 15,0 33-15,0 18 16,-8 16-1,8-59 1</inkml:trace>
  <inkml:trace contextRef="#ctx0" brushRef="#br0" timeOffset="10912.63">12060 13964 0,'0'0'0,"0"0"0,0 0 15,0 17-15,0 0 16,-9 17-1,9-8 1,0-1-16,0-16 16,0-1-1,0-8-15,17 9 16,18-9 0,-1 0-16,8 0 15,-7 0 1,-10 0-1,1 0-15,-9 0 16,-9 0-16,1 0 16,-9 17-1,-9 0 1,-25 17 0,-17 0-16,17-17 15,25-9-15</inkml:trace>
  <inkml:trace contextRef="#ctx0" brushRef="#br0" timeOffset="11134.92">12111 13981 0,'0'0'0,"9"-8"0,42-9 15,43-17 1,8 0-16,-42 0 16,-17 17-1,-9 0 1,-26 17-16</inkml:trace>
  <inkml:trace contextRef="#ctx0" brushRef="#br0" timeOffset="11509.38">13084 13777 0,'0'0'0,"-8"0"0,-1 17 16,-8 9-1,-9 16-15,1 9 16,-1 17-16,1 0 16,-1 0-16,9-8 31,17-9-31,17-9 16,17-24-1,0-18-15,43-43 0,17-17 31,-26-8-31,-17-17 16,-25 0-16,-26 9 16,-34 16-1,-26 9 1,26 34-16</inkml:trace>
  <inkml:trace contextRef="#ctx0" brushRef="#br0" timeOffset="22682.17">21559 14330 0,'0'0'0,"0"0"16,-8 26-16,-1 16 0,-16 26 16,-1 9-1,0 25 1,9-9 0,0-25-16,17-17 15,0-17 1,9-17-16</inkml:trace>
  <inkml:trace contextRef="#ctx0" brushRef="#br0" timeOffset="23099.69">22174 14483 0,'0'0'0,"0"0"15,0 0-15,-9 9 16,-8 8 0,-8 8-1,-1 9-15,-8-8 16,8-1 0,9-16-16,0-1 15,17 1 1,0-1-16,0 1 15,26 8 1,8 0-16,17 0 16,-8 8-1,-1-8-15,-7 26 16,-10 16 0,-8 18-16,-8-18 15,-1 9 1,-16-8-16,-1-18 15,1-16 1,-1-26-16,9 0 16</inkml:trace>
  <inkml:trace contextRef="#ctx0" brushRef="#br0" timeOffset="23351.91">22268 14483 0,'0'0'0,"0"0"15,0 9-15,25 8 16,35 17 0,17-9-16,25 1 15,1-1-15,-27-16 16,-24-9-1,-27 0-15</inkml:trace>
  <inkml:trace contextRef="#ctx0" brushRef="#br0" timeOffset="23599.26">23283 14619 0,'0'0'0,"-8"0"0,-18 26 31,-34 42-31,-33 25 15,16 18 1,34-26-16,9-17 16,25-17-1,26-26-15,35-8 16,33-8-16,9-26 16,-17-26-1,0-33-15,-1-26 16,-16 8-1,-26 18 1,-25 25-16,-9 25 16</inkml:trace>
  <inkml:trace contextRef="#ctx0" brushRef="#br0" timeOffset="26469.28">24171 14798 0,'0'0'16,"0"0"-16,0 0 15,0 0-15,0 0 16,0 0-16,0 0 16,17 17-1,26 0 1,25-17-16,17-9 0,69-25 31,25-8-31,111-43 16</inkml:trace>
  <inkml:trace contextRef="#ctx0" brushRef="#br0" timeOffset="26933.12">25050 14840 0,'0'0'0,"0"0"16,0 0-16,0 0 15,0 0 1,17 0-16,26-8 16,17-1-1,33 1-15,-7-9 16,-35 8 0,-8 1-16,-18 8 15,-8 0-15,-8 0 16,-1 0-1,1 17 1,-9 25-16,-26 26 16,-16 0-16,-18-17 31,-17 9-31,0 8 16,26-26-1,17 1-15,17-17 16,17-9-16</inkml:trace>
  <inkml:trace contextRef="#ctx0" brushRef="#br0" timeOffset="27358.52">26134 14704 0,'0'0'0,"0"0"16,0 0-16,0 0 16,0 0-1,-9 17-15,-8 17 16,-8 9-16,-9-1 16,17-16-1,0-1 1,-1 1-1,18-9-15,9 0 0,8 8 16,0 1-16,0-9 16,0 0-1,9 0 1,-1 0 0,-16 17-16,0 17 15,-1 8 1,-8 1-16,0-17 15,0-1 1,0-25-16</inkml:trace>
  <inkml:trace contextRef="#ctx0" brushRef="#br0" timeOffset="27581.44">26091 14781 0,'0'0'0,"0"0"16,0 0-16,9 0 15,51 0 1,59 0-16,18-9 15,-78 9 1</inkml:trace>
  <inkml:trace contextRef="#ctx0" brushRef="#br0" timeOffset="28483.11">23480 15546 0,'0'0'0,"0"0"16,17 17-16,17 9 15,17-1-15,26 9 16,8 9 0,-25-1-1,0 1-15,17 8 16,-1-9-1,-16-8-15,-26-8 16,-8-18 0,-18 9-16,-8 9 0,-34 16 31,-34 26-31,-43 17 16,-43 26-16,18-9 15,59-42 1,34-26-1,26-9-15,0-16 16,17-1 0,0-8-16</inkml:trace>
  <inkml:trace contextRef="#ctx0" brushRef="#br0" timeOffset="28879.15">24905 15988 0,'0'0'0,"0"0"16,0 0-16,0 0 15,-9 0 1,-8 26-16,-25 25 16,-18 0-1,-8 0 1,8 0-16,17-8 15,26-18-15,0 1 16,17-1 0,9 1-16,16 8 15,26 0 1,18 0-16,-1 0 16,-8 0-1,-18 8 1,-16-8-16,-17 0 15,-26 17-15,-18 17 16,-7 9 0,-10-18-16,1-25 15,0-42 1,25-1-16</inkml:trace>
  <inkml:trace contextRef="#ctx0" brushRef="#br0" timeOffset="29062.17">25024 16048 0,'0'0'0,"26"8"16,102 26-1,85-8 1,103-1-16,68-8 0</inkml:trace>
  <inkml:trace contextRef="#ctx0" brushRef="#br0" timeOffset="38515.66">11829 15682 0,'0'0'0,"0"0"15,0 0-15,0 0 16,-8 0 0,-9 0-16,-26 26 15,-17 50 1,1 43-16,16-17 16,9-25-1,17-9-15,0 17 16,8-17-1,9-8-15,0-18 16,9-16 0,8-1-16,0-8 15,0 0-15,9-8 16,-1-1 0,1 1-16,-1-1 15,-8 1 1,-8-1-1,-1 9-15,-16 17 16,-1-8-16,-16-1 16,-1 1-1,9-18-15,0-8 16,9 0 0</inkml:trace>
  <inkml:trace contextRef="#ctx0" brushRef="#br0" timeOffset="38768.22">11736 15682 0,'0'0'0,"0"0"0,8 0 15,18 26 1,42 42-16,0 0 15,-17-17 1,26-9-16,94-33 16,-17-35-16,-69-25 15,-42 26 1</inkml:trace>
  <inkml:trace contextRef="#ctx0" brushRef="#br0" timeOffset="39056.74">13058 16124 0,'-8'0'0,"-18"17"0,-33 17 15,-27 52 1,9 16-16,18-9 16,25-25-1,16-17-15,18-25 16,18-1-1,33-8-15,34-34 16,9-42 0,-9-35-16,18-16 15,-18 16-15,-25 0 32,-26-8-32,-43 17 15,-42 17 1,26 43-16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4T00:02:28.0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7656 5877 0,'0'0'0,"0"0"0,0 0 0,-26 51 0,18-34 15,-1 8 1,9 9-16,0 0 15,9 9-15,8-18 16,-9 1 0,1-18-1,25 9-15,34-8 16,26-9-16,9-9 16,-10 9-16,-33 0 31,26 0-31,50 0 15,9 9 1,-34-1-16,-17-8 16,51 9-1,17-1 1,-34 1-16,-34 8 16,34 0-16,34 8 15,-25 1 1,-35-9-1,35-9-15,68 1 16,-60-18 0,-26 1-16,61-1 15,-18-8 1,-34 17-16,25 9 16,44-9-16,-52 0 15,-17 0 1,51 0-1,-25-9-15,-26 1 16,25-1 0,44-8-16,-69 9 15,0 8 1,34 0-16,0 0 16,-42 0-16,-1 8 15,43 9 1,-8 0-16,-35-8 15,9 8 1,34 8 0,-16-8-16,-27 0 15,9 0 1,9 0-16,-1 0 16,-16-8-16,-9-1 15,25 1 1,9-18-16,-17 1 15,-8-1 1,16 1-16,-8-9 16,-8 0-1,-43 8 1,-18 1-16,18-1 16,-8 1-16,-10-1 15,-8-8 1,-8 9-16,-17-1 15,-1 1 1,-16-1-16,-1-16 16,-8-18-16,0 18 31</inkml:trace>
  <inkml:trace contextRef="#ctx0" brushRef="#br0" timeOffset="5557.5">3209 7237 0,'0'0'0,"9"0"0,8 0 15,8 9 1,-8-1 0,-8 1-16,25 8 15,43-9 1,34 1-16,8-9 15,-33 8-15,-27 9 16,27 9 0,33 8-16,26-9 15,-34 1 1,-17-9-16,43 0 16,59-9-1,-59-8-15,-9-25 16,77-9-1,-43 0-15,-17 0 16,43 17 0,-9 8-1,-34 18-15,26-1 16,25 1 0,-8-9-16,34-9 15,-35-8 1,-7-8-16,59 8 15,-77 0 1,8 0-16,69 17 16,-59 8-1,16-16-15,17-9 16,18-9 0,33 9-16,-33-8 15,8-1 1,8-8-16,52 0 15,85 9 1</inkml:trace>
  <inkml:trace contextRef="#ctx0" brushRef="#br0" timeOffset="6969.81">17488 7611 0,'0'0'0,"26"0"0,59 0 15,43 18-15,43-10 16,51 9 0,8 9-16,77-9 15,43 0 1,-8-17-1,76 0-15,103-9 16,-112-16 0</inkml:trace>
  <inkml:trace contextRef="#ctx0" brushRef="#br0" timeOffset="28283.01">15389 12459 0,'0'0'0,"0"0"0,0 0 0,0 0 16,0 0-16,0 0 15,0 0 1,0 0-16,0 0 16,0 0-1,0 0 1,0 0-1,8 26-15,1 16 0,-1 35 16,-16 16 0,-1-16-1,1-18 1,-1-16-16,9-18 16,0 1-16,0-18 15,0 1-15,0-1 16,0 1 15,0-9-31,0 0 0,9 8 16,8 1-16,17-1 31,17-8-31,26 0 0,17-8 31,8-1-31,9 1 16,8 8-16,10 0 15,-1-9 1,0 9 0,0 0-16,25 0 15,1 0 1,-9 0-16,9 0 16,8 9-1,0-9 1,-17 17-16,17 0 0,9 0 15,-9-9 1,17 1 0,9-9-1,-17 0-15,16-9 16,1 1 0,-17-9-16,0 0 15,-1 0 1,-16 8-16,8 9 15,-8-8 1,-9 8-16,-17 0 16,8 0-16,-8 0 15,-8 0 1,-35 0-16,-16 0 16,-27 0-1,-16 0 1,-1 0-16,-7 0 15,-10 0-15,1 0 16,-1 0 0,1 0-16,-9 0 15,0-9 1,8 1 0,1-26-16,8-34 15,0-26-15,0 1 16,0-9-1,0 0 1,-8 16-16,-1 10 16,1 16-1,-1 9-15,-8 17 16,0 0-16,0 0 16,0 9-1,0 8 1,0 8-16,0 1 15,-8-1 1,-1 1-16,1-1 16,-1 1-16,-16-1 15,-1 1 1,-17-1-16,-17-16 16,-25 8-1,8 0-15,-8-9 16,0 9-1,-9 0 1,-34-8-16,0 8 16,17 0-1,0 0-15,-34 0 16,0 0 0,8 17-16,-17 0 15,-8 0 1,0 0-16,17 0 15,-34 8 1,-9-8-16,43 0 16,-17-8-16,-9-1 15,26 1 1,8-9-16,-25 8 16,9-8-1,33 9-15,1-9 16,-27 8-1,10-8 1,25 9-16,0 8 16,-8-9-1,-18 9-15,35 0 16,16 0 0,9 0-16,9-8 15,0-1-15,-26 9 16,17 0-1,17 0-15,9 0 16,9 0 0,-1 0-1,9 9-15,0-1 0,-1 1 16,18-9 0,0 0-1,9 8-15,-1-8 16,1 9-1,-1-1 1,1 1-16,-1 8 0,-8 25 16,-17 60-1,0 60-15,17 16 32,0 9-32,0 18 15,-26 118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4T00:05:20.8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4285 14066 0,'-9'0'0,"0"0"16,1 0 0,-1 0-16,1 26 15,8-1 1</inkml:trace>
  <inkml:trace contextRef="#ctx0" brushRef="#br0" timeOffset="3099.52">6623 9704 0,'0'0'0,"0"0"31,0 0-31,0 0 16,-8-9 0,-18-16-16,0-18 15,-8 1 1,0 8-16,0 17 16,8-1-1,-16 1 1,-18 9-16,-8 8 15,25 0-15,17 17 16,-25 26 0,-17 16-16,-9 9 15,0 26 1,-17 42-16,-8 42 16,17-16-1,33-18-15,18 10 16,0-18-1,17-9-15,9-8 16,8 9 0,0-26-1,8-17-15,1-17 16,8-9 0,17 1-16,17-9 15,0-17 1,17-8-16,1-18 15,-1-8-15,-25 0 16,-18 0 0,-16 0-16,-1 0 15,1 0 1,-1 0-16,-8 0 16,0 0-1,-8-8-15,-18-1 16,-16-16-16,-18-1 31,-17-16-31,9 7 0,17-7 31,16-18-31,1-25 16,0-17 0,17 0-16,17-25 15,0-26-15,17 25 16,9 1-1,25-1 1,9-8-16,8 0 0,17 8 16,9 18-1,-8 16 1,25 18 0,-9 16-16,0 18 0,-8 16 15,-43 18 1,-8 8-1,25 17-15,-8 8 16,-17 1 0,-9-1-16,-8-8 15,-1 9 1,-8-1 0,-8-8-16,-1 0 15,1-8-15,-1-1 16,-8 1-1,0-9 1,-17 0-16,-17 0 16,-34 0-1,-26 0-15,-8 0 16,-1 8-16,-16 18 16,-1 8-1,1 8-15,-18 26 16,18 0-1,8 9 1,0 25-16,17 17 0,17 8 31,17 1-31,35 25 16,25 9 0,25-18-16,27 1 15,-1-26-15,9 0 16,16 0-1,18-17 1,17-17-16,-8-25 16,-1-35-1,17-8-15,1-8 16,-9-18 0,-34-8-16,-26 0 15,-25 9 1,-1-1-16,-16 1 15,-1-1 1,1 9-16,-9-8 16,-9-1-1,1 1-15,-26-18 16,-18 1 0,-42-1-16,-8-8 15,8 9-15,0-1 16,-8 1-1,8-18-15,0-17 16,17 1 0,18-18-1,7-16-15,10-18 0,16-8 16,26-34 0,26-8-1,25-9 1,43 8-16,17-8 15,8 8 1,1 26-16,8 0 16,0 0-1,-17 34-15,-17 17 16,8 8 0,-17 18-16,-8 25 15,0 0 1,-17 17-16,-9 17 15,-8 0-15,-18 0 32,-8 8-32,-8 9 15,-1 0-15,1 0 16,-18 0 0,-25 26-16,-17 8 15,-26 8 1,-17 1-16,-17-1 15,9 1 1,-1-9 0,-25 26-16,-25 25 15,-18 17-15,-25 25 16,-26 77 0,9 52-16,67-1 15,78-34 1,77-60-16,76 10 15,43-10 1,120-33-16,110 16 16</inkml:trace>
  <inkml:trace contextRef="#ctx0" brushRef="#br0" timeOffset="15987.85">6615 9134 0,'0'0'0,"-26"-9"0,-25 1 15,-9-1-15,0 9 16,-17 0-1,9 17 1,8 9-16,-8 16 16,-34 43-16,-26 60 15,17 0 1,8 8-16,18 42 16,42-42-1,26-42-15,9-1 16,8 26-1,0 1-15,0-35 16,0-34 0,8 0-1,18 8-15,8 9 16,17-25-16,0-1 16,9-8-1,0-8-15,-9-18 16,-8 1-1,-18-1 1,1 1-16,0-9 16,-9-9-16,-9 1 15,1-1-15,-1 1 16,1-1 0,-1 1-1,-8-9-15,0 0 16,0 0-1,-8-9-15,-26 1 16,-26-18 0,0-16-1,-17-18-15,1-8 16,7 9 0,27 8-16,7 0 15,10 0 1,8-34-16,0-17 15,17-9 1,8 18-16,26 7 16,26-24-1,34-26-15,0 8 16,-9 18 0,1 16-16,7 1 15,1-1-15,9 9 16,-18 26-1,-17 16 1,-8 17-16,8 9 16,1 17-1,-10 0-15,-16 0 16,-17 0 0,-1 9-16,-16-1 15,-1-8-15,1 0 31,-1 0-31,-8 0 16,0 0-16,-8 0 16,-26 9-1,-9-1-15,-17 1 16,1-1 0,-18 9-16,-9 9 15,-7 8 1,-18 17-16,-17 9 15,8 16 1,-8 52-16,0 42 16,26-9-1,25 9-15,26 9 16,25-43 0,9-8-16,17 25 15,9-9 1,8-33-16,8 16 15,26 35 1,60 127-16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4T00:05:49.6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22583 7569 0,'0'0'15,"0"0"-15,0 0 16,9 0-16,25-9 15,26-8 1,8-8-16,43-1 16,94-8-1,42 26 1,35 8-16,68 8 16,26 35-16,8 8 15,-9-9 1</inkml:trace>
  <inkml:trace contextRef="#ctx0" brushRef="#br0" timeOffset="9038.43">13767 9049 0,'0'0'0,"0"0"16,0 0-1,0 0-15,8 17 16,18 25-16,34 18 16,42 8-1,77 8 1,86-25-16,136-34 15,69-17-15,-78-17 16</inkml:trace>
  <inkml:trace contextRef="#ctx0" brushRef="#br0" timeOffset="11014.32">4276 10809 0,'0'0'0,"9"-8"16,25-18-16,42-33 15,87-43-15,-1 17 16,-68 59 0,42 18-1,86 16-15,17 18 0,85 8 31</inkml:trace>
  <inkml:trace contextRef="#ctx0" brushRef="#br0" timeOffset="13847.52">13673 11387 0,'0'0'0,"0"0"15,17 0-15,43-8 16,68-9-16,85-17 16,60-17-1,9 0 1,8-9-16,69-33 16</inkml:trace>
  <inkml:trace contextRef="#ctx0" brushRef="#br0" timeOffset="18625.06">3918 12459 0,'0'0'0,"0"0"0,17 0 31,0 0-31,17-8 0,8-1 31,27 1-31,33-18 16,26 9-1,34 8-15,60-8 16,51 9 0,60 16-16,68-8 0,-17-8 31</inkml:trace>
  <inkml:trace contextRef="#ctx0" brushRef="#br0" timeOffset="23914.7">8057 13037 0,'0'0'0,"0"0"16,9 9-16,16 16 15,26 9-15,69-8 16,76-18 0,52-42-16,33-8 15,18 8 1,59-9-16</inkml:trace>
  <inkml:trace contextRef="#ctx0" brushRef="#br0" timeOffset="26775.76">13673 13207 0,'0'0'0,"0"0"0,0 0 0,0 0 31,17-8-31,68-26 16,60-9-1,154-8-15,111 17 16,51 17-1,-52 0-15</inkml:trace>
  <inkml:trace contextRef="#ctx0" brushRef="#br0" timeOffset="33657.58">5539 12961 0,'0'0'0,"0"0"16,0 0-16,0 0 15,0 0 1,0 25-16,0 35 16,0 42-1,9 0-15,16-17 16,27-17-16,24-25 15,18-18 1,-8 1-16,-10-18 16,27-8-1,16-34 1,-8-42-16,-8-27 16,-35 1-1,-25 17-15,-1-51 16,-16-34-1,-26 43-15,-17 25 16,-34-9 0,-18 26-16,-33 25 15,0 35 1,-9 33-16,-43 26 16,9 9-1,42-9-15,44-8 16,16-1-1,17-16-15,18-9 16</inkml:trace>
  <inkml:trace contextRef="#ctx0" brushRef="#br0" timeOffset="36714.37">11377 12459 0,'0'0'0,"0"0"0,0 0 0</inkml:trace>
  <inkml:trace contextRef="#ctx0" brushRef="#br0" timeOffset="37480.42">11155 12459 0,'0'0'0,"0"0"0,0 0 31,0 0-31,0 0 16,0 0 0,-8 0-16,-1 0 0,-8 0 31,0 0-31,0 0 16,0 0-1,0 0-15,8 0 16,1 0-1,-1 0-15,9 0 16,0 0 0,0 0-16,-8 0 15,-1 9 1,1 8-16,-18 25 16,0 26-1,1 17-15,8 9 16,8-35-1,9-25-15,9-8 16,-1 16 0,1 18-16,25 25 15,68 8 1,60-16-16,-59-43 16,25-9-1,102 1-15,-59-17 16,42-1-1,35 18-15,-1-9 16,18 0 0,51 17-16,-17-9 15,8-16 1,9-1 0,-26-8-16,34 0 15,-68-17-15,51-17 16,-33 0-1,-78-17-15,43-26 16,-34 9 0,-137 26-16,-25-1 15,-18-8 1,1-51-16,-43-76 16,-128-9-1,-86 17-15,-76 16 16,-154 18-16,34 60 15,52 50 1,-69 52 0,-17 59-16,-51 59 15,8 1 1,112-34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24T00:08:20.2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6572 11277 0,'0'0'0,"0"0"0,-9-9 0,-127-16 0,59 16 15,9-8 1,25 0-16,9 17 15,8 0-15,-25 17 16,-34 0 0,-9 9-16,-9 8 15,1-9 1,42 1-16,9-1 16,0 9-1,0 1 1,-1-1-16,10 8 15,8 9 1,-1 17-16,1-8 16,17-1-16,0-8 15,0 26 1,0 16-16,17 1 16,0-1-1,9-8-15,8-34 16,0-8-16,17-1 15,0 1 1,0 0-16,-8 8 31,-1 0-31,18 8 16,17 9 0,0 0-16,-1-8 15,-16-9-15,-17-26 16,-1 9-16,1 0 15,-18 17 1,-16 17-16,-26 17 16,-9-8-1,-8-18 1,8-7-16,0-10 16,9-8-16,0-8 31,0-9-31,17-9 0,0 1 31,8-1-31,9 1 16,0-9-1,0 17-15,17 8 0,9 35 32,25 25-32,17 25 15,-16-16 1,-27 8-16,-16 59 15,-52 27 1,-8-10-16,17-8 16,17-25-1,0-26-15,17-26 16,17-8 0,60 0-16,85-8 15,77-51 1,119-26-16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8D94-701F-50B7-FF63-239144983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BD39A-A942-599F-149A-747401D54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5134E-8798-2A87-98AE-0B134785D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803DE-E5A1-A42D-17E0-52D8A15F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8009D-BD52-D020-26A4-CCFF2596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0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D3513-3DBF-F295-0635-A76FAD8F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A398C-CAEC-53AA-8A8B-28B4B6EFE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2AEDF-9628-E07A-C6FB-A23F1B37D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D4231-DF5D-E75E-40A2-4490E3864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61DB8-8E9A-0329-3CC7-DD8BE396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190C-5088-0FD4-FA3D-07D222B9F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2422D-2D16-CCA8-2A1C-E13A1E064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C9900-661D-64EA-83FB-0318C266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F216F-818C-AE83-8D4F-42EC3C94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494A3-F80F-EC41-DDC0-726FC63A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10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F6897-8ADC-82FB-24C1-148BB152C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07461-A71F-ECE6-AE85-5EA3DB5E18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9E8EA-550B-F0DB-2472-AE2D0456E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A28DD-EC75-9F30-A7D3-C90A8D02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D4F3C-0167-D8D5-E58E-83645CE3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6DDF0-EBE9-4CB3-A532-8F8C26FC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4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BC21-07E8-90D6-8FD3-4B7809D35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688B1-01DC-A6B4-1C44-C73416EC0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004C5-4EEE-C9A3-0FFF-B154F5B9A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C95CA1-99E7-80CC-FF66-5C2F25904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21CBD4-5851-D78F-5249-59CDD8C9B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92F86E-5D21-865D-53AE-77B5C57E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5E5A8-7D51-605B-E276-A7A5B93FE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9E01F4-D4D9-E56F-9035-05E60581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3237B-2CFD-F0AF-D3E6-2FDD100A8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614118-0522-CF53-601D-265A3261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CC46D9-B22E-C768-B35E-20DA33956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D07EE-0E9C-EC8E-BAC0-7B8C9EFB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16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BA0918-E285-61F1-EDAF-6B7FD149C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AFD855-6290-493F-81E4-A89E8DDED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BAA96-146F-BEF1-15D5-935C1B8E9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4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91D78-E109-DF5D-A589-413429D2A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91868-FB59-5D14-1BCA-C7C43F068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2F535-BC7E-F5E2-864B-461F8404D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FCF40-365C-13EE-4DB1-CC7C5858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58AA7-3077-1807-CEB8-2C0F27B4C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74C30-07C1-3F35-E57B-30BFA71A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16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81C30-49BA-398C-2DF8-B0736590C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C7B813-1595-60AF-F5B3-A0DAE6653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402F2-AF70-21FD-1449-18CBF4C17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982EC-DE32-4452-40AB-762F386AF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76A50-D174-12CE-9CCD-74569685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79484-4128-5F97-59B5-3CF00D56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33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0788-F665-F0AA-D34E-18CDC381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25BE1-D418-6610-B976-595A42D78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C710E-4740-E186-8004-9F098E4B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57D91-6BF0-5F67-0BAA-BA3B5985E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EB95B-64CF-ED1B-895D-0C15FB84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71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B0D1A-0325-047A-3C56-DB7DC37D1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2D4EC8-DF7A-722B-0985-B7E8ED880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F5D96-5B5D-A0E1-6B7E-F894B33D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1E58B-FD1B-5158-9002-DB7909020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6E6E6-5DB2-B08C-E98E-4CE4CABAB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4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FDEBFE-9C54-D45A-111D-948735AB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F582E-F84E-411A-7F7A-D8EF87E1F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CE3F9-A152-FD27-1D1D-64A1C313F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21D02-69CC-42C9-85CE-4F8B68ED22B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F318D-9BE5-6E4A-1795-F02EED65F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4FB82-C81E-722D-F23A-4047C60DB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21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CSE 332 Winter 2026</a:t>
            </a:r>
            <a:br>
              <a:rPr lang="en-US" dirty="0"/>
            </a:br>
            <a:r>
              <a:rPr lang="en-US" dirty="0"/>
              <a:t>Lecture 19: Concurrency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FDBEA-B255-B4F1-5392-BBC6FEE78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Sharing With </a:t>
            </a:r>
            <a:r>
              <a:rPr lang="en-US" dirty="0" err="1"/>
              <a:t>ForkJoin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A5F00-415B-C01C-1686-D7BA8B87A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Structure of </a:t>
            </a:r>
            <a:r>
              <a:rPr lang="en-US" dirty="0" err="1"/>
              <a:t>ForkJoin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All threads are executing the same algorithm</a:t>
            </a:r>
          </a:p>
          <a:p>
            <a:pPr lvl="1"/>
            <a:r>
              <a:rPr lang="en-US" dirty="0"/>
              <a:t>Each task is responsible for </a:t>
            </a:r>
            <a:r>
              <a:rPr lang="en-US" b="1" dirty="0"/>
              <a:t>its own portion</a:t>
            </a:r>
            <a:r>
              <a:rPr lang="en-US" dirty="0"/>
              <a:t> of the input/output</a:t>
            </a:r>
          </a:p>
          <a:p>
            <a:pPr lvl="1"/>
            <a:r>
              <a:rPr lang="en-US" dirty="0"/>
              <a:t>If one task needs another’s result, use join() to ensure it uses the final answer</a:t>
            </a:r>
          </a:p>
          <a:p>
            <a:endParaRPr lang="en-US" dirty="0"/>
          </a:p>
          <a:p>
            <a:r>
              <a:rPr lang="en-US" dirty="0"/>
              <a:t>This does not help when:</a:t>
            </a:r>
          </a:p>
          <a:p>
            <a:pPr lvl="1"/>
            <a:r>
              <a:rPr lang="en-US" dirty="0"/>
              <a:t>Memory accessed by threads is overlapping or unpredictable </a:t>
            </a:r>
          </a:p>
          <a:p>
            <a:pPr lvl="1"/>
            <a:r>
              <a:rPr lang="en-US" dirty="0"/>
              <a:t>Threads are doing independent tasks using same resources (rather than implementing the same algorithm)</a:t>
            </a:r>
          </a:p>
        </p:txBody>
      </p:sp>
    </p:spTree>
    <p:extLst>
      <p:ext uri="{BB962C8B-B14F-4D97-AF65-F5344CB8AC3E}">
        <p14:creationId xmlns:p14="http://schemas.microsoft.com/office/powerpoint/2010/main" val="256201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07C48-1D14-4508-7D6F-E7B0446DF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Shared 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177BE-2729-5CFA-92C0-D3D634D7F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enqueue(x){</a:t>
            </a:r>
          </a:p>
          <a:p>
            <a:pPr marL="0" indent="0">
              <a:buNone/>
            </a:pPr>
            <a:r>
              <a:rPr lang="en-US" dirty="0"/>
              <a:t>	if ( back == null ){</a:t>
            </a:r>
          </a:p>
          <a:p>
            <a:pPr marL="0" indent="0">
              <a:buNone/>
            </a:pPr>
            <a:r>
              <a:rPr lang="en-US" dirty="0"/>
              <a:t>		back = new Node(x); </a:t>
            </a:r>
          </a:p>
          <a:p>
            <a:pPr marL="0" indent="0">
              <a:buNone/>
            </a:pPr>
            <a:r>
              <a:rPr lang="en-US" dirty="0"/>
              <a:t>		front = back;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else {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back.next</a:t>
            </a:r>
            <a:r>
              <a:rPr lang="en-US" dirty="0"/>
              <a:t> = new Node(x); </a:t>
            </a:r>
          </a:p>
          <a:p>
            <a:pPr marL="0" indent="0">
              <a:buNone/>
            </a:pPr>
            <a:r>
              <a:rPr lang="en-US" dirty="0"/>
              <a:t>		back = </a:t>
            </a:r>
            <a:r>
              <a:rPr lang="en-US" dirty="0" err="1"/>
              <a:t>back.next</a:t>
            </a:r>
            <a:r>
              <a:rPr lang="en-US" dirty="0"/>
              <a:t>; 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A198D3-0D64-C903-4F5A-6866C97171C2}"/>
              </a:ext>
            </a:extLst>
          </p:cNvPr>
          <p:cNvSpPr txBox="1"/>
          <p:nvPr/>
        </p:nvSpPr>
        <p:spPr>
          <a:xfrm>
            <a:off x="7762240" y="1513840"/>
            <a:ext cx="426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Imagine two threads are both using the same linked list based queue.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What could go wrong?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054148D-0F3A-D580-F855-46EE44729C28}"/>
              </a:ext>
            </a:extLst>
          </p:cNvPr>
          <p:cNvGrpSpPr/>
          <p:nvPr/>
        </p:nvGrpSpPr>
        <p:grpSpPr>
          <a:xfrm>
            <a:off x="4021051" y="5582012"/>
            <a:ext cx="6350000" cy="528320"/>
            <a:chOff x="2727960" y="1554957"/>
            <a:chExt cx="6350000" cy="52832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BDAB37A-62F5-7627-B746-F623EB75C032}"/>
                </a:ext>
              </a:extLst>
            </p:cNvPr>
            <p:cNvGrpSpPr/>
            <p:nvPr/>
          </p:nvGrpSpPr>
          <p:grpSpPr>
            <a:xfrm>
              <a:off x="4053840" y="1554957"/>
              <a:ext cx="1056640" cy="528320"/>
              <a:chOff x="8117840" y="4104640"/>
              <a:chExt cx="1056640" cy="528320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18EB740-3571-C2EB-FA72-9602E0B42021}"/>
                  </a:ext>
                </a:extLst>
              </p:cNvPr>
              <p:cNvSpPr/>
              <p:nvPr/>
            </p:nvSpPr>
            <p:spPr>
              <a:xfrm>
                <a:off x="8117840" y="4104640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4266D3E-0F23-1D37-ACF4-A944CDA64796}"/>
                  </a:ext>
                </a:extLst>
              </p:cNvPr>
              <p:cNvSpPr/>
              <p:nvPr/>
            </p:nvSpPr>
            <p:spPr>
              <a:xfrm>
                <a:off x="8646160" y="4104640"/>
                <a:ext cx="528320" cy="52832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0C00064-D6DC-94CE-E540-3F3BBB4711E7}"/>
                </a:ext>
              </a:extLst>
            </p:cNvPr>
            <p:cNvGrpSpPr/>
            <p:nvPr/>
          </p:nvGrpSpPr>
          <p:grpSpPr>
            <a:xfrm>
              <a:off x="5374640" y="1554957"/>
              <a:ext cx="1056640" cy="528320"/>
              <a:chOff x="8117840" y="4104640"/>
              <a:chExt cx="1056640" cy="52832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FA3B45A-2BFB-331C-6800-586D187DD7D3}"/>
                  </a:ext>
                </a:extLst>
              </p:cNvPr>
              <p:cNvSpPr/>
              <p:nvPr/>
            </p:nvSpPr>
            <p:spPr>
              <a:xfrm>
                <a:off x="8117840" y="4104640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208EB20-A3C8-4E34-24B4-F3E1397C491A}"/>
                  </a:ext>
                </a:extLst>
              </p:cNvPr>
              <p:cNvSpPr/>
              <p:nvPr/>
            </p:nvSpPr>
            <p:spPr>
              <a:xfrm>
                <a:off x="8646160" y="4104640"/>
                <a:ext cx="528320" cy="52832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4D17463-7268-C0FC-81E3-E553A41134E9}"/>
                </a:ext>
              </a:extLst>
            </p:cNvPr>
            <p:cNvGrpSpPr/>
            <p:nvPr/>
          </p:nvGrpSpPr>
          <p:grpSpPr>
            <a:xfrm>
              <a:off x="6700520" y="1554957"/>
              <a:ext cx="1056640" cy="528320"/>
              <a:chOff x="8117840" y="4104640"/>
              <a:chExt cx="1056640" cy="52832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65EEDD3-628D-2554-1001-E0ADB049F346}"/>
                  </a:ext>
                </a:extLst>
              </p:cNvPr>
              <p:cNvSpPr/>
              <p:nvPr/>
            </p:nvSpPr>
            <p:spPr>
              <a:xfrm>
                <a:off x="8117840" y="4104640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A5EDFCC-81CC-42F4-6478-D85C411978DE}"/>
                  </a:ext>
                </a:extLst>
              </p:cNvPr>
              <p:cNvSpPr/>
              <p:nvPr/>
            </p:nvSpPr>
            <p:spPr>
              <a:xfrm>
                <a:off x="8646160" y="4104640"/>
                <a:ext cx="528320" cy="52832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7FD9C55-B621-DAB8-DD03-B527DE6769EC}"/>
                </a:ext>
              </a:extLst>
            </p:cNvPr>
            <p:cNvGrpSpPr/>
            <p:nvPr/>
          </p:nvGrpSpPr>
          <p:grpSpPr>
            <a:xfrm>
              <a:off x="8021320" y="1554957"/>
              <a:ext cx="1056640" cy="528320"/>
              <a:chOff x="8117840" y="4104640"/>
              <a:chExt cx="1056640" cy="52832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4938F77-519A-8702-3EE7-4B051994A640}"/>
                  </a:ext>
                </a:extLst>
              </p:cNvPr>
              <p:cNvSpPr/>
              <p:nvPr/>
            </p:nvSpPr>
            <p:spPr>
              <a:xfrm>
                <a:off x="8117840" y="4104640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63E07A0-0A84-79B8-833B-318A7E556251}"/>
                  </a:ext>
                </a:extLst>
              </p:cNvPr>
              <p:cNvSpPr/>
              <p:nvPr/>
            </p:nvSpPr>
            <p:spPr>
              <a:xfrm>
                <a:off x="8646160" y="4104640"/>
                <a:ext cx="528320" cy="52832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B06F994-E007-151E-E495-1CC06044E4F6}"/>
                </a:ext>
              </a:extLst>
            </p:cNvPr>
            <p:cNvGrpSpPr/>
            <p:nvPr/>
          </p:nvGrpSpPr>
          <p:grpSpPr>
            <a:xfrm>
              <a:off x="2727960" y="1554957"/>
              <a:ext cx="1056640" cy="528320"/>
              <a:chOff x="8117840" y="4104640"/>
              <a:chExt cx="1056640" cy="52832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247B37B-1A7E-7A4A-8103-2FEA572ACB2D}"/>
                  </a:ext>
                </a:extLst>
              </p:cNvPr>
              <p:cNvSpPr/>
              <p:nvPr/>
            </p:nvSpPr>
            <p:spPr>
              <a:xfrm>
                <a:off x="8117840" y="4104640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204BD77-677E-933B-72DB-856C29B76B15}"/>
                  </a:ext>
                </a:extLst>
              </p:cNvPr>
              <p:cNvSpPr/>
              <p:nvPr/>
            </p:nvSpPr>
            <p:spPr>
              <a:xfrm>
                <a:off x="8646160" y="4104640"/>
                <a:ext cx="528320" cy="52832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528A3619-FF9F-1FFD-0AA9-0DB808D8AD55}"/>
                </a:ext>
              </a:extLst>
            </p:cNvPr>
            <p:cNvCxnSpPr>
              <a:cxnSpLocks/>
              <a:endCxn id="23" idx="1"/>
            </p:cNvCxnSpPr>
            <p:nvPr/>
          </p:nvCxnSpPr>
          <p:spPr>
            <a:xfrm>
              <a:off x="3520440" y="1819117"/>
              <a:ext cx="533400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2FD4D83-3F8E-E805-FD41-2FFC2E51B1AF}"/>
                </a:ext>
              </a:extLst>
            </p:cNvPr>
            <p:cNvCxnSpPr>
              <a:cxnSpLocks/>
              <a:endCxn id="21" idx="1"/>
            </p:cNvCxnSpPr>
            <p:nvPr/>
          </p:nvCxnSpPr>
          <p:spPr>
            <a:xfrm>
              <a:off x="4846320" y="1819117"/>
              <a:ext cx="528320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37AC567-2D7D-BEE9-3162-E239916FAC6F}"/>
                </a:ext>
              </a:extLst>
            </p:cNvPr>
            <p:cNvCxnSpPr>
              <a:cxnSpLocks/>
              <a:endCxn id="19" idx="1"/>
            </p:cNvCxnSpPr>
            <p:nvPr/>
          </p:nvCxnSpPr>
          <p:spPr>
            <a:xfrm>
              <a:off x="6167120" y="1819117"/>
              <a:ext cx="533400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1EAE4E3-489A-4B97-2733-D10A043523E4}"/>
                </a:ext>
              </a:extLst>
            </p:cNvPr>
            <p:cNvCxnSpPr>
              <a:cxnSpLocks/>
              <a:endCxn id="17" idx="1"/>
            </p:cNvCxnSpPr>
            <p:nvPr/>
          </p:nvCxnSpPr>
          <p:spPr>
            <a:xfrm>
              <a:off x="7493000" y="1819117"/>
              <a:ext cx="528320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DC85D2F-0D1F-DEBE-C960-D80CFEEBD690}"/>
              </a:ext>
            </a:extLst>
          </p:cNvPr>
          <p:cNvSpPr/>
          <p:nvPr/>
        </p:nvSpPr>
        <p:spPr>
          <a:xfrm>
            <a:off x="2131291" y="5582012"/>
            <a:ext cx="949960" cy="5283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front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A9A9F56-4256-122A-CE95-E383B2A28BA2}"/>
              </a:ext>
            </a:extLst>
          </p:cNvPr>
          <p:cNvCxnSpPr>
            <a:cxnSpLocks/>
            <a:stCxn id="25" idx="3"/>
            <a:endCxn id="15" idx="1"/>
          </p:cNvCxnSpPr>
          <p:nvPr/>
        </p:nvCxnSpPr>
        <p:spPr>
          <a:xfrm>
            <a:off x="3081251" y="5846172"/>
            <a:ext cx="9398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9D596575-6E6C-0242-A643-866967B47103}"/>
              </a:ext>
            </a:extLst>
          </p:cNvPr>
          <p:cNvSpPr/>
          <p:nvPr/>
        </p:nvSpPr>
        <p:spPr>
          <a:xfrm>
            <a:off x="9103591" y="4572822"/>
            <a:ext cx="949960" cy="5283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back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AD3611B-627A-3427-DB21-652BE8D45336}"/>
              </a:ext>
            </a:extLst>
          </p:cNvPr>
          <p:cNvCxnSpPr>
            <a:cxnSpLocks/>
            <a:stCxn id="27" idx="2"/>
            <a:endCxn id="17" idx="0"/>
          </p:cNvCxnSpPr>
          <p:nvPr/>
        </p:nvCxnSpPr>
        <p:spPr>
          <a:xfrm>
            <a:off x="9578571" y="5101142"/>
            <a:ext cx="0" cy="48087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5459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45A6D-3EA5-564B-D6CE-FE255327E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41A4E-EEFF-F9C6-7B18-FE828B1A9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Shared Queue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5B88687-1F98-BBFE-9A7C-12CE92691556}"/>
              </a:ext>
            </a:extLst>
          </p:cNvPr>
          <p:cNvGrpSpPr/>
          <p:nvPr/>
        </p:nvGrpSpPr>
        <p:grpSpPr>
          <a:xfrm>
            <a:off x="2727960" y="1508776"/>
            <a:ext cx="6350000" cy="528320"/>
            <a:chOff x="2727960" y="1554957"/>
            <a:chExt cx="6350000" cy="52832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74E0C07-FD0A-6DC2-38BB-D0A30DD7ECAF}"/>
                </a:ext>
              </a:extLst>
            </p:cNvPr>
            <p:cNvGrpSpPr/>
            <p:nvPr/>
          </p:nvGrpSpPr>
          <p:grpSpPr>
            <a:xfrm>
              <a:off x="4053840" y="1554957"/>
              <a:ext cx="1056640" cy="528320"/>
              <a:chOff x="8117840" y="4104640"/>
              <a:chExt cx="1056640" cy="52832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92DEAEC-C1CF-1A25-7E33-A5E20EA18D9A}"/>
                  </a:ext>
                </a:extLst>
              </p:cNvPr>
              <p:cNvSpPr/>
              <p:nvPr/>
            </p:nvSpPr>
            <p:spPr>
              <a:xfrm>
                <a:off x="8117840" y="4104640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071C29D-5761-ED91-95BF-3CAD27C12D65}"/>
                  </a:ext>
                </a:extLst>
              </p:cNvPr>
              <p:cNvSpPr/>
              <p:nvPr/>
            </p:nvSpPr>
            <p:spPr>
              <a:xfrm>
                <a:off x="8646160" y="4104640"/>
                <a:ext cx="528320" cy="52832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FD6C5F5-D6D6-AC55-B4B3-ED322DDEA6F3}"/>
                </a:ext>
              </a:extLst>
            </p:cNvPr>
            <p:cNvGrpSpPr/>
            <p:nvPr/>
          </p:nvGrpSpPr>
          <p:grpSpPr>
            <a:xfrm>
              <a:off x="5374640" y="1554957"/>
              <a:ext cx="1056640" cy="528320"/>
              <a:chOff x="8117840" y="4104640"/>
              <a:chExt cx="1056640" cy="52832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20C4AF5-DCDF-3985-4C41-023092DFD5C8}"/>
                  </a:ext>
                </a:extLst>
              </p:cNvPr>
              <p:cNvSpPr/>
              <p:nvPr/>
            </p:nvSpPr>
            <p:spPr>
              <a:xfrm>
                <a:off x="8117840" y="4104640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6587CBF-C470-CA83-7B5C-FEAD95D0F54C}"/>
                  </a:ext>
                </a:extLst>
              </p:cNvPr>
              <p:cNvSpPr/>
              <p:nvPr/>
            </p:nvSpPr>
            <p:spPr>
              <a:xfrm>
                <a:off x="8646160" y="4104640"/>
                <a:ext cx="528320" cy="52832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32D68C7-2FC9-BA2D-67D8-24B85A9F4DB1}"/>
                </a:ext>
              </a:extLst>
            </p:cNvPr>
            <p:cNvGrpSpPr/>
            <p:nvPr/>
          </p:nvGrpSpPr>
          <p:grpSpPr>
            <a:xfrm>
              <a:off x="6700520" y="1554957"/>
              <a:ext cx="1056640" cy="528320"/>
              <a:chOff x="8117840" y="4104640"/>
              <a:chExt cx="1056640" cy="528320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8098BE31-45D1-DA89-F058-798D9BC0B451}"/>
                  </a:ext>
                </a:extLst>
              </p:cNvPr>
              <p:cNvSpPr/>
              <p:nvPr/>
            </p:nvSpPr>
            <p:spPr>
              <a:xfrm>
                <a:off x="8117840" y="4104640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9006E91-1C84-00B1-B529-6B1C315CB0D6}"/>
                  </a:ext>
                </a:extLst>
              </p:cNvPr>
              <p:cNvSpPr/>
              <p:nvPr/>
            </p:nvSpPr>
            <p:spPr>
              <a:xfrm>
                <a:off x="8646160" y="4104640"/>
                <a:ext cx="528320" cy="52832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9301D26-0CD9-3B07-C42A-543F20E60541}"/>
                </a:ext>
              </a:extLst>
            </p:cNvPr>
            <p:cNvGrpSpPr/>
            <p:nvPr/>
          </p:nvGrpSpPr>
          <p:grpSpPr>
            <a:xfrm>
              <a:off x="8021320" y="1554957"/>
              <a:ext cx="1056640" cy="528320"/>
              <a:chOff x="8117840" y="4104640"/>
              <a:chExt cx="1056640" cy="528320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01AF4BC-4E55-0C8F-F7F1-62B9AD51C8DA}"/>
                  </a:ext>
                </a:extLst>
              </p:cNvPr>
              <p:cNvSpPr/>
              <p:nvPr/>
            </p:nvSpPr>
            <p:spPr>
              <a:xfrm>
                <a:off x="8117840" y="4104640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DC0394D-65FA-1E41-04C5-04DEF03BB64A}"/>
                  </a:ext>
                </a:extLst>
              </p:cNvPr>
              <p:cNvSpPr/>
              <p:nvPr/>
            </p:nvSpPr>
            <p:spPr>
              <a:xfrm>
                <a:off x="8646160" y="4104640"/>
                <a:ext cx="528320" cy="52832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AF1D2A6-5EE2-5AEB-D1F4-D2462051008F}"/>
                </a:ext>
              </a:extLst>
            </p:cNvPr>
            <p:cNvGrpSpPr/>
            <p:nvPr/>
          </p:nvGrpSpPr>
          <p:grpSpPr>
            <a:xfrm>
              <a:off x="2727960" y="1554957"/>
              <a:ext cx="1056640" cy="528320"/>
              <a:chOff x="8117840" y="4104640"/>
              <a:chExt cx="1056640" cy="52832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D00D8EEB-9458-D06C-12F7-90FBA7B2A40B}"/>
                  </a:ext>
                </a:extLst>
              </p:cNvPr>
              <p:cNvSpPr/>
              <p:nvPr/>
            </p:nvSpPr>
            <p:spPr>
              <a:xfrm>
                <a:off x="8117840" y="4104640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3D1DDAC-6B8F-3404-4F5C-15827CEB97BA}"/>
                  </a:ext>
                </a:extLst>
              </p:cNvPr>
              <p:cNvSpPr/>
              <p:nvPr/>
            </p:nvSpPr>
            <p:spPr>
              <a:xfrm>
                <a:off x="8646160" y="4104640"/>
                <a:ext cx="528320" cy="52832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D6F7302-29CD-6247-CA2E-E28169576C09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3520440" y="1819117"/>
              <a:ext cx="533400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B5CED23-E26E-7CE3-4EBE-AD8018704CF2}"/>
                </a:ext>
              </a:extLst>
            </p:cNvPr>
            <p:cNvCxnSpPr>
              <a:cxnSpLocks/>
              <a:endCxn id="26" idx="1"/>
            </p:cNvCxnSpPr>
            <p:nvPr/>
          </p:nvCxnSpPr>
          <p:spPr>
            <a:xfrm>
              <a:off x="4846320" y="1819117"/>
              <a:ext cx="528320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86D0954-ABC6-8CD8-BA01-DE1C5E5C97D6}"/>
                </a:ext>
              </a:extLst>
            </p:cNvPr>
            <p:cNvCxnSpPr>
              <a:cxnSpLocks/>
              <a:endCxn id="24" idx="1"/>
            </p:cNvCxnSpPr>
            <p:nvPr/>
          </p:nvCxnSpPr>
          <p:spPr>
            <a:xfrm>
              <a:off x="6167120" y="1819117"/>
              <a:ext cx="533400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EA1E83-F56E-75E8-B524-231D324007C4}"/>
                </a:ext>
              </a:extLst>
            </p:cNvPr>
            <p:cNvCxnSpPr>
              <a:cxnSpLocks/>
              <a:endCxn id="22" idx="1"/>
            </p:cNvCxnSpPr>
            <p:nvPr/>
          </p:nvCxnSpPr>
          <p:spPr>
            <a:xfrm>
              <a:off x="7493000" y="1819117"/>
              <a:ext cx="528320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6B75BAC-83DC-D607-03EF-51F98CB4EDB0}"/>
              </a:ext>
            </a:extLst>
          </p:cNvPr>
          <p:cNvSpPr/>
          <p:nvPr/>
        </p:nvSpPr>
        <p:spPr>
          <a:xfrm>
            <a:off x="838200" y="1508776"/>
            <a:ext cx="949960" cy="5283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front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40CEF90-47B1-A9D1-0883-8E95D2E3673D}"/>
              </a:ext>
            </a:extLst>
          </p:cNvPr>
          <p:cNvCxnSpPr>
            <a:cxnSpLocks/>
            <a:stCxn id="7" idx="3"/>
            <a:endCxn id="20" idx="1"/>
          </p:cNvCxnSpPr>
          <p:nvPr/>
        </p:nvCxnSpPr>
        <p:spPr>
          <a:xfrm>
            <a:off x="1788160" y="1772936"/>
            <a:ext cx="9398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316CF11-E4C0-4497-26B8-3591CF94353D}"/>
              </a:ext>
            </a:extLst>
          </p:cNvPr>
          <p:cNvSpPr/>
          <p:nvPr/>
        </p:nvSpPr>
        <p:spPr>
          <a:xfrm>
            <a:off x="7810500" y="499586"/>
            <a:ext cx="949960" cy="5283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back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2BF9FD3-DA04-6D0D-A349-ABE4C21451D1}"/>
              </a:ext>
            </a:extLst>
          </p:cNvPr>
          <p:cNvCxnSpPr>
            <a:cxnSpLocks/>
            <a:stCxn id="9" idx="2"/>
            <a:endCxn id="22" idx="0"/>
          </p:cNvCxnSpPr>
          <p:nvPr/>
        </p:nvCxnSpPr>
        <p:spPr>
          <a:xfrm>
            <a:off x="8285480" y="1027906"/>
            <a:ext cx="0" cy="48087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DFCBFBE1-D283-24D3-5621-9A19344C54FB}"/>
              </a:ext>
            </a:extLst>
          </p:cNvPr>
          <p:cNvSpPr txBox="1">
            <a:spLocks/>
          </p:cNvSpPr>
          <p:nvPr/>
        </p:nvSpPr>
        <p:spPr>
          <a:xfrm>
            <a:off x="6288001" y="2920019"/>
            <a:ext cx="4481599" cy="36909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enqueue(x){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if ( back == null 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back = new Node(x);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front = back;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else {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</a:t>
            </a:r>
            <a:r>
              <a:rPr lang="en-US" dirty="0" err="1"/>
              <a:t>back.next</a:t>
            </a:r>
            <a:r>
              <a:rPr lang="en-US" dirty="0"/>
              <a:t> = new Node(x);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back = </a:t>
            </a:r>
            <a:r>
              <a:rPr lang="en-US" dirty="0" err="1"/>
              <a:t>back.next</a:t>
            </a:r>
            <a:r>
              <a:rPr lang="en-US" dirty="0"/>
              <a:t>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01D6BEF-E836-3BDB-502C-A14B43894775}"/>
              </a:ext>
            </a:extLst>
          </p:cNvPr>
          <p:cNvSpPr txBox="1"/>
          <p:nvPr/>
        </p:nvSpPr>
        <p:spPr>
          <a:xfrm>
            <a:off x="9745922" y="2629029"/>
            <a:ext cx="102367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u="sng" dirty="0"/>
              <a:t>Thread 2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E8AFB037-C1ED-8D07-F5CC-13F9A1937988}"/>
              </a:ext>
            </a:extLst>
          </p:cNvPr>
          <p:cNvSpPr txBox="1">
            <a:spLocks/>
          </p:cNvSpPr>
          <p:nvPr/>
        </p:nvSpPr>
        <p:spPr>
          <a:xfrm>
            <a:off x="732328" y="2920019"/>
            <a:ext cx="4481599" cy="36909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enqueue(x){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if ( back == null ){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back = new Node(x);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front = back;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else {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</a:t>
            </a:r>
            <a:r>
              <a:rPr lang="en-US" dirty="0" err="1"/>
              <a:t>back.next</a:t>
            </a:r>
            <a:r>
              <a:rPr lang="en-US" dirty="0"/>
              <a:t> = new Node(x);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back = </a:t>
            </a:r>
            <a:r>
              <a:rPr lang="en-US" dirty="0" err="1"/>
              <a:t>back.next</a:t>
            </a:r>
            <a:r>
              <a:rPr lang="en-US" dirty="0"/>
              <a:t>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}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08CA7FB-9575-435C-0845-404647D4BEB8}"/>
              </a:ext>
            </a:extLst>
          </p:cNvPr>
          <p:cNvSpPr txBox="1"/>
          <p:nvPr/>
        </p:nvSpPr>
        <p:spPr>
          <a:xfrm>
            <a:off x="4190249" y="2629029"/>
            <a:ext cx="102367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u="sng" dirty="0"/>
              <a:t>Thread 1</a:t>
            </a:r>
          </a:p>
        </p:txBody>
      </p:sp>
      <p:sp>
        <p:nvSpPr>
          <p:cNvPr id="41" name="Left Brace 40">
            <a:extLst>
              <a:ext uri="{FF2B5EF4-FFF2-40B4-BE49-F238E27FC236}">
                <a16:creationId xmlns:a16="http://schemas.microsoft.com/office/drawing/2014/main" id="{3A8550E1-A4F7-5700-48AF-3C93F9330A5F}"/>
              </a:ext>
            </a:extLst>
          </p:cNvPr>
          <p:cNvSpPr/>
          <p:nvPr/>
        </p:nvSpPr>
        <p:spPr>
          <a:xfrm>
            <a:off x="5818909" y="2920019"/>
            <a:ext cx="612371" cy="3690936"/>
          </a:xfrm>
          <a:prstGeom prst="leftBrace">
            <a:avLst>
              <a:gd name="adj1" fmla="val 8333"/>
              <a:gd name="adj2" fmla="val 24725"/>
            </a:avLst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1D1F010-1CAD-7D8E-F126-10F47AF09B2E}"/>
              </a:ext>
            </a:extLst>
          </p:cNvPr>
          <p:cNvCxnSpPr>
            <a:cxnSpLocks/>
            <a:stCxn id="41" idx="1"/>
          </p:cNvCxnSpPr>
          <p:nvPr/>
        </p:nvCxnSpPr>
        <p:spPr>
          <a:xfrm flipH="1" flipV="1">
            <a:off x="3256280" y="3713018"/>
            <a:ext cx="2562629" cy="119585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5687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08952-A878-A3A3-7669-D7284A2DD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A3A11-05DA-4EBB-5EF4-CD47DA10B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Empty Shared Queue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5BA25F-6E74-5CFB-6579-C95C2CF1B3F5}"/>
              </a:ext>
            </a:extLst>
          </p:cNvPr>
          <p:cNvSpPr/>
          <p:nvPr/>
        </p:nvSpPr>
        <p:spPr>
          <a:xfrm>
            <a:off x="838200" y="1508776"/>
            <a:ext cx="949960" cy="5283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front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6FE4E9-C141-2CBB-48E3-A997648FBF81}"/>
              </a:ext>
            </a:extLst>
          </p:cNvPr>
          <p:cNvSpPr/>
          <p:nvPr/>
        </p:nvSpPr>
        <p:spPr>
          <a:xfrm>
            <a:off x="3164609" y="1453358"/>
            <a:ext cx="949960" cy="5283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back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42B5AB57-3FAA-7C65-DC61-CB8E30409CB1}"/>
              </a:ext>
            </a:extLst>
          </p:cNvPr>
          <p:cNvSpPr txBox="1">
            <a:spLocks/>
          </p:cNvSpPr>
          <p:nvPr/>
        </p:nvSpPr>
        <p:spPr>
          <a:xfrm>
            <a:off x="6288001" y="2920019"/>
            <a:ext cx="4481599" cy="36909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enqueue(x){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if ( back == null 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back = new Node(x);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front = back;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else {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</a:t>
            </a:r>
            <a:r>
              <a:rPr lang="en-US" dirty="0" err="1"/>
              <a:t>back.next</a:t>
            </a:r>
            <a:r>
              <a:rPr lang="en-US" dirty="0"/>
              <a:t> = new Node(x);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back = </a:t>
            </a:r>
            <a:r>
              <a:rPr lang="en-US" dirty="0" err="1"/>
              <a:t>back.next</a:t>
            </a:r>
            <a:r>
              <a:rPr lang="en-US" dirty="0"/>
              <a:t>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2B293B8-14F8-36EF-B9B6-15753ED2AA49}"/>
              </a:ext>
            </a:extLst>
          </p:cNvPr>
          <p:cNvSpPr txBox="1"/>
          <p:nvPr/>
        </p:nvSpPr>
        <p:spPr>
          <a:xfrm>
            <a:off x="9745922" y="2629029"/>
            <a:ext cx="102367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u="sng" dirty="0"/>
              <a:t>Thread 2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020025F3-B985-B3BA-F393-B23EECD8B476}"/>
              </a:ext>
            </a:extLst>
          </p:cNvPr>
          <p:cNvSpPr txBox="1">
            <a:spLocks/>
          </p:cNvSpPr>
          <p:nvPr/>
        </p:nvSpPr>
        <p:spPr>
          <a:xfrm>
            <a:off x="732328" y="2920019"/>
            <a:ext cx="4481599" cy="36909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enqueue(x){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if ( back == null ){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back = new Node(x);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front = back;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else {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</a:t>
            </a:r>
            <a:r>
              <a:rPr lang="en-US" dirty="0" err="1"/>
              <a:t>back.next</a:t>
            </a:r>
            <a:r>
              <a:rPr lang="en-US" dirty="0"/>
              <a:t> = new Node(x);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back = </a:t>
            </a:r>
            <a:r>
              <a:rPr lang="en-US" dirty="0" err="1"/>
              <a:t>back.next</a:t>
            </a:r>
            <a:r>
              <a:rPr lang="en-US" dirty="0"/>
              <a:t>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}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71053BC-FCCB-9309-F57A-160BAEF35949}"/>
              </a:ext>
            </a:extLst>
          </p:cNvPr>
          <p:cNvSpPr txBox="1"/>
          <p:nvPr/>
        </p:nvSpPr>
        <p:spPr>
          <a:xfrm>
            <a:off x="4190249" y="2629029"/>
            <a:ext cx="102367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u="sng" dirty="0"/>
              <a:t>Thread 1</a:t>
            </a:r>
          </a:p>
        </p:txBody>
      </p:sp>
      <p:sp>
        <p:nvSpPr>
          <p:cNvPr id="41" name="Left Brace 40">
            <a:extLst>
              <a:ext uri="{FF2B5EF4-FFF2-40B4-BE49-F238E27FC236}">
                <a16:creationId xmlns:a16="http://schemas.microsoft.com/office/drawing/2014/main" id="{61DC0C11-F1E2-3E72-A4B0-9CEB80FA5520}"/>
              </a:ext>
            </a:extLst>
          </p:cNvPr>
          <p:cNvSpPr/>
          <p:nvPr/>
        </p:nvSpPr>
        <p:spPr>
          <a:xfrm>
            <a:off x="5818909" y="2920019"/>
            <a:ext cx="612371" cy="3690936"/>
          </a:xfrm>
          <a:prstGeom prst="leftBrace">
            <a:avLst>
              <a:gd name="adj1" fmla="val 8333"/>
              <a:gd name="adj2" fmla="val 24725"/>
            </a:avLst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D88510B-C68C-F57E-02DE-6244D9017B09}"/>
              </a:ext>
            </a:extLst>
          </p:cNvPr>
          <p:cNvCxnSpPr>
            <a:cxnSpLocks/>
            <a:stCxn id="41" idx="1"/>
          </p:cNvCxnSpPr>
          <p:nvPr/>
        </p:nvCxnSpPr>
        <p:spPr>
          <a:xfrm flipH="1" flipV="1">
            <a:off x="3256280" y="3713018"/>
            <a:ext cx="2562629" cy="119585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45A7BDC-C17C-45B5-8A30-9A6895A7D101}"/>
              </a:ext>
            </a:extLst>
          </p:cNvPr>
          <p:cNvSpPr txBox="1"/>
          <p:nvPr/>
        </p:nvSpPr>
        <p:spPr>
          <a:xfrm>
            <a:off x="7278256" y="959529"/>
            <a:ext cx="379614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Suppose the Queue is empty, and the threads execute in this order.</a:t>
            </a:r>
          </a:p>
          <a:p>
            <a:r>
              <a:rPr lang="en-US" dirty="0"/>
              <a:t>Assume Thread 1 enqueues 1, and Thread 2 enqueues 2.</a:t>
            </a:r>
          </a:p>
        </p:txBody>
      </p:sp>
    </p:spTree>
    <p:extLst>
      <p:ext uri="{BB962C8B-B14F-4D97-AF65-F5344CB8AC3E}">
        <p14:creationId xmlns:p14="http://schemas.microsoft.com/office/powerpoint/2010/main" val="3562583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DADBF-FEE0-18E2-A45A-AD175122B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71105-A168-DAEF-0113-68B18EF5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1 – first two lines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B2F17-28D6-1F07-0CE9-6B0713FCF884}"/>
              </a:ext>
            </a:extLst>
          </p:cNvPr>
          <p:cNvSpPr/>
          <p:nvPr/>
        </p:nvSpPr>
        <p:spPr>
          <a:xfrm>
            <a:off x="838200" y="1508776"/>
            <a:ext cx="949960" cy="5283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front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42952F-CBBF-290B-BD93-2EB64104F284}"/>
              </a:ext>
            </a:extLst>
          </p:cNvPr>
          <p:cNvSpPr/>
          <p:nvPr/>
        </p:nvSpPr>
        <p:spPr>
          <a:xfrm>
            <a:off x="3164609" y="1453358"/>
            <a:ext cx="949960" cy="5283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back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F5292516-790B-38C1-6F13-7BE6682A5EAC}"/>
              </a:ext>
            </a:extLst>
          </p:cNvPr>
          <p:cNvSpPr txBox="1">
            <a:spLocks/>
          </p:cNvSpPr>
          <p:nvPr/>
        </p:nvSpPr>
        <p:spPr>
          <a:xfrm>
            <a:off x="6288001" y="2920019"/>
            <a:ext cx="4481599" cy="36909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enqueue(x){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if ( back == null 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back = new Node(x);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front = back;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else {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</a:t>
            </a:r>
            <a:r>
              <a:rPr lang="en-US" dirty="0" err="1"/>
              <a:t>back.next</a:t>
            </a:r>
            <a:r>
              <a:rPr lang="en-US" dirty="0"/>
              <a:t> = new Node(x);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back = </a:t>
            </a:r>
            <a:r>
              <a:rPr lang="en-US" dirty="0" err="1"/>
              <a:t>back.next</a:t>
            </a:r>
            <a:r>
              <a:rPr lang="en-US" dirty="0"/>
              <a:t>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16BFCC7-5090-605B-28AB-D5E471BD3E0E}"/>
              </a:ext>
            </a:extLst>
          </p:cNvPr>
          <p:cNvSpPr txBox="1"/>
          <p:nvPr/>
        </p:nvSpPr>
        <p:spPr>
          <a:xfrm>
            <a:off x="9745922" y="2629029"/>
            <a:ext cx="102367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u="sng" dirty="0"/>
              <a:t>Thread 2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703E1D4A-047C-D08F-7CF9-02F225EE1C1C}"/>
              </a:ext>
            </a:extLst>
          </p:cNvPr>
          <p:cNvSpPr txBox="1">
            <a:spLocks/>
          </p:cNvSpPr>
          <p:nvPr/>
        </p:nvSpPr>
        <p:spPr>
          <a:xfrm>
            <a:off x="732328" y="2920019"/>
            <a:ext cx="4481599" cy="36909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enqueue(x){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if ( back == null ){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back = new Node(x);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front = back;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else {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</a:t>
            </a:r>
            <a:r>
              <a:rPr lang="en-US" dirty="0" err="1"/>
              <a:t>back.next</a:t>
            </a:r>
            <a:r>
              <a:rPr lang="en-US" dirty="0"/>
              <a:t> = new Node(x);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back = </a:t>
            </a:r>
            <a:r>
              <a:rPr lang="en-US" dirty="0" err="1"/>
              <a:t>back.next</a:t>
            </a:r>
            <a:r>
              <a:rPr lang="en-US" dirty="0"/>
              <a:t>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}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800D67-0C0E-B005-3EE3-3EE585765328}"/>
              </a:ext>
            </a:extLst>
          </p:cNvPr>
          <p:cNvSpPr txBox="1"/>
          <p:nvPr/>
        </p:nvSpPr>
        <p:spPr>
          <a:xfrm>
            <a:off x="4190249" y="2629029"/>
            <a:ext cx="102367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u="sng" dirty="0"/>
              <a:t>Thread 1</a:t>
            </a:r>
          </a:p>
        </p:txBody>
      </p:sp>
      <p:sp>
        <p:nvSpPr>
          <p:cNvPr id="41" name="Left Brace 40">
            <a:extLst>
              <a:ext uri="{FF2B5EF4-FFF2-40B4-BE49-F238E27FC236}">
                <a16:creationId xmlns:a16="http://schemas.microsoft.com/office/drawing/2014/main" id="{B70FB154-6E16-75F6-9182-5879BE0784EB}"/>
              </a:ext>
            </a:extLst>
          </p:cNvPr>
          <p:cNvSpPr/>
          <p:nvPr/>
        </p:nvSpPr>
        <p:spPr>
          <a:xfrm>
            <a:off x="5818909" y="2920019"/>
            <a:ext cx="612371" cy="3690936"/>
          </a:xfrm>
          <a:prstGeom prst="leftBrace">
            <a:avLst>
              <a:gd name="adj1" fmla="val 8333"/>
              <a:gd name="adj2" fmla="val 24725"/>
            </a:avLst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419BE70-FFFB-930F-6059-1D5051263FAA}"/>
              </a:ext>
            </a:extLst>
          </p:cNvPr>
          <p:cNvCxnSpPr>
            <a:cxnSpLocks/>
            <a:stCxn id="41" idx="1"/>
          </p:cNvCxnSpPr>
          <p:nvPr/>
        </p:nvCxnSpPr>
        <p:spPr>
          <a:xfrm flipH="1" flipV="1">
            <a:off x="3256280" y="3713018"/>
            <a:ext cx="2562629" cy="119585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96B101-57E4-0B41-1B77-88811F6D0549}"/>
              </a:ext>
            </a:extLst>
          </p:cNvPr>
          <p:cNvSpPr txBox="1"/>
          <p:nvPr/>
        </p:nvSpPr>
        <p:spPr>
          <a:xfrm>
            <a:off x="7278255" y="959529"/>
            <a:ext cx="41655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Thread 1 has decided the queue is empty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0B4E5CB-6014-CE49-FFB7-7A512F7E6B61}"/>
                  </a:ext>
                </a:extLst>
              </p14:cNvPr>
              <p14:cNvContentPartPr/>
              <p14:nvPr/>
            </p14:nvContentPartPr>
            <p14:xfrm>
              <a:off x="1883520" y="1699200"/>
              <a:ext cx="1499760" cy="986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0B4E5CB-6014-CE49-FFB7-7A512F7E6B6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74160" y="1689840"/>
                <a:ext cx="1518480" cy="1004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6293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319DD-FFAA-30D0-0137-1B071571D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9EF8D-0659-368F-1D30-6D64917FB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2 – all lines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4EB502-DFF5-6917-FCF6-7387D28E1A1C}"/>
              </a:ext>
            </a:extLst>
          </p:cNvPr>
          <p:cNvSpPr/>
          <p:nvPr/>
        </p:nvSpPr>
        <p:spPr>
          <a:xfrm>
            <a:off x="838200" y="1508776"/>
            <a:ext cx="949960" cy="5283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front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37DB78-0E17-00A6-67C4-29EDA89A127B}"/>
              </a:ext>
            </a:extLst>
          </p:cNvPr>
          <p:cNvSpPr/>
          <p:nvPr/>
        </p:nvSpPr>
        <p:spPr>
          <a:xfrm>
            <a:off x="4806835" y="1508776"/>
            <a:ext cx="949960" cy="5283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back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8FD0F61F-A2A6-CBA4-DF5C-53599A4265AD}"/>
              </a:ext>
            </a:extLst>
          </p:cNvPr>
          <p:cNvSpPr txBox="1">
            <a:spLocks/>
          </p:cNvSpPr>
          <p:nvPr/>
        </p:nvSpPr>
        <p:spPr>
          <a:xfrm>
            <a:off x="6288001" y="2920019"/>
            <a:ext cx="4481599" cy="36909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enqueue(x){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if ( back == null 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	back = new Node(x);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	front = back;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else {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	</a:t>
            </a:r>
            <a:r>
              <a:rPr lang="en-US" b="1" strike="sngStrike" dirty="0" err="1"/>
              <a:t>back.next</a:t>
            </a:r>
            <a:r>
              <a:rPr lang="en-US" b="1" strike="sngStrike" dirty="0"/>
              <a:t> = new Node(x);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	back = </a:t>
            </a:r>
            <a:r>
              <a:rPr lang="en-US" b="1" strike="sngStrike" dirty="0" err="1"/>
              <a:t>back.next</a:t>
            </a:r>
            <a:r>
              <a:rPr lang="en-US" b="1" strike="sngStrike" dirty="0"/>
              <a:t>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EB55E4B-6E58-E142-6911-BA43302DE33B}"/>
              </a:ext>
            </a:extLst>
          </p:cNvPr>
          <p:cNvSpPr txBox="1"/>
          <p:nvPr/>
        </p:nvSpPr>
        <p:spPr>
          <a:xfrm>
            <a:off x="9745922" y="2629029"/>
            <a:ext cx="102367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u="sng" dirty="0"/>
              <a:t>Thread 2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E8581A67-265F-9585-D086-42EF97575984}"/>
              </a:ext>
            </a:extLst>
          </p:cNvPr>
          <p:cNvSpPr txBox="1">
            <a:spLocks/>
          </p:cNvSpPr>
          <p:nvPr/>
        </p:nvSpPr>
        <p:spPr>
          <a:xfrm>
            <a:off x="732328" y="2920019"/>
            <a:ext cx="4481599" cy="36909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enqueue(x){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if ( back == null ){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back = new Node(x);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front = back;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else {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</a:t>
            </a:r>
            <a:r>
              <a:rPr lang="en-US" dirty="0" err="1"/>
              <a:t>back.next</a:t>
            </a:r>
            <a:r>
              <a:rPr lang="en-US" dirty="0"/>
              <a:t> = new Node(x);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back = </a:t>
            </a:r>
            <a:r>
              <a:rPr lang="en-US" dirty="0" err="1"/>
              <a:t>back.next</a:t>
            </a:r>
            <a:r>
              <a:rPr lang="en-US" dirty="0"/>
              <a:t>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}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9C1810D-BB3B-2781-5F5B-5DE76F9CEBCC}"/>
              </a:ext>
            </a:extLst>
          </p:cNvPr>
          <p:cNvSpPr txBox="1"/>
          <p:nvPr/>
        </p:nvSpPr>
        <p:spPr>
          <a:xfrm>
            <a:off x="4190249" y="2629029"/>
            <a:ext cx="102367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u="sng" dirty="0"/>
              <a:t>Thread 1</a:t>
            </a:r>
          </a:p>
        </p:txBody>
      </p:sp>
      <p:sp>
        <p:nvSpPr>
          <p:cNvPr id="41" name="Left Brace 40">
            <a:extLst>
              <a:ext uri="{FF2B5EF4-FFF2-40B4-BE49-F238E27FC236}">
                <a16:creationId xmlns:a16="http://schemas.microsoft.com/office/drawing/2014/main" id="{564C11C0-95B9-1798-6B0D-70E74342981A}"/>
              </a:ext>
            </a:extLst>
          </p:cNvPr>
          <p:cNvSpPr/>
          <p:nvPr/>
        </p:nvSpPr>
        <p:spPr>
          <a:xfrm>
            <a:off x="5818909" y="2920019"/>
            <a:ext cx="612371" cy="3690936"/>
          </a:xfrm>
          <a:prstGeom prst="leftBrace">
            <a:avLst>
              <a:gd name="adj1" fmla="val 8333"/>
              <a:gd name="adj2" fmla="val 24725"/>
            </a:avLst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D4C5BA0-DB61-7A1C-DBF3-52591A1D10DE}"/>
              </a:ext>
            </a:extLst>
          </p:cNvPr>
          <p:cNvCxnSpPr>
            <a:cxnSpLocks/>
            <a:stCxn id="41" idx="1"/>
          </p:cNvCxnSpPr>
          <p:nvPr/>
        </p:nvCxnSpPr>
        <p:spPr>
          <a:xfrm flipH="1" flipV="1">
            <a:off x="3256280" y="3713018"/>
            <a:ext cx="2562629" cy="119585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3536E1E-3EF4-02FF-B3E4-92BDEFC6BC6F}"/>
              </a:ext>
            </a:extLst>
          </p:cNvPr>
          <p:cNvSpPr txBox="1"/>
          <p:nvPr/>
        </p:nvSpPr>
        <p:spPr>
          <a:xfrm>
            <a:off x="7278255" y="959529"/>
            <a:ext cx="416559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Thread 1 has decided the queue is empty</a:t>
            </a:r>
          </a:p>
          <a:p>
            <a:r>
              <a:rPr lang="en-US" dirty="0"/>
              <a:t>Meanwhile, thread 2 enqueues 2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4F13B9-60D5-077E-15A4-469C6B0BAD27}"/>
              </a:ext>
            </a:extLst>
          </p:cNvPr>
          <p:cNvGrpSpPr/>
          <p:nvPr/>
        </p:nvGrpSpPr>
        <p:grpSpPr>
          <a:xfrm>
            <a:off x="2727960" y="1508776"/>
            <a:ext cx="1056640" cy="528320"/>
            <a:chOff x="8117840" y="4104640"/>
            <a:chExt cx="1056640" cy="52832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802F6A3-E9A8-5954-9C38-CCB5620F1E80}"/>
                </a:ext>
              </a:extLst>
            </p:cNvPr>
            <p:cNvSpPr/>
            <p:nvPr/>
          </p:nvSpPr>
          <p:spPr>
            <a:xfrm>
              <a:off x="8117840" y="4104640"/>
              <a:ext cx="528320" cy="52832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472B177-356A-CB8A-35C4-337C8E3F16A4}"/>
                </a:ext>
              </a:extLst>
            </p:cNvPr>
            <p:cNvSpPr/>
            <p:nvPr/>
          </p:nvSpPr>
          <p:spPr>
            <a:xfrm>
              <a:off x="8646160" y="4104640"/>
              <a:ext cx="528320" cy="5283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5F3E8C0-1ACE-CE78-25B2-C1B8F66A40FE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1788160" y="1772936"/>
            <a:ext cx="9398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C3CAF0A-06E5-3F96-9D71-184D4DE4B21F}"/>
              </a:ext>
            </a:extLst>
          </p:cNvPr>
          <p:cNvCxnSpPr>
            <a:cxnSpLocks/>
            <a:stCxn id="9" idx="1"/>
            <a:endCxn id="17" idx="3"/>
          </p:cNvCxnSpPr>
          <p:nvPr/>
        </p:nvCxnSpPr>
        <p:spPr>
          <a:xfrm flipH="1">
            <a:off x="3784600" y="1772936"/>
            <a:ext cx="1022235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40CDC58-3F0B-1EC5-1B4B-518F657ADC8D}"/>
                  </a:ext>
                </a:extLst>
              </p14:cNvPr>
              <p14:cNvContentPartPr/>
              <p14:nvPr/>
            </p14:nvContentPartPr>
            <p14:xfrm>
              <a:off x="1569960" y="1616400"/>
              <a:ext cx="5306760" cy="1277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40CDC58-3F0B-1EC5-1B4B-518F657ADC8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60600" y="1607040"/>
                <a:ext cx="5325480" cy="129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664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92911-38DC-1E6D-E379-30119B37B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C99E9-D4B1-C748-7403-A56BB3BA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1 – remaining lines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CD8D09-A892-BA65-0CF0-523DCBD4F091}"/>
              </a:ext>
            </a:extLst>
          </p:cNvPr>
          <p:cNvSpPr/>
          <p:nvPr/>
        </p:nvSpPr>
        <p:spPr>
          <a:xfrm>
            <a:off x="838200" y="1508776"/>
            <a:ext cx="949960" cy="5283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front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94DBB9-454B-CAEF-35D3-849A3211A255}"/>
              </a:ext>
            </a:extLst>
          </p:cNvPr>
          <p:cNvSpPr/>
          <p:nvPr/>
        </p:nvSpPr>
        <p:spPr>
          <a:xfrm>
            <a:off x="4806835" y="1508776"/>
            <a:ext cx="949960" cy="5283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back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CC8DECD1-895E-D68C-B141-B2E311C8F60B}"/>
              </a:ext>
            </a:extLst>
          </p:cNvPr>
          <p:cNvSpPr txBox="1">
            <a:spLocks/>
          </p:cNvSpPr>
          <p:nvPr/>
        </p:nvSpPr>
        <p:spPr>
          <a:xfrm>
            <a:off x="6288001" y="2920019"/>
            <a:ext cx="4481599" cy="36909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enqueue(x){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if ( back == null 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	back = new Node(x);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	front = back;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else {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	</a:t>
            </a:r>
            <a:r>
              <a:rPr lang="en-US" b="1" strike="sngStrike" dirty="0" err="1"/>
              <a:t>back.next</a:t>
            </a:r>
            <a:r>
              <a:rPr lang="en-US" b="1" strike="sngStrike" dirty="0"/>
              <a:t> = new Node(x);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	back = </a:t>
            </a:r>
            <a:r>
              <a:rPr lang="en-US" b="1" strike="sngStrike" dirty="0" err="1"/>
              <a:t>back.next</a:t>
            </a:r>
            <a:r>
              <a:rPr lang="en-US" b="1" strike="sngStrike" dirty="0"/>
              <a:t>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5CDDDE-EF93-813B-B4F7-D6ADE9D95D88}"/>
              </a:ext>
            </a:extLst>
          </p:cNvPr>
          <p:cNvSpPr txBox="1"/>
          <p:nvPr/>
        </p:nvSpPr>
        <p:spPr>
          <a:xfrm>
            <a:off x="9745922" y="2629029"/>
            <a:ext cx="102367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u="sng" dirty="0"/>
              <a:t>Thread 2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E7686F63-0A25-C02E-9A08-2ED6268AE6E1}"/>
              </a:ext>
            </a:extLst>
          </p:cNvPr>
          <p:cNvSpPr txBox="1">
            <a:spLocks/>
          </p:cNvSpPr>
          <p:nvPr/>
        </p:nvSpPr>
        <p:spPr>
          <a:xfrm>
            <a:off x="732328" y="2920019"/>
            <a:ext cx="4481599" cy="36909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enqueue(x){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if ( back == null ){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</a:t>
            </a:r>
            <a:r>
              <a:rPr lang="en-US" b="1" strike="sngStrike" dirty="0"/>
              <a:t>back = new Node(x);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	front = back;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else {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	</a:t>
            </a:r>
            <a:r>
              <a:rPr lang="en-US" b="1" strike="sngStrike" dirty="0" err="1"/>
              <a:t>back.next</a:t>
            </a:r>
            <a:r>
              <a:rPr lang="en-US" b="1" strike="sngStrike" dirty="0"/>
              <a:t> = new Node(x);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	back = </a:t>
            </a:r>
            <a:r>
              <a:rPr lang="en-US" b="1" strike="sngStrike" dirty="0" err="1"/>
              <a:t>back.next</a:t>
            </a:r>
            <a:r>
              <a:rPr lang="en-US" b="1" strike="sngStrike" dirty="0"/>
              <a:t>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strike="sngStrike" dirty="0"/>
              <a:t>}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444953-DBCB-47F1-A02C-9CA403DCF3AE}"/>
              </a:ext>
            </a:extLst>
          </p:cNvPr>
          <p:cNvSpPr txBox="1"/>
          <p:nvPr/>
        </p:nvSpPr>
        <p:spPr>
          <a:xfrm>
            <a:off x="4190249" y="2629029"/>
            <a:ext cx="102367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u="sng" dirty="0"/>
              <a:t>Thread 1</a:t>
            </a:r>
          </a:p>
        </p:txBody>
      </p:sp>
      <p:sp>
        <p:nvSpPr>
          <p:cNvPr id="41" name="Left Brace 40">
            <a:extLst>
              <a:ext uri="{FF2B5EF4-FFF2-40B4-BE49-F238E27FC236}">
                <a16:creationId xmlns:a16="http://schemas.microsoft.com/office/drawing/2014/main" id="{83EA8621-D1A8-C7B3-38AB-8A6276264452}"/>
              </a:ext>
            </a:extLst>
          </p:cNvPr>
          <p:cNvSpPr/>
          <p:nvPr/>
        </p:nvSpPr>
        <p:spPr>
          <a:xfrm>
            <a:off x="5818909" y="2920019"/>
            <a:ext cx="612371" cy="3690936"/>
          </a:xfrm>
          <a:prstGeom prst="leftBrace">
            <a:avLst>
              <a:gd name="adj1" fmla="val 8333"/>
              <a:gd name="adj2" fmla="val 24725"/>
            </a:avLst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25D9C66-6DA1-4C62-74C3-DC716B86E77D}"/>
              </a:ext>
            </a:extLst>
          </p:cNvPr>
          <p:cNvCxnSpPr>
            <a:cxnSpLocks/>
            <a:stCxn id="41" idx="1"/>
          </p:cNvCxnSpPr>
          <p:nvPr/>
        </p:nvCxnSpPr>
        <p:spPr>
          <a:xfrm flipH="1" flipV="1">
            <a:off x="3256280" y="3713018"/>
            <a:ext cx="2562629" cy="119585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C791B17-5542-5D5F-DA9C-4CCFCCCAA899}"/>
              </a:ext>
            </a:extLst>
          </p:cNvPr>
          <p:cNvSpPr txBox="1"/>
          <p:nvPr/>
        </p:nvSpPr>
        <p:spPr>
          <a:xfrm>
            <a:off x="7278255" y="959529"/>
            <a:ext cx="4165599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Thread 1 has decided the queue is empty</a:t>
            </a:r>
          </a:p>
          <a:p>
            <a:r>
              <a:rPr lang="en-US" dirty="0"/>
              <a:t>Meanwhile, thread 2 enqueues 2</a:t>
            </a:r>
          </a:p>
          <a:p>
            <a:r>
              <a:rPr lang="en-US" dirty="0"/>
              <a:t>Thread 1 continues as if the queue is still empty, overwriting Thread 2’s work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B515BAB-052D-58C6-1601-22207DE7F886}"/>
              </a:ext>
            </a:extLst>
          </p:cNvPr>
          <p:cNvGrpSpPr/>
          <p:nvPr/>
        </p:nvGrpSpPr>
        <p:grpSpPr>
          <a:xfrm>
            <a:off x="2727960" y="1508776"/>
            <a:ext cx="1056640" cy="528320"/>
            <a:chOff x="8117840" y="4104640"/>
            <a:chExt cx="1056640" cy="52832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7CBDA10-7AC8-644B-920F-F7D4043D8C2F}"/>
                </a:ext>
              </a:extLst>
            </p:cNvPr>
            <p:cNvSpPr/>
            <p:nvPr/>
          </p:nvSpPr>
          <p:spPr>
            <a:xfrm>
              <a:off x="8117840" y="4104640"/>
              <a:ext cx="528320" cy="52832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91EFB7D-7207-C043-DB91-DFF8B4FD12DD}"/>
                </a:ext>
              </a:extLst>
            </p:cNvPr>
            <p:cNvSpPr/>
            <p:nvPr/>
          </p:nvSpPr>
          <p:spPr>
            <a:xfrm>
              <a:off x="8646160" y="4104640"/>
              <a:ext cx="528320" cy="5283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07D01EB-B93A-5E83-BC21-DA7545235DB1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1788160" y="1772936"/>
            <a:ext cx="9398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2EA6176-E878-106F-9193-10B62353D66E}"/>
              </a:ext>
            </a:extLst>
          </p:cNvPr>
          <p:cNvCxnSpPr>
            <a:cxnSpLocks/>
            <a:stCxn id="9" idx="1"/>
            <a:endCxn id="17" idx="3"/>
          </p:cNvCxnSpPr>
          <p:nvPr/>
        </p:nvCxnSpPr>
        <p:spPr>
          <a:xfrm flipH="1">
            <a:off x="3784600" y="1772936"/>
            <a:ext cx="1022235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0626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1EC1A-6CA5-98A7-F39E-5B051CE8D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Interleaving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B31AF-5BCA-E54E-4929-B7B6A0D8A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Due to time slicing, a thread can be interrupted at any time</a:t>
            </a:r>
          </a:p>
          <a:p>
            <a:pPr lvl="1"/>
            <a:r>
              <a:rPr lang="en-US" dirty="0"/>
              <a:t>Between any two lines of code</a:t>
            </a:r>
          </a:p>
          <a:p>
            <a:pPr lvl="1"/>
            <a:r>
              <a:rPr lang="en-US" dirty="0"/>
              <a:t>Within a single line of code</a:t>
            </a:r>
          </a:p>
          <a:p>
            <a:r>
              <a:rPr lang="en-US" dirty="0"/>
              <a:t>The sequence that operations occur across two threads is called an interleaving</a:t>
            </a:r>
          </a:p>
          <a:p>
            <a:r>
              <a:rPr lang="en-US" dirty="0"/>
              <a:t>Without doing anything else, we have no control over how different threads might be interleaved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75DA606-9437-A574-1BAE-DA65EEAFD7E7}"/>
                  </a:ext>
                </a:extLst>
              </p14:cNvPr>
              <p14:cNvContentPartPr/>
              <p14:nvPr/>
            </p14:nvContentPartPr>
            <p14:xfrm>
              <a:off x="1032480" y="1922760"/>
              <a:ext cx="6747480" cy="2590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75DA606-9437-A574-1BAE-DA65EEAFD7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3120" y="1913400"/>
                <a:ext cx="6766200" cy="260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26232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3ECE2-9CC3-DF86-BABE-D4BE2D4AB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Concurrent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19A95-C324-F33C-8E0D-40758B326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Concurrency: </a:t>
            </a:r>
          </a:p>
          <a:p>
            <a:pPr lvl="1"/>
            <a:r>
              <a:rPr lang="en-US" dirty="0"/>
              <a:t>Correctly and efficiently managing access to shared resources across multiple possibly-simultaneous tasks</a:t>
            </a:r>
          </a:p>
          <a:p>
            <a:r>
              <a:rPr lang="en-US" dirty="0"/>
              <a:t>Requires synchronization to avoid incorrect simultaneous access</a:t>
            </a:r>
          </a:p>
          <a:p>
            <a:pPr lvl="1"/>
            <a:r>
              <a:rPr lang="en-US" dirty="0"/>
              <a:t>Use some way of “blocking” other tasks from using a resource when another modifies it or makes decisions based on its state</a:t>
            </a:r>
          </a:p>
          <a:p>
            <a:pPr lvl="1"/>
            <a:r>
              <a:rPr lang="en-US" dirty="0"/>
              <a:t>That blocking task will free up the resource when it’s done</a:t>
            </a:r>
          </a:p>
          <a:p>
            <a:r>
              <a:rPr lang="en-US" dirty="0"/>
              <a:t>Warning:</a:t>
            </a:r>
          </a:p>
          <a:p>
            <a:pPr lvl="1"/>
            <a:r>
              <a:rPr lang="en-US" dirty="0"/>
              <a:t>Because we have no control over when threads are scheduled by the OS, even correct implementations are highly non-deterministic</a:t>
            </a:r>
          </a:p>
          <a:p>
            <a:pPr lvl="1"/>
            <a:r>
              <a:rPr lang="en-US" dirty="0"/>
              <a:t>Errors are hard to reproduce, which complicates debugging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4AA923A-DBA8-72C0-9672-68A6C3E14DF0}"/>
                  </a:ext>
                </a:extLst>
              </p14:cNvPr>
              <p14:cNvContentPartPr/>
              <p14:nvPr/>
            </p14:nvContentPartPr>
            <p14:xfrm>
              <a:off x="712800" y="2081880"/>
              <a:ext cx="8772480" cy="3931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4AA923A-DBA8-72C0-9672-68A6C3E14DF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3440" y="2072520"/>
                <a:ext cx="8791200" cy="395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54095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0080A-80A6-F4EC-185D-CA6DDF5AE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Analogue Example – Data Race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9C2D5-5A64-4902-8AD7-35A11A438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Count to 10 aloud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Clap three times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Erase the contents of the box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Write your name in the box, </a:t>
            </a:r>
          </a:p>
          <a:p>
            <a:pPr marL="457200" lvl="1" indent="0">
              <a:buNone/>
            </a:pPr>
            <a:r>
              <a:rPr lang="en-US" dirty="0"/>
              <a:t>pausing 2 seconds between letters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Wave your arms in the air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104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188F7-8470-2FB0-3F58-066321055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CC10C-B593-0AF5-AFE1-B583940AF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Analogue Example – With “Mutual Exclusion”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4146F-AD1E-FC77-4919-A6BBBABA2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Count to 10 aloud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Clap three times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Pick up the trident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Erase the contents of the box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Write your name in the box, </a:t>
            </a:r>
          </a:p>
          <a:p>
            <a:pPr marL="457200" lvl="1" indent="0">
              <a:buNone/>
            </a:pPr>
            <a:r>
              <a:rPr lang="en-US" dirty="0"/>
              <a:t>pausing 2 seconds between letters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Put down the trident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Wave your arms in the air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C7E461-003B-7375-D404-8ECBC044E487}"/>
              </a:ext>
            </a:extLst>
          </p:cNvPr>
          <p:cNvSpPr txBox="1"/>
          <p:nvPr/>
        </p:nvSpPr>
        <p:spPr>
          <a:xfrm>
            <a:off x="7481454" y="1690688"/>
            <a:ext cx="433185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is only one trident, so no two threads (both executing this same code) can execute lines 4 and 5 at the same time. </a:t>
            </a:r>
          </a:p>
          <a:p>
            <a:endParaRPr lang="en-US" dirty="0"/>
          </a:p>
          <a:p>
            <a:r>
              <a:rPr lang="en-US" dirty="0"/>
              <a:t>All threads after the first must wait at line 3 for the trident to become available.</a:t>
            </a:r>
          </a:p>
          <a:p>
            <a:endParaRPr lang="en-US" dirty="0"/>
          </a:p>
          <a:p>
            <a:r>
              <a:rPr lang="en-US" dirty="0"/>
              <a:t>The trident causes any one thread to “lock out” (exclude) all other threads.</a:t>
            </a:r>
          </a:p>
          <a:p>
            <a:endParaRPr lang="en-US" dirty="0"/>
          </a:p>
          <a:p>
            <a:r>
              <a:rPr lang="en-US" dirty="0"/>
              <a:t>Any thread being between lines 3 and 6 excludes all other threads, so this is called “mutual exclusion”.</a:t>
            </a:r>
          </a:p>
          <a:p>
            <a:endParaRPr lang="en-US" dirty="0"/>
          </a:p>
          <a:p>
            <a:r>
              <a:rPr lang="en-US" dirty="0"/>
              <a:t>The trident itself we call a “lock”</a:t>
            </a:r>
          </a:p>
        </p:txBody>
      </p:sp>
    </p:spTree>
    <p:extLst>
      <p:ext uri="{BB962C8B-B14F-4D97-AF65-F5344CB8AC3E}">
        <p14:creationId xmlns:p14="http://schemas.microsoft.com/office/powerpoint/2010/main" val="2820800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DB785C-A820-1E10-DAF8-AE222DA20480}"/>
              </a:ext>
            </a:extLst>
          </p:cNvPr>
          <p:cNvSpPr/>
          <p:nvPr/>
        </p:nvSpPr>
        <p:spPr>
          <a:xfrm>
            <a:off x="1087120" y="3942080"/>
            <a:ext cx="7711440" cy="19405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6A8ACE-0848-BFD0-B55C-5ADE4C4BC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Bank Account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14509-872D-1E71-1F56-099930F74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30960"/>
            <a:ext cx="11917680" cy="552703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following code implements a bank account object correctly for a synchronized situation</a:t>
            </a:r>
          </a:p>
          <a:p>
            <a:r>
              <a:rPr lang="en-US" dirty="0"/>
              <a:t>Assume the initial balance is 150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getBalance</a:t>
            </a:r>
            <a:r>
              <a:rPr lang="en-US" dirty="0"/>
              <a:t>() { return balance; 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setBalance</a:t>
            </a:r>
            <a:r>
              <a:rPr lang="en-US" dirty="0"/>
              <a:t>(int x) { balance = x; } </a:t>
            </a:r>
          </a:p>
          <a:p>
            <a:pPr marL="0" indent="0">
              <a:buNone/>
            </a:pPr>
            <a:r>
              <a:rPr lang="en-US" dirty="0"/>
              <a:t>	void withdraw(int amount) { </a:t>
            </a:r>
          </a:p>
          <a:p>
            <a:pPr marL="0" indent="0">
              <a:buNone/>
            </a:pPr>
            <a:r>
              <a:rPr lang="en-US" dirty="0"/>
              <a:t>		int b = </a:t>
            </a:r>
            <a:r>
              <a:rPr lang="en-US" dirty="0" err="1"/>
              <a:t>getBalance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if (amount &gt; b) </a:t>
            </a:r>
          </a:p>
          <a:p>
            <a:pPr marL="0" indent="0">
              <a:buNone/>
            </a:pPr>
            <a:r>
              <a:rPr lang="en-US" dirty="0"/>
              <a:t>			throw new </a:t>
            </a:r>
            <a:r>
              <a:rPr lang="en-US" dirty="0" err="1"/>
              <a:t>WithdrawTooLargeException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setBalance</a:t>
            </a:r>
            <a:r>
              <a:rPr lang="en-US" dirty="0"/>
              <a:t>(b – amount); } </a:t>
            </a:r>
          </a:p>
          <a:p>
            <a:pPr marL="0" indent="0">
              <a:buNone/>
            </a:pPr>
            <a:r>
              <a:rPr lang="en-US" dirty="0"/>
              <a:t>	// other operations like deposit, etc.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EFDB0C-B099-09B5-232E-F0FD7B01BA79}"/>
              </a:ext>
            </a:extLst>
          </p:cNvPr>
          <p:cNvSpPr/>
          <p:nvPr/>
        </p:nvSpPr>
        <p:spPr>
          <a:xfrm>
            <a:off x="9540239" y="2572861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withdraw(100);</a:t>
            </a:r>
          </a:p>
          <a:p>
            <a:r>
              <a:rPr lang="en-US" dirty="0">
                <a:solidFill>
                  <a:schemeClr val="tx1"/>
                </a:solidFill>
              </a:rPr>
              <a:t>withdraw(75)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648739-9A4E-4DE9-3C34-1F967631D892}"/>
              </a:ext>
            </a:extLst>
          </p:cNvPr>
          <p:cNvSpPr txBox="1"/>
          <p:nvPr/>
        </p:nvSpPr>
        <p:spPr>
          <a:xfrm>
            <a:off x="9540240" y="2265680"/>
            <a:ext cx="2165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Happens here?</a:t>
            </a:r>
          </a:p>
        </p:txBody>
      </p:sp>
    </p:spTree>
    <p:extLst>
      <p:ext uri="{BB962C8B-B14F-4D97-AF65-F5344CB8AC3E}">
        <p14:creationId xmlns:p14="http://schemas.microsoft.com/office/powerpoint/2010/main" val="64017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DB785C-A820-1E10-DAF8-AE222DA20480}"/>
              </a:ext>
            </a:extLst>
          </p:cNvPr>
          <p:cNvSpPr/>
          <p:nvPr/>
        </p:nvSpPr>
        <p:spPr>
          <a:xfrm>
            <a:off x="1087120" y="3677920"/>
            <a:ext cx="7711440" cy="20929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6A8ACE-0848-BFD0-B55C-5ADE4C4BC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Bank Account Example - Parallel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14509-872D-1E71-1F56-099930F74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30960"/>
            <a:ext cx="11917680" cy="552703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Assume the initial balance is 150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getBalance</a:t>
            </a:r>
            <a:r>
              <a:rPr lang="en-US" dirty="0"/>
              <a:t>() { return balance; 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setBalance</a:t>
            </a:r>
            <a:r>
              <a:rPr lang="en-US" dirty="0"/>
              <a:t>(int x) { balance = x; } </a:t>
            </a:r>
          </a:p>
          <a:p>
            <a:pPr marL="0" indent="0">
              <a:buNone/>
            </a:pPr>
            <a:r>
              <a:rPr lang="en-US" dirty="0"/>
              <a:t>	void withdraw(int amount) { </a:t>
            </a:r>
          </a:p>
          <a:p>
            <a:pPr marL="0" indent="0">
              <a:buNone/>
            </a:pPr>
            <a:r>
              <a:rPr lang="en-US" dirty="0"/>
              <a:t>		int b = </a:t>
            </a:r>
            <a:r>
              <a:rPr lang="en-US" dirty="0" err="1"/>
              <a:t>getBalance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if (amount &gt; b) </a:t>
            </a:r>
          </a:p>
          <a:p>
            <a:pPr marL="0" indent="0">
              <a:buNone/>
            </a:pPr>
            <a:r>
              <a:rPr lang="en-US" dirty="0"/>
              <a:t>			throw new </a:t>
            </a:r>
            <a:r>
              <a:rPr lang="en-US" dirty="0" err="1"/>
              <a:t>WithdrawTooLargeException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setBalance</a:t>
            </a:r>
            <a:r>
              <a:rPr lang="en-US" dirty="0"/>
              <a:t>(b – amount); } </a:t>
            </a:r>
          </a:p>
          <a:p>
            <a:pPr marL="0" indent="0">
              <a:buNone/>
            </a:pPr>
            <a:r>
              <a:rPr lang="en-US" dirty="0"/>
              <a:t>	// other operations like deposit, etc.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EFDB0C-B099-09B5-232E-F0FD7B01BA79}"/>
              </a:ext>
            </a:extLst>
          </p:cNvPr>
          <p:cNvSpPr/>
          <p:nvPr/>
        </p:nvSpPr>
        <p:spPr>
          <a:xfrm>
            <a:off x="9540239" y="2572861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withdraw(100);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648739-9A4E-4DE9-3C34-1F967631D892}"/>
              </a:ext>
            </a:extLst>
          </p:cNvPr>
          <p:cNvSpPr txBox="1"/>
          <p:nvPr/>
        </p:nvSpPr>
        <p:spPr>
          <a:xfrm>
            <a:off x="9540240" y="2265680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D40A5B-D6FE-42EA-6F2F-1386F2603716}"/>
              </a:ext>
            </a:extLst>
          </p:cNvPr>
          <p:cNvSpPr/>
          <p:nvPr/>
        </p:nvSpPr>
        <p:spPr>
          <a:xfrm>
            <a:off x="9533539" y="4133769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withdraw(75);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ADF18B-F1F4-F324-5D1C-50A2842AC38D}"/>
              </a:ext>
            </a:extLst>
          </p:cNvPr>
          <p:cNvSpPr txBox="1"/>
          <p:nvPr/>
        </p:nvSpPr>
        <p:spPr>
          <a:xfrm>
            <a:off x="9533540" y="3826588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</p:spTree>
    <p:extLst>
      <p:ext uri="{BB962C8B-B14F-4D97-AF65-F5344CB8AC3E}">
        <p14:creationId xmlns:p14="http://schemas.microsoft.com/office/powerpoint/2010/main" val="2356732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A8ACE-0848-BFD0-B55C-5ADE4C4BC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“OK” Interleaving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14509-872D-1E71-1F56-099930F74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30960"/>
            <a:ext cx="11917680" cy="5527039"/>
          </a:xfrm>
        </p:spPr>
        <p:txBody>
          <a:bodyPr>
            <a:normAutofit/>
          </a:bodyPr>
          <a:lstStyle/>
          <a:p>
            <a:r>
              <a:rPr lang="en-US" dirty="0"/>
              <a:t>Assume the initial balance is 150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EFDB0C-B099-09B5-232E-F0FD7B01BA79}"/>
              </a:ext>
            </a:extLst>
          </p:cNvPr>
          <p:cNvSpPr/>
          <p:nvPr/>
        </p:nvSpPr>
        <p:spPr>
          <a:xfrm>
            <a:off x="347817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withdraw(100);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648739-9A4E-4DE9-3C34-1F967631D892}"/>
              </a:ext>
            </a:extLst>
          </p:cNvPr>
          <p:cNvSpPr txBox="1"/>
          <p:nvPr/>
        </p:nvSpPr>
        <p:spPr>
          <a:xfrm>
            <a:off x="347818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D40A5B-D6FE-42EA-6F2F-1386F2603716}"/>
              </a:ext>
            </a:extLst>
          </p:cNvPr>
          <p:cNvSpPr/>
          <p:nvPr/>
        </p:nvSpPr>
        <p:spPr>
          <a:xfrm>
            <a:off x="687831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withdraw(75);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ADF18B-F1F4-F324-5D1C-50A2842AC38D}"/>
              </a:ext>
            </a:extLst>
          </p:cNvPr>
          <p:cNvSpPr txBox="1"/>
          <p:nvPr/>
        </p:nvSpPr>
        <p:spPr>
          <a:xfrm>
            <a:off x="687832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3111F2-E0CB-EFB9-CDFE-114A83873431}"/>
              </a:ext>
            </a:extLst>
          </p:cNvPr>
          <p:cNvSpPr/>
          <p:nvPr/>
        </p:nvSpPr>
        <p:spPr>
          <a:xfrm>
            <a:off x="2864289" y="3437615"/>
            <a:ext cx="3393439" cy="24247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int b = </a:t>
            </a:r>
            <a:r>
              <a:rPr lang="en-US" dirty="0" err="1">
                <a:solidFill>
                  <a:schemeClr val="tx1"/>
                </a:solidFill>
              </a:rPr>
              <a:t>getBalance</a:t>
            </a:r>
            <a:r>
              <a:rPr lang="en-US" dirty="0">
                <a:solidFill>
                  <a:schemeClr val="tx1"/>
                </a:solidFill>
              </a:rPr>
              <a:t>();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if (amount &gt; b)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throw new Exception(); 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setBalance</a:t>
            </a:r>
            <a:r>
              <a:rPr lang="en-US" dirty="0">
                <a:solidFill>
                  <a:schemeClr val="tx1"/>
                </a:solidFill>
              </a:rPr>
              <a:t>(b – amount);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9C9F9B-23B2-843A-E07D-0F90A5EC807E}"/>
              </a:ext>
            </a:extLst>
          </p:cNvPr>
          <p:cNvSpPr/>
          <p:nvPr/>
        </p:nvSpPr>
        <p:spPr>
          <a:xfrm>
            <a:off x="6257728" y="3437615"/>
            <a:ext cx="3393439" cy="24247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int b = </a:t>
            </a:r>
            <a:r>
              <a:rPr lang="en-US" dirty="0" err="1">
                <a:solidFill>
                  <a:schemeClr val="tx1"/>
                </a:solidFill>
              </a:rPr>
              <a:t>getBalance</a:t>
            </a:r>
            <a:r>
              <a:rPr lang="en-US" dirty="0">
                <a:solidFill>
                  <a:schemeClr val="tx1"/>
                </a:solidFill>
              </a:rPr>
              <a:t>();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if (amount &gt; b)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throw new Exception(); 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setBalance</a:t>
            </a:r>
            <a:r>
              <a:rPr lang="en-US" dirty="0">
                <a:solidFill>
                  <a:schemeClr val="tx1"/>
                </a:solidFill>
              </a:rPr>
              <a:t>(b – amount);</a:t>
            </a:r>
          </a:p>
        </p:txBody>
      </p:sp>
    </p:spTree>
    <p:extLst>
      <p:ext uri="{BB962C8B-B14F-4D97-AF65-F5344CB8AC3E}">
        <p14:creationId xmlns:p14="http://schemas.microsoft.com/office/powerpoint/2010/main" val="3764172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A8ACE-0848-BFD0-B55C-5ADE4C4BC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“Bad” Interleaving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14509-872D-1E71-1F56-099930F74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30960"/>
            <a:ext cx="11917680" cy="5527039"/>
          </a:xfrm>
        </p:spPr>
        <p:txBody>
          <a:bodyPr>
            <a:normAutofit/>
          </a:bodyPr>
          <a:lstStyle/>
          <a:p>
            <a:r>
              <a:rPr lang="en-US" dirty="0"/>
              <a:t>Assume the initial balance is 150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EFDB0C-B099-09B5-232E-F0FD7B01BA79}"/>
              </a:ext>
            </a:extLst>
          </p:cNvPr>
          <p:cNvSpPr/>
          <p:nvPr/>
        </p:nvSpPr>
        <p:spPr>
          <a:xfrm>
            <a:off x="347817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withdraw(100);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648739-9A4E-4DE9-3C34-1F967631D892}"/>
              </a:ext>
            </a:extLst>
          </p:cNvPr>
          <p:cNvSpPr txBox="1"/>
          <p:nvPr/>
        </p:nvSpPr>
        <p:spPr>
          <a:xfrm>
            <a:off x="347818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D40A5B-D6FE-42EA-6F2F-1386F2603716}"/>
              </a:ext>
            </a:extLst>
          </p:cNvPr>
          <p:cNvSpPr/>
          <p:nvPr/>
        </p:nvSpPr>
        <p:spPr>
          <a:xfrm>
            <a:off x="687831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withdraw(75);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ADF18B-F1F4-F324-5D1C-50A2842AC38D}"/>
              </a:ext>
            </a:extLst>
          </p:cNvPr>
          <p:cNvSpPr txBox="1"/>
          <p:nvPr/>
        </p:nvSpPr>
        <p:spPr>
          <a:xfrm>
            <a:off x="687832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3111F2-E0CB-EFB9-CDFE-114A83873431}"/>
              </a:ext>
            </a:extLst>
          </p:cNvPr>
          <p:cNvSpPr/>
          <p:nvPr/>
        </p:nvSpPr>
        <p:spPr>
          <a:xfrm>
            <a:off x="2864289" y="3437615"/>
            <a:ext cx="3393439" cy="24247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int b = </a:t>
            </a:r>
            <a:r>
              <a:rPr lang="en-US" dirty="0" err="1">
                <a:solidFill>
                  <a:schemeClr val="tx1"/>
                </a:solidFill>
              </a:rPr>
              <a:t>getBalance</a:t>
            </a:r>
            <a:r>
              <a:rPr lang="en-US" dirty="0">
                <a:solidFill>
                  <a:schemeClr val="tx1"/>
                </a:solidFill>
              </a:rPr>
              <a:t>(); 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if (amount &gt; b)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throw new Exception(); 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setBalance</a:t>
            </a:r>
            <a:r>
              <a:rPr lang="en-US" dirty="0">
                <a:solidFill>
                  <a:schemeClr val="tx1"/>
                </a:solidFill>
              </a:rPr>
              <a:t>(b – amount);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9C9F9B-23B2-843A-E07D-0F90A5EC807E}"/>
              </a:ext>
            </a:extLst>
          </p:cNvPr>
          <p:cNvSpPr/>
          <p:nvPr/>
        </p:nvSpPr>
        <p:spPr>
          <a:xfrm>
            <a:off x="6257728" y="3437615"/>
            <a:ext cx="3393439" cy="24247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int b = </a:t>
            </a:r>
            <a:r>
              <a:rPr lang="en-US" dirty="0" err="1">
                <a:solidFill>
                  <a:schemeClr val="tx1"/>
                </a:solidFill>
              </a:rPr>
              <a:t>getBalance</a:t>
            </a:r>
            <a:r>
              <a:rPr lang="en-US" dirty="0">
                <a:solidFill>
                  <a:schemeClr val="tx1"/>
                </a:solidFill>
              </a:rPr>
              <a:t>();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if (amount &gt; b)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throw new Exception(); 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setBalance</a:t>
            </a:r>
            <a:r>
              <a:rPr lang="en-US" dirty="0">
                <a:solidFill>
                  <a:schemeClr val="tx1"/>
                </a:solidFill>
              </a:rPr>
              <a:t>(b – amount);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BF46606-8202-0C0D-EEE9-7BA7FA4DBEFB}"/>
                  </a:ext>
                </a:extLst>
              </p14:cNvPr>
              <p14:cNvContentPartPr/>
              <p14:nvPr/>
            </p14:nvContentPartPr>
            <p14:xfrm>
              <a:off x="1118520" y="3484080"/>
              <a:ext cx="8483760" cy="2630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BF46606-8202-0C0D-EEE9-7BA7FA4DBEF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09160" y="3474720"/>
                <a:ext cx="8502480" cy="264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8490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825FF-2CDE-3F33-5B4D-F3A0869EE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Bad Fix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364B38-540B-8CEF-70F3-5E01114AC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30960"/>
            <a:ext cx="11917680" cy="552703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Assume the initial balance is 150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getBalance</a:t>
            </a:r>
            <a:r>
              <a:rPr lang="en-US" dirty="0"/>
              <a:t>() { return balance; 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setBalance</a:t>
            </a:r>
            <a:r>
              <a:rPr lang="en-US" dirty="0"/>
              <a:t>(int x) { balance = x; } </a:t>
            </a:r>
          </a:p>
          <a:p>
            <a:pPr marL="0" indent="0">
              <a:buNone/>
            </a:pPr>
            <a:r>
              <a:rPr lang="en-US" dirty="0"/>
              <a:t>	void withdraw(int amount) { </a:t>
            </a:r>
          </a:p>
          <a:p>
            <a:pPr marL="0" indent="0">
              <a:buNone/>
            </a:pPr>
            <a:r>
              <a:rPr lang="en-US" dirty="0"/>
              <a:t>		if (amount &gt; </a:t>
            </a:r>
            <a:r>
              <a:rPr lang="en-US" dirty="0" err="1">
                <a:solidFill>
                  <a:srgbClr val="FF0000"/>
                </a:solidFill>
              </a:rPr>
              <a:t>getBalance</a:t>
            </a:r>
            <a:r>
              <a:rPr lang="en-US" dirty="0">
                <a:solidFill>
                  <a:srgbClr val="FF0000"/>
                </a:solidFill>
              </a:rPr>
              <a:t>()</a:t>
            </a:r>
            <a:r>
              <a:rPr lang="en-US" dirty="0"/>
              <a:t>) </a:t>
            </a:r>
          </a:p>
          <a:p>
            <a:pPr marL="0" indent="0">
              <a:buNone/>
            </a:pPr>
            <a:r>
              <a:rPr lang="en-US" dirty="0"/>
              <a:t>			throw new </a:t>
            </a:r>
            <a:r>
              <a:rPr lang="en-US" dirty="0" err="1"/>
              <a:t>WithdrawTooLargeException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setBalance</a:t>
            </a:r>
            <a:r>
              <a:rPr lang="en-US" dirty="0"/>
              <a:t>(</a:t>
            </a:r>
            <a:r>
              <a:rPr lang="en-US" dirty="0" err="1">
                <a:solidFill>
                  <a:srgbClr val="FF0000"/>
                </a:solidFill>
              </a:rPr>
              <a:t>getBalance</a:t>
            </a:r>
            <a:r>
              <a:rPr lang="en-US" dirty="0">
                <a:solidFill>
                  <a:srgbClr val="FF0000"/>
                </a:solidFill>
              </a:rPr>
              <a:t>()</a:t>
            </a:r>
            <a:r>
              <a:rPr lang="en-US" dirty="0"/>
              <a:t> – amount); } </a:t>
            </a:r>
          </a:p>
          <a:p>
            <a:pPr marL="0" indent="0">
              <a:buNone/>
            </a:pPr>
            <a:r>
              <a:rPr lang="en-US" dirty="0"/>
              <a:t>	// other operations like deposit, etc.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1076448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A8ACE-0848-BFD0-B55C-5ADE4C4BC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still “Bad” Interleaving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14509-872D-1E71-1F56-099930F74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30960"/>
            <a:ext cx="11917680" cy="5527039"/>
          </a:xfrm>
        </p:spPr>
        <p:txBody>
          <a:bodyPr>
            <a:normAutofit/>
          </a:bodyPr>
          <a:lstStyle/>
          <a:p>
            <a:r>
              <a:rPr lang="en-US" dirty="0"/>
              <a:t>Assume the initial balance is 150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EFDB0C-B099-09B5-232E-F0FD7B01BA79}"/>
              </a:ext>
            </a:extLst>
          </p:cNvPr>
          <p:cNvSpPr/>
          <p:nvPr/>
        </p:nvSpPr>
        <p:spPr>
          <a:xfrm>
            <a:off x="347817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withdraw(100);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648739-9A4E-4DE9-3C34-1F967631D892}"/>
              </a:ext>
            </a:extLst>
          </p:cNvPr>
          <p:cNvSpPr txBox="1"/>
          <p:nvPr/>
        </p:nvSpPr>
        <p:spPr>
          <a:xfrm>
            <a:off x="347818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D40A5B-D6FE-42EA-6F2F-1386F2603716}"/>
              </a:ext>
            </a:extLst>
          </p:cNvPr>
          <p:cNvSpPr/>
          <p:nvPr/>
        </p:nvSpPr>
        <p:spPr>
          <a:xfrm>
            <a:off x="687831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withdraw(75);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ADF18B-F1F4-F324-5D1C-50A2842AC38D}"/>
              </a:ext>
            </a:extLst>
          </p:cNvPr>
          <p:cNvSpPr txBox="1"/>
          <p:nvPr/>
        </p:nvSpPr>
        <p:spPr>
          <a:xfrm>
            <a:off x="687832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3111F2-E0CB-EFB9-CDFE-114A83873431}"/>
              </a:ext>
            </a:extLst>
          </p:cNvPr>
          <p:cNvSpPr/>
          <p:nvPr/>
        </p:nvSpPr>
        <p:spPr>
          <a:xfrm>
            <a:off x="2428241" y="3437615"/>
            <a:ext cx="3829488" cy="24247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if (amount &gt; </a:t>
            </a:r>
            <a:r>
              <a:rPr lang="en-US" dirty="0" err="1">
                <a:solidFill>
                  <a:schemeClr val="tx1"/>
                </a:solidFill>
              </a:rPr>
              <a:t>getBalance</a:t>
            </a:r>
            <a:r>
              <a:rPr lang="en-US" dirty="0">
                <a:solidFill>
                  <a:schemeClr val="tx1"/>
                </a:solidFill>
              </a:rPr>
              <a:t>())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throw new Exception(); 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setBalance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getBalance</a:t>
            </a:r>
            <a:r>
              <a:rPr lang="en-US" dirty="0">
                <a:solidFill>
                  <a:schemeClr val="tx1"/>
                </a:solidFill>
              </a:rPr>
              <a:t>()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– amount);</a:t>
            </a:r>
          </a:p>
          <a:p>
            <a:pPr marL="0" indent="0">
              <a:buNone/>
            </a:pP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setBalance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getBalance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() </a:t>
            </a:r>
            <a:r>
              <a:rPr lang="en-US" dirty="0">
                <a:solidFill>
                  <a:schemeClr val="tx1"/>
                </a:solidFill>
              </a:rPr>
              <a:t>– amount);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9C9F9B-23B2-843A-E07D-0F90A5EC807E}"/>
              </a:ext>
            </a:extLst>
          </p:cNvPr>
          <p:cNvSpPr/>
          <p:nvPr/>
        </p:nvSpPr>
        <p:spPr>
          <a:xfrm>
            <a:off x="6257728" y="3437615"/>
            <a:ext cx="3829488" cy="24247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if (amount &gt; </a:t>
            </a:r>
            <a:r>
              <a:rPr lang="en-US" dirty="0" err="1">
                <a:solidFill>
                  <a:schemeClr val="tx1"/>
                </a:solidFill>
              </a:rPr>
              <a:t>getBalance</a:t>
            </a:r>
            <a:r>
              <a:rPr lang="en-US" dirty="0">
                <a:solidFill>
                  <a:schemeClr val="tx1"/>
                </a:solidFill>
              </a:rPr>
              <a:t>())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throw new Exception(); 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setBalance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getBalance</a:t>
            </a:r>
            <a:r>
              <a:rPr lang="en-US" dirty="0">
                <a:solidFill>
                  <a:schemeClr val="tx1"/>
                </a:solidFill>
              </a:rPr>
              <a:t>() – amount);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A7F1CE-8F9D-2E72-6523-8C1FAD78C3D3}"/>
                  </a:ext>
                </a:extLst>
              </p14:cNvPr>
              <p14:cNvContentPartPr/>
              <p14:nvPr/>
            </p14:nvContentPartPr>
            <p14:xfrm>
              <a:off x="2980440" y="3046320"/>
              <a:ext cx="6550920" cy="3049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A7F1CE-8F9D-2E72-6523-8C1FAD78C3D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71080" y="3036960"/>
                <a:ext cx="6569640" cy="306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1308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FCF88-C78D-8F7E-C458-5267F33A3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want – Mutual Exclusion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C05A3-0912-1FA4-743F-1EACF89C3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While one thread is withdrawing from the account, we want to exclude all other threads from also withdrawing</a:t>
            </a:r>
          </a:p>
          <a:p>
            <a:r>
              <a:rPr lang="en-US" dirty="0"/>
              <a:t>Called mutual exclusion: </a:t>
            </a:r>
          </a:p>
          <a:p>
            <a:pPr lvl="1"/>
            <a:r>
              <a:rPr lang="en-US" dirty="0"/>
              <a:t>One thread using a resource (here: a bank account) means another thread must wait </a:t>
            </a:r>
          </a:p>
          <a:p>
            <a:pPr lvl="1"/>
            <a:r>
              <a:rPr lang="en-US" dirty="0"/>
              <a:t>We call the area of code that we want to have mutual exclusion (only one thread can be there at a time) a </a:t>
            </a:r>
            <a:r>
              <a:rPr lang="en-US" b="1" dirty="0"/>
              <a:t>critical section</a:t>
            </a:r>
            <a:r>
              <a:rPr lang="en-US" dirty="0"/>
              <a:t>.</a:t>
            </a:r>
          </a:p>
          <a:p>
            <a:r>
              <a:rPr lang="en-US" dirty="0"/>
              <a:t>The programmer must implement critical sections!</a:t>
            </a:r>
          </a:p>
          <a:p>
            <a:pPr lvl="1"/>
            <a:r>
              <a:rPr lang="en-US" dirty="0"/>
              <a:t>It requires programming language primitives to do correctly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9E021A7-95F5-EA8C-553F-209917E11BD9}"/>
                  </a:ext>
                </a:extLst>
              </p14:cNvPr>
              <p14:cNvContentPartPr/>
              <p14:nvPr/>
            </p14:nvContentPartPr>
            <p14:xfrm>
              <a:off x="1155240" y="2115720"/>
              <a:ext cx="6428160" cy="2575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9E021A7-95F5-EA8C-553F-209917E11B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45880" y="2106360"/>
                <a:ext cx="6446880" cy="259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66304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471D8-BB83-76BB-E6F8-6835C329D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Bad attempt at Mutual Exclusion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20E0194-851C-428D-58B7-7789AF790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30960"/>
            <a:ext cx="11917680" cy="552703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private Boolean busy = false;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getBalance</a:t>
            </a:r>
            <a:r>
              <a:rPr lang="en-US" dirty="0"/>
              <a:t>() { return balance; 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setBalance</a:t>
            </a:r>
            <a:r>
              <a:rPr lang="en-US" dirty="0"/>
              <a:t>(int x) { balance = x; } </a:t>
            </a:r>
          </a:p>
          <a:p>
            <a:pPr marL="0" indent="0">
              <a:buNone/>
            </a:pPr>
            <a:r>
              <a:rPr lang="en-US" dirty="0"/>
              <a:t>	void withdraw(int amount) {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while (busy) { /* wait until not busy */ }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busy = true;</a:t>
            </a:r>
          </a:p>
          <a:p>
            <a:pPr marL="0" indent="0">
              <a:buNone/>
            </a:pPr>
            <a:r>
              <a:rPr lang="en-US" dirty="0"/>
              <a:t>		int b = </a:t>
            </a:r>
            <a:r>
              <a:rPr lang="en-US" dirty="0" err="1"/>
              <a:t>getBalance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	if (amount &gt; b) </a:t>
            </a:r>
          </a:p>
          <a:p>
            <a:pPr marL="0" indent="0">
              <a:buNone/>
            </a:pPr>
            <a:r>
              <a:rPr lang="en-US" dirty="0"/>
              <a:t>			throw new </a:t>
            </a:r>
            <a:r>
              <a:rPr lang="en-US" dirty="0" err="1"/>
              <a:t>WithdrawTooLargeException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setBalance</a:t>
            </a:r>
            <a:r>
              <a:rPr lang="en-US" dirty="0"/>
              <a:t>(b – amount);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busy = false;</a:t>
            </a:r>
            <a:r>
              <a:rPr lang="en-US" dirty="0"/>
              <a:t>} </a:t>
            </a:r>
          </a:p>
          <a:p>
            <a:pPr marL="0" indent="0">
              <a:buNone/>
            </a:pPr>
            <a:r>
              <a:rPr lang="en-US" dirty="0"/>
              <a:t>	// other operations like deposit, etc.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07BE8A4-E342-652A-EFB1-7BB7A04A31D5}"/>
                  </a:ext>
                </a:extLst>
              </p14:cNvPr>
              <p14:cNvContentPartPr/>
              <p14:nvPr/>
            </p14:nvContentPartPr>
            <p14:xfrm>
              <a:off x="1527120" y="3278880"/>
              <a:ext cx="1011240" cy="1803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07BE8A4-E342-652A-EFB1-7BB7A04A31D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17760" y="3269520"/>
                <a:ext cx="1029960" cy="182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91437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A8ACE-0848-BFD0-B55C-5ADE4C4BC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still “Bad” Interleaving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14509-872D-1E71-1F56-099930F74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30960"/>
            <a:ext cx="11917680" cy="5527039"/>
          </a:xfrm>
        </p:spPr>
        <p:txBody>
          <a:bodyPr>
            <a:normAutofit/>
          </a:bodyPr>
          <a:lstStyle/>
          <a:p>
            <a:r>
              <a:rPr lang="en-US" dirty="0"/>
              <a:t>Assume the initial balance is 150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EFDB0C-B099-09B5-232E-F0FD7B01BA79}"/>
              </a:ext>
            </a:extLst>
          </p:cNvPr>
          <p:cNvSpPr/>
          <p:nvPr/>
        </p:nvSpPr>
        <p:spPr>
          <a:xfrm>
            <a:off x="347817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withdraw(100);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648739-9A4E-4DE9-3C34-1F967631D892}"/>
              </a:ext>
            </a:extLst>
          </p:cNvPr>
          <p:cNvSpPr txBox="1"/>
          <p:nvPr/>
        </p:nvSpPr>
        <p:spPr>
          <a:xfrm>
            <a:off x="347818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D40A5B-D6FE-42EA-6F2F-1386F2603716}"/>
              </a:ext>
            </a:extLst>
          </p:cNvPr>
          <p:cNvSpPr/>
          <p:nvPr/>
        </p:nvSpPr>
        <p:spPr>
          <a:xfrm>
            <a:off x="687831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withdraw(75);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ADF18B-F1F4-F324-5D1C-50A2842AC38D}"/>
              </a:ext>
            </a:extLst>
          </p:cNvPr>
          <p:cNvSpPr txBox="1"/>
          <p:nvPr/>
        </p:nvSpPr>
        <p:spPr>
          <a:xfrm>
            <a:off x="687832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3111F2-E0CB-EFB9-CDFE-114A83873431}"/>
              </a:ext>
            </a:extLst>
          </p:cNvPr>
          <p:cNvSpPr/>
          <p:nvPr/>
        </p:nvSpPr>
        <p:spPr>
          <a:xfrm>
            <a:off x="2255520" y="2915920"/>
            <a:ext cx="4002209" cy="39420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while (busy) { /* wait until not busy */ }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busy = true;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int b = </a:t>
            </a:r>
            <a:r>
              <a:rPr lang="en-US" dirty="0" err="1">
                <a:solidFill>
                  <a:schemeClr val="tx1"/>
                </a:solidFill>
              </a:rPr>
              <a:t>getBalance</a:t>
            </a:r>
            <a:r>
              <a:rPr lang="en-US" dirty="0">
                <a:solidFill>
                  <a:schemeClr val="tx1"/>
                </a:solidFill>
              </a:rPr>
              <a:t>();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if (amount &gt; b)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throw new Exception(); 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setBalance</a:t>
            </a:r>
            <a:r>
              <a:rPr lang="en-US" dirty="0">
                <a:solidFill>
                  <a:schemeClr val="tx1"/>
                </a:solidFill>
              </a:rPr>
              <a:t>(b – amount);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busy = false;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9C9F9B-23B2-843A-E07D-0F90A5EC807E}"/>
              </a:ext>
            </a:extLst>
          </p:cNvPr>
          <p:cNvSpPr/>
          <p:nvPr/>
        </p:nvSpPr>
        <p:spPr>
          <a:xfrm>
            <a:off x="6257728" y="2915918"/>
            <a:ext cx="4002208" cy="39420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while (busy) { /* wait until not busy */ }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busy = true;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int b = </a:t>
            </a:r>
            <a:r>
              <a:rPr lang="en-US" dirty="0" err="1">
                <a:solidFill>
                  <a:schemeClr val="tx1"/>
                </a:solidFill>
              </a:rPr>
              <a:t>getBalance</a:t>
            </a:r>
            <a:r>
              <a:rPr lang="en-US" dirty="0">
                <a:solidFill>
                  <a:schemeClr val="tx1"/>
                </a:solidFill>
              </a:rPr>
              <a:t>();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if (amount &gt; b)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throw new Exception(); 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setBalance</a:t>
            </a:r>
            <a:r>
              <a:rPr lang="en-US" dirty="0">
                <a:solidFill>
                  <a:schemeClr val="tx1"/>
                </a:solidFill>
              </a:rPr>
              <a:t>(b – amount);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busy = false; </a:t>
            </a:r>
          </a:p>
        </p:txBody>
      </p:sp>
    </p:spTree>
    <p:extLst>
      <p:ext uri="{BB962C8B-B14F-4D97-AF65-F5344CB8AC3E}">
        <p14:creationId xmlns:p14="http://schemas.microsoft.com/office/powerpoint/2010/main" val="39192079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2AEEC-82A4-7735-C350-4DA0E1BBE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594BA-009A-BCE3-1087-2A0C36A43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US" dirty="0"/>
              <a:t>We need a construct from Java to do this</a:t>
            </a:r>
          </a:p>
          <a:p>
            <a:r>
              <a:rPr lang="en-US" dirty="0"/>
              <a:t>One Solution – A </a:t>
            </a:r>
            <a:r>
              <a:rPr lang="en-US" b="1" dirty="0"/>
              <a:t>Mutual Exclusion Lock</a:t>
            </a:r>
            <a:r>
              <a:rPr lang="en-US" dirty="0"/>
              <a:t> (called a Mutex or Lock)</a:t>
            </a:r>
          </a:p>
          <a:p>
            <a:r>
              <a:rPr lang="en-US" dirty="0"/>
              <a:t>We define a </a:t>
            </a:r>
            <a:r>
              <a:rPr lang="en-US" b="1" dirty="0"/>
              <a:t>Lock</a:t>
            </a:r>
            <a:r>
              <a:rPr lang="en-US" dirty="0"/>
              <a:t> to be an ADT with operations:</a:t>
            </a:r>
          </a:p>
          <a:p>
            <a:pPr lvl="1"/>
            <a:r>
              <a:rPr lang="en-US" dirty="0"/>
              <a:t>New: </a:t>
            </a:r>
          </a:p>
          <a:p>
            <a:pPr lvl="2"/>
            <a:r>
              <a:rPr lang="en-US" dirty="0"/>
              <a:t>make a new lock, initially “not held”</a:t>
            </a:r>
          </a:p>
          <a:p>
            <a:pPr lvl="1"/>
            <a:r>
              <a:rPr lang="en-US" dirty="0"/>
              <a:t>Acquire:</a:t>
            </a:r>
          </a:p>
          <a:p>
            <a:pPr lvl="2"/>
            <a:r>
              <a:rPr lang="en-US" dirty="0"/>
              <a:t>If lock is not held, mark it as “held”</a:t>
            </a:r>
          </a:p>
          <a:p>
            <a:pPr lvl="3"/>
            <a:r>
              <a:rPr lang="en-US" dirty="0"/>
              <a:t>These two steps always done together in a way that cannot be interrupted!</a:t>
            </a:r>
          </a:p>
          <a:p>
            <a:pPr lvl="2"/>
            <a:r>
              <a:rPr lang="en-US" dirty="0"/>
              <a:t>If lock is held, pause until it is marked as “not held”</a:t>
            </a:r>
          </a:p>
          <a:p>
            <a:pPr lvl="1"/>
            <a:r>
              <a:rPr lang="en-US" dirty="0"/>
              <a:t>Release:</a:t>
            </a:r>
          </a:p>
          <a:p>
            <a:pPr lvl="2"/>
            <a:r>
              <a:rPr lang="en-US" dirty="0"/>
              <a:t>Mark the lock as “not held”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3BB681F-ED75-03C0-20DE-F9712B30ECB6}"/>
                  </a:ext>
                </a:extLst>
              </p14:cNvPr>
              <p14:cNvContentPartPr/>
              <p14:nvPr/>
            </p14:nvContentPartPr>
            <p14:xfrm>
              <a:off x="1410480" y="2682000"/>
              <a:ext cx="7620120" cy="2180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3BB681F-ED75-03C0-20DE-F9712B30ECB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01120" y="2672640"/>
                <a:ext cx="7638840" cy="219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66549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471D8-BB83-76BB-E6F8-6835C329D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Almost Correct Bank Account Example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20E0194-851C-428D-58B7-7789AF790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30960"/>
            <a:ext cx="11917680" cy="552703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private Lock </a:t>
            </a:r>
            <a:r>
              <a:rPr lang="en-US" dirty="0" err="1">
                <a:solidFill>
                  <a:srgbClr val="FF0000"/>
                </a:solidFill>
              </a:rPr>
              <a:t>lck</a:t>
            </a:r>
            <a:r>
              <a:rPr lang="en-US" dirty="0">
                <a:solidFill>
                  <a:srgbClr val="FF0000"/>
                </a:solidFill>
              </a:rPr>
              <a:t> = new Lock();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getBalance</a:t>
            </a:r>
            <a:r>
              <a:rPr lang="en-US" dirty="0"/>
              <a:t>() { return balance; 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setBalance</a:t>
            </a:r>
            <a:r>
              <a:rPr lang="en-US" dirty="0"/>
              <a:t>(int x) { balance = x; } </a:t>
            </a:r>
          </a:p>
          <a:p>
            <a:pPr marL="0" indent="0">
              <a:buNone/>
            </a:pPr>
            <a:r>
              <a:rPr lang="en-US" dirty="0"/>
              <a:t>	void withdraw(int amount) {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>
                <a:solidFill>
                  <a:srgbClr val="FF0000"/>
                </a:solidFill>
              </a:rPr>
              <a:t>lk.acquire</a:t>
            </a:r>
            <a:r>
              <a:rPr lang="en-US" dirty="0">
                <a:solidFill>
                  <a:srgbClr val="FF0000"/>
                </a:solidFill>
              </a:rPr>
              <a:t>();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		int b = </a:t>
            </a:r>
            <a:r>
              <a:rPr lang="en-US" dirty="0" err="1"/>
              <a:t>getBalance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	if (amount &gt; b) </a:t>
            </a:r>
          </a:p>
          <a:p>
            <a:pPr marL="0" indent="0">
              <a:buNone/>
            </a:pPr>
            <a:r>
              <a:rPr lang="en-US" dirty="0"/>
              <a:t>			throw new </a:t>
            </a:r>
            <a:r>
              <a:rPr lang="en-US" dirty="0" err="1"/>
              <a:t>WithdrawTooLargeException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setBalance</a:t>
            </a:r>
            <a:r>
              <a:rPr lang="en-US" dirty="0"/>
              <a:t>(b – amount);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>
                <a:solidFill>
                  <a:srgbClr val="FF0000"/>
                </a:solidFill>
              </a:rPr>
              <a:t>lk.release</a:t>
            </a:r>
            <a:r>
              <a:rPr lang="en-US" dirty="0">
                <a:solidFill>
                  <a:srgbClr val="FF0000"/>
                </a:solidFill>
              </a:rPr>
              <a:t>();</a:t>
            </a:r>
            <a:r>
              <a:rPr lang="en-US" dirty="0"/>
              <a:t>} </a:t>
            </a:r>
          </a:p>
          <a:p>
            <a:pPr marL="0" indent="0">
              <a:buNone/>
            </a:pPr>
            <a:r>
              <a:rPr lang="en-US" dirty="0"/>
              <a:t>	// other operations like deposit, etc.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521E9D-CC7F-2013-9558-8183772814AD}"/>
              </a:ext>
            </a:extLst>
          </p:cNvPr>
          <p:cNvSpPr txBox="1"/>
          <p:nvPr/>
        </p:nvSpPr>
        <p:spPr>
          <a:xfrm>
            <a:off x="8361680" y="1733193"/>
            <a:ext cx="3115725" cy="92333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Questions: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What is the critical section?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What is the Error?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8930D39-1489-86FA-EB99-3FBA61AD567E}"/>
                  </a:ext>
                </a:extLst>
              </p14:cNvPr>
              <p14:cNvContentPartPr/>
              <p14:nvPr/>
            </p14:nvContentPartPr>
            <p14:xfrm>
              <a:off x="1895760" y="4032000"/>
              <a:ext cx="470520" cy="1488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8930D39-1489-86FA-EB99-3FBA61AD567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86400" y="4022640"/>
                <a:ext cx="489240" cy="150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73889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33AB2-3D5A-EB16-47FC-4AD3E7B76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0B8C1-27B5-CE1A-EAE5-9CAADA064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 End the Method!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E8E52FE-1490-C84A-188E-E5FE73DB2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30960"/>
            <a:ext cx="11917680" cy="552703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private Lock </a:t>
            </a:r>
            <a:r>
              <a:rPr lang="en-US" dirty="0" err="1">
                <a:solidFill>
                  <a:srgbClr val="FF0000"/>
                </a:solidFill>
              </a:rPr>
              <a:t>lck</a:t>
            </a:r>
            <a:r>
              <a:rPr lang="en-US" dirty="0">
                <a:solidFill>
                  <a:srgbClr val="FF0000"/>
                </a:solidFill>
              </a:rPr>
              <a:t> = new Lock();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getBalance</a:t>
            </a:r>
            <a:r>
              <a:rPr lang="en-US" dirty="0"/>
              <a:t>() { return balance; 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setBalance</a:t>
            </a:r>
            <a:r>
              <a:rPr lang="en-US" dirty="0"/>
              <a:t>(int x) { balance = x; } </a:t>
            </a:r>
          </a:p>
          <a:p>
            <a:pPr marL="0" indent="0">
              <a:buNone/>
            </a:pPr>
            <a:r>
              <a:rPr lang="en-US" dirty="0"/>
              <a:t>	void withdraw(int amount) {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>
                <a:solidFill>
                  <a:srgbClr val="FF0000"/>
                </a:solidFill>
              </a:rPr>
              <a:t>lk.acquire</a:t>
            </a:r>
            <a:r>
              <a:rPr lang="en-US" dirty="0">
                <a:solidFill>
                  <a:srgbClr val="FF0000"/>
                </a:solidFill>
              </a:rPr>
              <a:t>();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		int b = </a:t>
            </a:r>
            <a:r>
              <a:rPr lang="en-US" dirty="0" err="1"/>
              <a:t>getBalance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	if (amount &gt; b) </a:t>
            </a:r>
          </a:p>
          <a:p>
            <a:pPr marL="0" indent="0">
              <a:buNone/>
            </a:pPr>
            <a:r>
              <a:rPr lang="en-US" dirty="0"/>
              <a:t>			throw new </a:t>
            </a:r>
            <a:r>
              <a:rPr lang="en-US" dirty="0" err="1"/>
              <a:t>WithdrawTooLargeException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setBalance</a:t>
            </a:r>
            <a:r>
              <a:rPr lang="en-US" dirty="0"/>
              <a:t>(b – amount);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>
                <a:solidFill>
                  <a:srgbClr val="FF0000"/>
                </a:solidFill>
              </a:rPr>
              <a:t>lk.release</a:t>
            </a:r>
            <a:r>
              <a:rPr lang="en-US" dirty="0">
                <a:solidFill>
                  <a:srgbClr val="FF0000"/>
                </a:solidFill>
              </a:rPr>
              <a:t>();</a:t>
            </a:r>
            <a:r>
              <a:rPr lang="en-US" dirty="0"/>
              <a:t>} </a:t>
            </a:r>
          </a:p>
          <a:p>
            <a:pPr marL="0" indent="0">
              <a:buNone/>
            </a:pPr>
            <a:r>
              <a:rPr lang="en-US" dirty="0"/>
              <a:t>	// other operations like deposit, etc.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52A69B-ABDE-910C-4672-36C0A2175A2C}"/>
              </a:ext>
            </a:extLst>
          </p:cNvPr>
          <p:cNvSpPr txBox="1"/>
          <p:nvPr/>
        </p:nvSpPr>
        <p:spPr>
          <a:xfrm>
            <a:off x="7862917" y="1690688"/>
            <a:ext cx="3710248" cy="1200329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If we throw an exception, we never finish the method!</a:t>
            </a:r>
          </a:p>
          <a:p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The lock would never get released!</a:t>
            </a:r>
          </a:p>
        </p:txBody>
      </p:sp>
    </p:spTree>
    <p:extLst>
      <p:ext uri="{BB962C8B-B14F-4D97-AF65-F5344CB8AC3E}">
        <p14:creationId xmlns:p14="http://schemas.microsoft.com/office/powerpoint/2010/main" val="33425283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57323-349F-EF3C-515F-012FCEA68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Try…Finally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85A17-F9C0-58D0-1F19-EE96DE3C8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Try Block:</a:t>
            </a:r>
          </a:p>
          <a:p>
            <a:pPr lvl="1"/>
            <a:r>
              <a:rPr lang="en-US" dirty="0"/>
              <a:t>Body of code that will be run</a:t>
            </a:r>
          </a:p>
          <a:p>
            <a:r>
              <a:rPr lang="en-US" dirty="0"/>
              <a:t>Finally Block:</a:t>
            </a:r>
          </a:p>
          <a:p>
            <a:pPr lvl="1"/>
            <a:r>
              <a:rPr lang="en-US" dirty="0"/>
              <a:t>Always runs once the program exits try block (whether due to a return, exception, anything!)</a:t>
            </a:r>
          </a:p>
        </p:txBody>
      </p:sp>
    </p:spTree>
    <p:extLst>
      <p:ext uri="{BB962C8B-B14F-4D97-AF65-F5344CB8AC3E}">
        <p14:creationId xmlns:p14="http://schemas.microsoft.com/office/powerpoint/2010/main" val="39890482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471D8-BB83-76BB-E6F8-6835C329D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 (but not Java) Bank Account Example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20E0194-851C-428D-58B7-7789AF790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30960"/>
            <a:ext cx="11917680" cy="552703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private Lock </a:t>
            </a:r>
            <a:r>
              <a:rPr lang="en-US" dirty="0" err="1"/>
              <a:t>lck</a:t>
            </a:r>
            <a:r>
              <a:rPr lang="en-US" dirty="0"/>
              <a:t> = new Lock();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getBalance</a:t>
            </a:r>
            <a:r>
              <a:rPr lang="en-US" dirty="0"/>
              <a:t>() { return balance; 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setBalance</a:t>
            </a:r>
            <a:r>
              <a:rPr lang="en-US" dirty="0"/>
              <a:t>(int x) { balance = x; } </a:t>
            </a:r>
          </a:p>
          <a:p>
            <a:pPr marL="0" indent="0">
              <a:buNone/>
            </a:pPr>
            <a:r>
              <a:rPr lang="en-US" dirty="0"/>
              <a:t>	void withdraw(int amount) {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try{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lk.acquire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int b = </a:t>
            </a:r>
            <a:r>
              <a:rPr lang="en-US" dirty="0" err="1"/>
              <a:t>getBalance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		if (amount &gt; b) </a:t>
            </a:r>
          </a:p>
          <a:p>
            <a:pPr marL="0" indent="0">
              <a:buNone/>
            </a:pPr>
            <a:r>
              <a:rPr lang="en-US" dirty="0"/>
              <a:t>				throw new </a:t>
            </a:r>
            <a:r>
              <a:rPr lang="en-US" dirty="0" err="1"/>
              <a:t>WithdrawTooLargeException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setBalance</a:t>
            </a:r>
            <a:r>
              <a:rPr lang="en-US" dirty="0"/>
              <a:t>(b – amount); </a:t>
            </a:r>
            <a:r>
              <a:rPr lang="en-US" dirty="0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finally { </a:t>
            </a:r>
            <a:r>
              <a:rPr lang="en-US" dirty="0" err="1">
                <a:solidFill>
                  <a:srgbClr val="FF0000"/>
                </a:solidFill>
              </a:rPr>
              <a:t>lk.release</a:t>
            </a:r>
            <a:r>
              <a:rPr lang="en-US" dirty="0">
                <a:solidFill>
                  <a:srgbClr val="FF0000"/>
                </a:solidFill>
              </a:rPr>
              <a:t>(); } </a:t>
            </a:r>
            <a:r>
              <a:rPr lang="en-US" dirty="0"/>
              <a:t>} </a:t>
            </a:r>
          </a:p>
          <a:p>
            <a:pPr marL="0" indent="0">
              <a:buNone/>
            </a:pPr>
            <a:r>
              <a:rPr lang="en-US" dirty="0"/>
              <a:t>	// other operations like deposit, etc.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4441CF-8A8F-00EF-539B-A42DE40C58E9}"/>
              </a:ext>
            </a:extLst>
          </p:cNvPr>
          <p:cNvSpPr txBox="1"/>
          <p:nvPr/>
        </p:nvSpPr>
        <p:spPr>
          <a:xfrm>
            <a:off x="8585200" y="1690688"/>
            <a:ext cx="3484881" cy="1754326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Questions: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Should deposit have its own lock object?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What about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getBalance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What about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setBalance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Should they share one?</a:t>
            </a:r>
          </a:p>
        </p:txBody>
      </p:sp>
    </p:spTree>
    <p:extLst>
      <p:ext uri="{BB962C8B-B14F-4D97-AF65-F5344CB8AC3E}">
        <p14:creationId xmlns:p14="http://schemas.microsoft.com/office/powerpoint/2010/main" val="3464676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A8ACE-0848-BFD0-B55C-5ADE4C4BC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still “Bad” Interleaving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14509-872D-1E71-1F56-099930F74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30960"/>
            <a:ext cx="11917680" cy="5527039"/>
          </a:xfrm>
        </p:spPr>
        <p:txBody>
          <a:bodyPr>
            <a:normAutofit/>
          </a:bodyPr>
          <a:lstStyle/>
          <a:p>
            <a:r>
              <a:rPr lang="en-US" dirty="0"/>
              <a:t>Assume the initial balance is 150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EFDB0C-B099-09B5-232E-F0FD7B01BA79}"/>
              </a:ext>
            </a:extLst>
          </p:cNvPr>
          <p:cNvSpPr/>
          <p:nvPr/>
        </p:nvSpPr>
        <p:spPr>
          <a:xfrm>
            <a:off x="347817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withdraw(100);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648739-9A4E-4DE9-3C34-1F967631D892}"/>
              </a:ext>
            </a:extLst>
          </p:cNvPr>
          <p:cNvSpPr txBox="1"/>
          <p:nvPr/>
        </p:nvSpPr>
        <p:spPr>
          <a:xfrm>
            <a:off x="347818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D40A5B-D6FE-42EA-6F2F-1386F2603716}"/>
              </a:ext>
            </a:extLst>
          </p:cNvPr>
          <p:cNvSpPr/>
          <p:nvPr/>
        </p:nvSpPr>
        <p:spPr>
          <a:xfrm>
            <a:off x="6548167" y="2172832"/>
            <a:ext cx="3466134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if(</a:t>
            </a:r>
            <a:r>
              <a:rPr lang="en-US" dirty="0" err="1">
                <a:solidFill>
                  <a:schemeClr val="tx1"/>
                </a:solidFill>
              </a:rPr>
              <a:t>getBalance</a:t>
            </a:r>
            <a:r>
              <a:rPr lang="en-US" dirty="0">
                <a:solidFill>
                  <a:schemeClr val="tx1"/>
                </a:solidFill>
              </a:rPr>
              <a:t>() &gt; 150)</a:t>
            </a:r>
          </a:p>
          <a:p>
            <a:r>
              <a:rPr lang="en-US" dirty="0">
                <a:solidFill>
                  <a:schemeClr val="tx1"/>
                </a:solidFill>
              </a:rPr>
              <a:t>	withdraw(75);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ADF18B-F1F4-F324-5D1C-50A2842AC38D}"/>
              </a:ext>
            </a:extLst>
          </p:cNvPr>
          <p:cNvSpPr txBox="1"/>
          <p:nvPr/>
        </p:nvSpPr>
        <p:spPr>
          <a:xfrm>
            <a:off x="674624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3111F2-E0CB-EFB9-CDFE-114A83873431}"/>
              </a:ext>
            </a:extLst>
          </p:cNvPr>
          <p:cNvSpPr/>
          <p:nvPr/>
        </p:nvSpPr>
        <p:spPr>
          <a:xfrm>
            <a:off x="1932064" y="2926080"/>
            <a:ext cx="4325665" cy="39420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try{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tx1"/>
                </a:solidFill>
              </a:rPr>
              <a:t>lk.acquire</a:t>
            </a:r>
            <a:r>
              <a:rPr lang="en-US" dirty="0">
                <a:solidFill>
                  <a:schemeClr val="tx1"/>
                </a:solidFill>
              </a:rPr>
              <a:t>();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int b = </a:t>
            </a:r>
            <a:r>
              <a:rPr lang="en-US" dirty="0" err="1">
                <a:solidFill>
                  <a:schemeClr val="tx1"/>
                </a:solidFill>
              </a:rPr>
              <a:t>getBalance</a:t>
            </a:r>
            <a:r>
              <a:rPr lang="en-US" dirty="0">
                <a:solidFill>
                  <a:schemeClr val="tx1"/>
                </a:solidFill>
              </a:rPr>
              <a:t>();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if (amount &gt; b)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	throw new Exception();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tx1"/>
                </a:solidFill>
              </a:rPr>
              <a:t>setBalance</a:t>
            </a:r>
            <a:r>
              <a:rPr lang="en-US" dirty="0">
                <a:solidFill>
                  <a:schemeClr val="tx1"/>
                </a:solidFill>
              </a:rPr>
              <a:t>(b – amount); }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finally { </a:t>
            </a:r>
            <a:r>
              <a:rPr lang="en-US" dirty="0" err="1">
                <a:solidFill>
                  <a:schemeClr val="tx1"/>
                </a:solidFill>
              </a:rPr>
              <a:t>lk.release</a:t>
            </a:r>
            <a:r>
              <a:rPr lang="en-US" dirty="0">
                <a:solidFill>
                  <a:schemeClr val="tx1"/>
                </a:solidFill>
              </a:rPr>
              <a:t>(); 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9C9F9B-23B2-843A-E07D-0F90A5EC807E}"/>
              </a:ext>
            </a:extLst>
          </p:cNvPr>
          <p:cNvSpPr/>
          <p:nvPr/>
        </p:nvSpPr>
        <p:spPr>
          <a:xfrm>
            <a:off x="6257728" y="2915918"/>
            <a:ext cx="4002208" cy="39420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if(</a:t>
            </a:r>
            <a:r>
              <a:rPr lang="en-US" dirty="0" err="1">
                <a:solidFill>
                  <a:schemeClr val="tx1"/>
                </a:solidFill>
              </a:rPr>
              <a:t>getBalance</a:t>
            </a:r>
            <a:r>
              <a:rPr lang="en-US" dirty="0">
                <a:solidFill>
                  <a:schemeClr val="tx1"/>
                </a:solidFill>
              </a:rPr>
              <a:t>() &gt;= 150)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	 withdraw(75);</a:t>
            </a:r>
          </a:p>
        </p:txBody>
      </p:sp>
    </p:spTree>
    <p:extLst>
      <p:ext uri="{BB962C8B-B14F-4D97-AF65-F5344CB8AC3E}">
        <p14:creationId xmlns:p14="http://schemas.microsoft.com/office/powerpoint/2010/main" val="21932914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471D8-BB83-76BB-E6F8-6835C329D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</a:t>
            </a:r>
            <a:r>
              <a:rPr lang="en-US" dirty="0" err="1"/>
              <a:t>getBalance</a:t>
            </a:r>
            <a:r>
              <a:rPr lang="en-US" dirty="0"/>
              <a:t> needs the lock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20E0194-851C-428D-58B7-7789AF790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30960"/>
            <a:ext cx="11917680" cy="552703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private Lock </a:t>
            </a:r>
            <a:r>
              <a:rPr lang="en-US" dirty="0" err="1"/>
              <a:t>lck</a:t>
            </a:r>
            <a:r>
              <a:rPr lang="en-US" dirty="0"/>
              <a:t> = new Lock();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int </a:t>
            </a:r>
            <a:r>
              <a:rPr lang="en-US" dirty="0" err="1">
                <a:solidFill>
                  <a:srgbClr val="FF0000"/>
                </a:solidFill>
              </a:rPr>
              <a:t>getBalance</a:t>
            </a:r>
            <a:r>
              <a:rPr lang="en-US" dirty="0">
                <a:solidFill>
                  <a:srgbClr val="FF0000"/>
                </a:solidFill>
              </a:rPr>
              <a:t>(int x) {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try{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	</a:t>
            </a:r>
            <a:r>
              <a:rPr lang="en-US" dirty="0" err="1">
                <a:solidFill>
                  <a:srgbClr val="FF0000"/>
                </a:solidFill>
              </a:rPr>
              <a:t>lk.acquire</a:t>
            </a:r>
            <a:r>
              <a:rPr lang="en-US" dirty="0">
                <a:solidFill>
                  <a:srgbClr val="FF0000"/>
                </a:solidFill>
              </a:rPr>
              <a:t>();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	return balance; }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finally{ </a:t>
            </a:r>
            <a:r>
              <a:rPr lang="en-US" dirty="0" err="1">
                <a:solidFill>
                  <a:srgbClr val="FF0000"/>
                </a:solidFill>
              </a:rPr>
              <a:t>lk.release</a:t>
            </a:r>
            <a:r>
              <a:rPr lang="en-US" dirty="0">
                <a:solidFill>
                  <a:srgbClr val="FF0000"/>
                </a:solidFill>
              </a:rPr>
              <a:t>(); } }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	void withdraw(int amount) { </a:t>
            </a:r>
          </a:p>
          <a:p>
            <a:pPr marL="0" indent="0">
              <a:buNone/>
            </a:pPr>
            <a:r>
              <a:rPr lang="en-US" dirty="0"/>
              <a:t>		try{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lk.acquire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int b = </a:t>
            </a:r>
            <a:r>
              <a:rPr lang="en-US" dirty="0" err="1"/>
              <a:t>getBalance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		if (amount &gt; b) </a:t>
            </a:r>
          </a:p>
          <a:p>
            <a:pPr marL="0" indent="0">
              <a:buNone/>
            </a:pPr>
            <a:r>
              <a:rPr lang="en-US" dirty="0"/>
              <a:t>				throw new </a:t>
            </a:r>
            <a:r>
              <a:rPr lang="en-US" dirty="0" err="1"/>
              <a:t>WithdrawTooLargeException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setBalance</a:t>
            </a:r>
            <a:r>
              <a:rPr lang="en-US" dirty="0"/>
              <a:t>(b – amount); }</a:t>
            </a:r>
          </a:p>
          <a:p>
            <a:pPr marL="0" indent="0">
              <a:buNone/>
            </a:pPr>
            <a:r>
              <a:rPr lang="en-US" dirty="0"/>
              <a:t>		finally { </a:t>
            </a:r>
            <a:r>
              <a:rPr lang="en-US" dirty="0" err="1"/>
              <a:t>lk.release</a:t>
            </a:r>
            <a:r>
              <a:rPr lang="en-US" dirty="0"/>
              <a:t>(); }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}}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2A89A4-2E43-E9E9-22B3-678B76A05715}"/>
              </a:ext>
            </a:extLst>
          </p:cNvPr>
          <p:cNvSpPr txBox="1"/>
          <p:nvPr/>
        </p:nvSpPr>
        <p:spPr>
          <a:xfrm>
            <a:off x="7416800" y="1690688"/>
            <a:ext cx="4500880" cy="1754326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One more issue!</a:t>
            </a:r>
          </a:p>
          <a:p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Withdraw calls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getBalance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!</a:t>
            </a:r>
          </a:p>
          <a:p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Withdraw can never finish because in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getBalance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 the lock will always be held! </a:t>
            </a:r>
          </a:p>
        </p:txBody>
      </p:sp>
    </p:spTree>
    <p:extLst>
      <p:ext uri="{BB962C8B-B14F-4D97-AF65-F5344CB8AC3E}">
        <p14:creationId xmlns:p14="http://schemas.microsoft.com/office/powerpoint/2010/main" val="3567581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AF5F7-665A-9FC5-2A1E-EF711A9C3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Re-entrant Lock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A8F06-605F-B023-345D-50BEED1A0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re-entrant lock (a.k.a. recursive lock)</a:t>
            </a:r>
          </a:p>
          <a:p>
            <a:r>
              <a:rPr lang="en-US" dirty="0"/>
              <a:t>“Remembers” </a:t>
            </a:r>
          </a:p>
          <a:p>
            <a:pPr lvl="1"/>
            <a:r>
              <a:rPr lang="en-US" dirty="0"/>
              <a:t>the thread (if any) that currently holds it </a:t>
            </a:r>
          </a:p>
          <a:p>
            <a:pPr lvl="1"/>
            <a:r>
              <a:rPr lang="en-US" dirty="0"/>
              <a:t>a count of “layers” that the thread holds it</a:t>
            </a:r>
          </a:p>
          <a:p>
            <a:r>
              <a:rPr lang="en-US" dirty="0"/>
              <a:t>When the lock goes from not-held to held, the count is set to 0 </a:t>
            </a:r>
          </a:p>
          <a:p>
            <a:r>
              <a:rPr lang="en-US" dirty="0"/>
              <a:t>If (code running in) the current holder calls acquire: </a:t>
            </a:r>
          </a:p>
          <a:p>
            <a:pPr lvl="1"/>
            <a:r>
              <a:rPr lang="en-US" dirty="0"/>
              <a:t>it does not block </a:t>
            </a:r>
          </a:p>
          <a:p>
            <a:pPr lvl="1"/>
            <a:r>
              <a:rPr lang="en-US" dirty="0"/>
              <a:t>it increments the count </a:t>
            </a:r>
          </a:p>
          <a:p>
            <a:r>
              <a:rPr lang="en-US" dirty="0"/>
              <a:t>On release: </a:t>
            </a:r>
          </a:p>
          <a:p>
            <a:pPr lvl="1"/>
            <a:r>
              <a:rPr lang="en-US" dirty="0"/>
              <a:t>if the count is &gt; 0, the count is decremented </a:t>
            </a:r>
          </a:p>
          <a:p>
            <a:pPr lvl="1"/>
            <a:r>
              <a:rPr lang="en-US" dirty="0"/>
              <a:t>if the count is 0, the lock becomes not-held</a:t>
            </a:r>
          </a:p>
        </p:txBody>
      </p:sp>
    </p:spTree>
    <p:extLst>
      <p:ext uri="{BB962C8B-B14F-4D97-AF65-F5344CB8AC3E}">
        <p14:creationId xmlns:p14="http://schemas.microsoft.com/office/powerpoint/2010/main" val="33311084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0C8CE-76D5-72C9-751C-2441A085E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Java’s Re-entrant Lock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21571-7770-8F19-F192-B62EF32D6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java.util.concurrent.locks.ReentrantLock</a:t>
            </a:r>
            <a:r>
              <a:rPr lang="en-US" dirty="0"/>
              <a:t> </a:t>
            </a:r>
          </a:p>
          <a:p>
            <a:r>
              <a:rPr lang="en-US" dirty="0"/>
              <a:t>Has methods lock() and unlock() </a:t>
            </a:r>
          </a:p>
          <a:p>
            <a:r>
              <a:rPr lang="en-US" dirty="0"/>
              <a:t>Important to guarantee that lock is always released!!! </a:t>
            </a:r>
          </a:p>
          <a:p>
            <a:r>
              <a:rPr lang="en-US" dirty="0"/>
              <a:t>Recommend something like this: </a:t>
            </a:r>
          </a:p>
          <a:p>
            <a:pPr marL="457200" lvl="1" indent="0">
              <a:buNone/>
            </a:pPr>
            <a:r>
              <a:rPr lang="en-US" dirty="0" err="1"/>
              <a:t>myLock.lock</a:t>
            </a:r>
            <a:r>
              <a:rPr lang="en-US" dirty="0"/>
              <a:t>(); </a:t>
            </a:r>
          </a:p>
          <a:p>
            <a:pPr marL="457200" lvl="1" indent="0">
              <a:buNone/>
            </a:pPr>
            <a:r>
              <a:rPr lang="en-US" dirty="0"/>
              <a:t>try { // method body }</a:t>
            </a:r>
          </a:p>
          <a:p>
            <a:pPr marL="457200" lvl="1" indent="0">
              <a:buNone/>
            </a:pPr>
            <a:r>
              <a:rPr lang="en-US" dirty="0"/>
              <a:t>finally { </a:t>
            </a:r>
            <a:r>
              <a:rPr lang="en-US" dirty="0" err="1"/>
              <a:t>myLock.unlock</a:t>
            </a:r>
            <a:r>
              <a:rPr lang="en-US" dirty="0"/>
              <a:t>(); } </a:t>
            </a:r>
          </a:p>
        </p:txBody>
      </p:sp>
    </p:spTree>
    <p:extLst>
      <p:ext uri="{BB962C8B-B14F-4D97-AF65-F5344CB8AC3E}">
        <p14:creationId xmlns:p14="http://schemas.microsoft.com/office/powerpoint/2010/main" val="30311012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471D8-BB83-76BB-E6F8-6835C329D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this looks in Java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20E0194-851C-428D-58B7-7789AF790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30960"/>
            <a:ext cx="11917680" cy="552703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java.util.concurrent.locks.ReentrantLock</a:t>
            </a:r>
            <a:r>
              <a:rPr lang="en-US" dirty="0">
                <a:solidFill>
                  <a:srgbClr val="FF0000"/>
                </a:solidFill>
              </a:rPr>
              <a:t>; 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private </a:t>
            </a:r>
            <a:r>
              <a:rPr lang="en-US" dirty="0" err="1">
                <a:solidFill>
                  <a:srgbClr val="FF0000"/>
                </a:solidFill>
              </a:rPr>
              <a:t>ReentrantLock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lck</a:t>
            </a:r>
            <a:r>
              <a:rPr lang="en-US" dirty="0">
                <a:solidFill>
                  <a:srgbClr val="FF0000"/>
                </a:solidFill>
              </a:rPr>
              <a:t> = new </a:t>
            </a:r>
            <a:r>
              <a:rPr lang="en-US" dirty="0" err="1">
                <a:solidFill>
                  <a:srgbClr val="FF0000"/>
                </a:solidFill>
              </a:rPr>
              <a:t>ReentrantLock</a:t>
            </a:r>
            <a:r>
              <a:rPr lang="en-US" dirty="0">
                <a:solidFill>
                  <a:srgbClr val="FF0000"/>
                </a:solidFill>
              </a:rPr>
              <a:t>();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setBalance</a:t>
            </a:r>
            <a:r>
              <a:rPr lang="en-US" dirty="0"/>
              <a:t>(int x) { </a:t>
            </a:r>
          </a:p>
          <a:p>
            <a:pPr marL="0" indent="0">
              <a:buNone/>
            </a:pPr>
            <a:r>
              <a:rPr lang="en-US" dirty="0"/>
              <a:t>		try{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>
                <a:solidFill>
                  <a:srgbClr val="FF0000"/>
                </a:solidFill>
              </a:rPr>
              <a:t>lk.lock</a:t>
            </a:r>
            <a:r>
              <a:rPr lang="en-US" dirty="0">
                <a:solidFill>
                  <a:srgbClr val="FF0000"/>
                </a:solidFill>
              </a:rPr>
              <a:t>();</a:t>
            </a:r>
          </a:p>
          <a:p>
            <a:pPr marL="0" indent="0">
              <a:buNone/>
            </a:pPr>
            <a:r>
              <a:rPr lang="en-US" dirty="0"/>
              <a:t>			balance = x; }</a:t>
            </a:r>
          </a:p>
          <a:p>
            <a:pPr marL="0" indent="0">
              <a:buNone/>
            </a:pPr>
            <a:r>
              <a:rPr lang="en-US" dirty="0"/>
              <a:t>		finally{ </a:t>
            </a:r>
            <a:r>
              <a:rPr lang="en-US" dirty="0" err="1">
                <a:solidFill>
                  <a:srgbClr val="FF0000"/>
                </a:solidFill>
              </a:rPr>
              <a:t>lk.unlock</a:t>
            </a:r>
            <a:r>
              <a:rPr lang="en-US" dirty="0">
                <a:solidFill>
                  <a:srgbClr val="FF0000"/>
                </a:solidFill>
              </a:rPr>
              <a:t>(); </a:t>
            </a:r>
            <a:r>
              <a:rPr lang="en-US" dirty="0"/>
              <a:t>} } </a:t>
            </a:r>
          </a:p>
          <a:p>
            <a:pPr marL="0" indent="0">
              <a:buNone/>
            </a:pPr>
            <a:r>
              <a:rPr lang="en-US" dirty="0"/>
              <a:t>	void withdraw(int amount) { </a:t>
            </a:r>
          </a:p>
          <a:p>
            <a:pPr marL="0" indent="0">
              <a:buNone/>
            </a:pPr>
            <a:r>
              <a:rPr lang="en-US" dirty="0"/>
              <a:t>		try{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>
                <a:solidFill>
                  <a:srgbClr val="FF0000"/>
                </a:solidFill>
              </a:rPr>
              <a:t>lk.lock</a:t>
            </a:r>
            <a:r>
              <a:rPr lang="en-US" dirty="0">
                <a:solidFill>
                  <a:srgbClr val="FF0000"/>
                </a:solidFill>
              </a:rPr>
              <a:t>(); </a:t>
            </a:r>
          </a:p>
          <a:p>
            <a:pPr marL="0" indent="0">
              <a:buNone/>
            </a:pPr>
            <a:r>
              <a:rPr lang="en-US" dirty="0"/>
              <a:t>			int b = </a:t>
            </a:r>
            <a:r>
              <a:rPr lang="en-US" dirty="0" err="1"/>
              <a:t>getBalance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		if (amount &gt; b) </a:t>
            </a:r>
          </a:p>
          <a:p>
            <a:pPr marL="0" indent="0">
              <a:buNone/>
            </a:pPr>
            <a:r>
              <a:rPr lang="en-US" dirty="0"/>
              <a:t>				throw new </a:t>
            </a:r>
            <a:r>
              <a:rPr lang="en-US" dirty="0" err="1"/>
              <a:t>WithdrawTooLargeException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setBalance</a:t>
            </a:r>
            <a:r>
              <a:rPr lang="en-US" dirty="0"/>
              <a:t>(b – amount); }</a:t>
            </a:r>
          </a:p>
          <a:p>
            <a:pPr marL="0" indent="0">
              <a:buNone/>
            </a:pPr>
            <a:r>
              <a:rPr lang="en-US" dirty="0"/>
              <a:t>		finally {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lk.unlock</a:t>
            </a:r>
            <a:r>
              <a:rPr lang="en-US" dirty="0">
                <a:solidFill>
                  <a:srgbClr val="FF0000"/>
                </a:solidFill>
              </a:rPr>
              <a:t>(); </a:t>
            </a:r>
            <a:r>
              <a:rPr lang="en-US" dirty="0"/>
              <a:t>}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}} </a:t>
            </a:r>
          </a:p>
        </p:txBody>
      </p:sp>
    </p:spTree>
    <p:extLst>
      <p:ext uri="{BB962C8B-B14F-4D97-AF65-F5344CB8AC3E}">
        <p14:creationId xmlns:p14="http://schemas.microsoft.com/office/powerpoint/2010/main" val="20583399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26545-F6D7-FF86-2C4F-2973D3D6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Synchronized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77616-0B51-EF39-FDB9-C13F0827A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Syntactic sugar for re-entrant locks</a:t>
            </a:r>
          </a:p>
          <a:p>
            <a:r>
              <a:rPr lang="en-US" dirty="0"/>
              <a:t>You can use the synchronized statement as an alternative to declaring a </a:t>
            </a:r>
            <a:r>
              <a:rPr lang="en-US" dirty="0" err="1"/>
              <a:t>ReentrantLock</a:t>
            </a:r>
            <a:endParaRPr lang="en-US" dirty="0"/>
          </a:p>
          <a:p>
            <a:r>
              <a:rPr lang="en-US" dirty="0"/>
              <a:t>Syntax:</a:t>
            </a:r>
          </a:p>
          <a:p>
            <a:r>
              <a:rPr lang="en-US" dirty="0"/>
              <a:t>Any Object can serve as a “lock”</a:t>
            </a:r>
          </a:p>
          <a:p>
            <a:pPr lvl="1"/>
            <a:r>
              <a:rPr lang="en-US" dirty="0"/>
              <a:t>Primitive types (e.g. int) cannot serve as a lock</a:t>
            </a:r>
          </a:p>
          <a:p>
            <a:r>
              <a:rPr lang="en-US" dirty="0"/>
              <a:t>Acquires a lock and blocks if necessary</a:t>
            </a:r>
          </a:p>
          <a:p>
            <a:pPr lvl="1"/>
            <a:r>
              <a:rPr lang="en-US" dirty="0"/>
              <a:t>Once you get past the “{“, you have the lock</a:t>
            </a:r>
          </a:p>
          <a:p>
            <a:r>
              <a:rPr lang="en-US" dirty="0"/>
              <a:t>Released the lock when you pass “}”</a:t>
            </a:r>
          </a:p>
          <a:p>
            <a:pPr lvl="1"/>
            <a:r>
              <a:rPr lang="en-US" dirty="0"/>
              <a:t>Even in the cases of returning, exceptions, anything!</a:t>
            </a:r>
          </a:p>
          <a:p>
            <a:pPr lvl="1"/>
            <a:r>
              <a:rPr lang="en-US" dirty="0"/>
              <a:t>Impossible to forget to release the lock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5D1961-CD41-26DA-F57A-3D4184303799}"/>
              </a:ext>
            </a:extLst>
          </p:cNvPr>
          <p:cNvSpPr txBox="1"/>
          <p:nvPr/>
        </p:nvSpPr>
        <p:spPr>
          <a:xfrm>
            <a:off x="2296160" y="3012440"/>
            <a:ext cx="630589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synchronized( /* expression returning an Object */ ) {statements}</a:t>
            </a:r>
          </a:p>
        </p:txBody>
      </p:sp>
    </p:spTree>
    <p:extLst>
      <p:ext uri="{BB962C8B-B14F-4D97-AF65-F5344CB8AC3E}">
        <p14:creationId xmlns:p14="http://schemas.microsoft.com/office/powerpoint/2010/main" val="37450496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37D58-1DA9-784D-0759-EB28C46B7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Account Using Synchronize (version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121EE-3382-3078-E980-D1DD61192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9680"/>
            <a:ext cx="10515600" cy="55372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private Object </a:t>
            </a:r>
            <a:r>
              <a:rPr lang="en-US" dirty="0" err="1">
                <a:solidFill>
                  <a:srgbClr val="FF0000"/>
                </a:solidFill>
              </a:rPr>
              <a:t>lk</a:t>
            </a:r>
            <a:r>
              <a:rPr lang="en-US" dirty="0">
                <a:solidFill>
                  <a:srgbClr val="FF0000"/>
                </a:solidFill>
              </a:rPr>
              <a:t> = new Object(); 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getBalance</a:t>
            </a:r>
            <a:r>
              <a:rPr lang="en-US" dirty="0"/>
              <a:t>() {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synchronized (</a:t>
            </a:r>
            <a:r>
              <a:rPr lang="en-US" dirty="0" err="1">
                <a:solidFill>
                  <a:srgbClr val="FF0000"/>
                </a:solidFill>
              </a:rPr>
              <a:t>lk</a:t>
            </a:r>
            <a:r>
              <a:rPr lang="en-US" dirty="0">
                <a:solidFill>
                  <a:srgbClr val="FF0000"/>
                </a:solidFill>
              </a:rPr>
              <a:t>) { return balance; }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setBalance</a:t>
            </a:r>
            <a:r>
              <a:rPr lang="en-US" dirty="0"/>
              <a:t>(int x) {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synchronized (</a:t>
            </a:r>
            <a:r>
              <a:rPr lang="en-US" dirty="0" err="1">
                <a:solidFill>
                  <a:srgbClr val="FF0000"/>
                </a:solidFill>
              </a:rPr>
              <a:t>lk</a:t>
            </a:r>
            <a:r>
              <a:rPr lang="en-US" dirty="0">
                <a:solidFill>
                  <a:srgbClr val="FF0000"/>
                </a:solidFill>
              </a:rPr>
              <a:t>) { balance = x; }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	void withdraw(int amount) {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synchronized (</a:t>
            </a:r>
            <a:r>
              <a:rPr lang="en-US" dirty="0" err="1">
                <a:solidFill>
                  <a:srgbClr val="FF0000"/>
                </a:solidFill>
              </a:rPr>
              <a:t>lk</a:t>
            </a:r>
            <a:r>
              <a:rPr lang="en-US" dirty="0">
                <a:solidFill>
                  <a:srgbClr val="FF0000"/>
                </a:solidFill>
              </a:rPr>
              <a:t>) { </a:t>
            </a:r>
          </a:p>
          <a:p>
            <a:pPr marL="0" indent="0">
              <a:buNone/>
            </a:pPr>
            <a:r>
              <a:rPr lang="en-US" dirty="0"/>
              <a:t>			int b = </a:t>
            </a:r>
            <a:r>
              <a:rPr lang="en-US" dirty="0" err="1"/>
              <a:t>getBalance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if (amount &gt; b) </a:t>
            </a:r>
          </a:p>
          <a:p>
            <a:pPr marL="0" indent="0">
              <a:buNone/>
            </a:pPr>
            <a:r>
              <a:rPr lang="en-US" dirty="0"/>
              <a:t>				throw new Exception();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setBalance</a:t>
            </a:r>
            <a:r>
              <a:rPr lang="en-US" dirty="0"/>
              <a:t>(b – amount); }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479239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37D58-1DA9-784D-0759-EB28C46B7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Account Using Synchronize (version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121EE-3382-3078-E980-D1DD61192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9680"/>
            <a:ext cx="10515600" cy="55372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getBalance</a:t>
            </a:r>
            <a:r>
              <a:rPr lang="en-US" dirty="0"/>
              <a:t>() { </a:t>
            </a:r>
          </a:p>
          <a:p>
            <a:pPr marL="0" indent="0">
              <a:buNone/>
            </a:pPr>
            <a:r>
              <a:rPr lang="en-US" dirty="0"/>
              <a:t>		synchronized (</a:t>
            </a:r>
            <a:r>
              <a:rPr lang="en-US" dirty="0">
                <a:solidFill>
                  <a:srgbClr val="FF0000"/>
                </a:solidFill>
              </a:rPr>
              <a:t>this</a:t>
            </a:r>
            <a:r>
              <a:rPr lang="en-US" dirty="0"/>
              <a:t>) { return balance; }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setBalance</a:t>
            </a:r>
            <a:r>
              <a:rPr lang="en-US" dirty="0"/>
              <a:t>(int x) { </a:t>
            </a:r>
          </a:p>
          <a:p>
            <a:pPr marL="0" indent="0">
              <a:buNone/>
            </a:pPr>
            <a:r>
              <a:rPr lang="en-US" dirty="0"/>
              <a:t>		synchronized (</a:t>
            </a:r>
            <a:r>
              <a:rPr lang="en-US" dirty="0">
                <a:solidFill>
                  <a:srgbClr val="FF0000"/>
                </a:solidFill>
              </a:rPr>
              <a:t>this</a:t>
            </a:r>
            <a:r>
              <a:rPr lang="en-US" dirty="0"/>
              <a:t>) { balance = x; }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	void withdraw(int amount) { </a:t>
            </a:r>
          </a:p>
          <a:p>
            <a:pPr marL="0" indent="0">
              <a:buNone/>
            </a:pPr>
            <a:r>
              <a:rPr lang="en-US" dirty="0"/>
              <a:t>		synchronized (</a:t>
            </a:r>
            <a:r>
              <a:rPr lang="en-US" dirty="0">
                <a:solidFill>
                  <a:srgbClr val="FF0000"/>
                </a:solidFill>
              </a:rPr>
              <a:t>this</a:t>
            </a:r>
            <a:r>
              <a:rPr lang="en-US" dirty="0"/>
              <a:t>) { </a:t>
            </a:r>
          </a:p>
          <a:p>
            <a:pPr marL="0" indent="0">
              <a:buNone/>
            </a:pPr>
            <a:r>
              <a:rPr lang="en-US" dirty="0"/>
              <a:t>			int b = </a:t>
            </a:r>
            <a:r>
              <a:rPr lang="en-US" dirty="0" err="1"/>
              <a:t>getBalance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	if (amount &gt; b) </a:t>
            </a:r>
          </a:p>
          <a:p>
            <a:pPr marL="0" indent="0">
              <a:buNone/>
            </a:pPr>
            <a:r>
              <a:rPr lang="en-US" dirty="0"/>
              <a:t>				throw new Exception();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setBalance</a:t>
            </a:r>
            <a:r>
              <a:rPr lang="en-US" dirty="0"/>
              <a:t>(b – amount); } } // deposit would also use synchronized(</a:t>
            </a:r>
            <a:r>
              <a:rPr lang="en-US" dirty="0" err="1"/>
              <a:t>lk</a:t>
            </a:r>
            <a:r>
              <a:rPr lang="en-US" dirty="0"/>
              <a:t>)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1EFB39-E530-049D-8D9C-B920D9F62D15}"/>
              </a:ext>
            </a:extLst>
          </p:cNvPr>
          <p:cNvSpPr txBox="1"/>
          <p:nvPr/>
        </p:nvSpPr>
        <p:spPr>
          <a:xfrm>
            <a:off x="7416800" y="1690688"/>
            <a:ext cx="4500880" cy="92333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Since we have one lock per account regardless of operation, it’s more intuitive to use the account object itself as the lock!</a:t>
            </a:r>
          </a:p>
        </p:txBody>
      </p:sp>
    </p:spTree>
    <p:extLst>
      <p:ext uri="{BB962C8B-B14F-4D97-AF65-F5344CB8AC3E}">
        <p14:creationId xmlns:p14="http://schemas.microsoft.com/office/powerpoint/2010/main" val="2784805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C4A2-54C4-FDD2-E365-2A9EFFFF7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Syntactic Sugar!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63A75-790A-FBFC-D455-485A246C2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the object itself as a lock is common enough that Java has convenient syntax for that as well!</a:t>
            </a:r>
          </a:p>
          <a:p>
            <a:r>
              <a:rPr lang="en-US" dirty="0"/>
              <a:t>Declaring a method as “</a:t>
            </a:r>
            <a:r>
              <a:rPr lang="en-US" b="1" dirty="0"/>
              <a:t>synchronized</a:t>
            </a:r>
            <a:r>
              <a:rPr lang="en-US" dirty="0"/>
              <a:t>” puts its body into a synchronized block with “this” as the lock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9438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37D58-1DA9-784D-0759-EB28C46B7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Account Using Synchronize (Final)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121EE-3382-3078-E980-D1DD61192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9680"/>
            <a:ext cx="10515600" cy="55372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private int balance = 0;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synchronized</a:t>
            </a:r>
            <a:r>
              <a:rPr lang="en-US" dirty="0"/>
              <a:t> int </a:t>
            </a:r>
            <a:r>
              <a:rPr lang="en-US" dirty="0" err="1"/>
              <a:t>getBalance</a:t>
            </a:r>
            <a:r>
              <a:rPr lang="en-US" dirty="0"/>
              <a:t>() { return balance; }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synchronized </a:t>
            </a:r>
            <a:r>
              <a:rPr lang="en-US" dirty="0"/>
              <a:t>void </a:t>
            </a:r>
            <a:r>
              <a:rPr lang="en-US" dirty="0" err="1"/>
              <a:t>setBalance</a:t>
            </a:r>
            <a:r>
              <a:rPr lang="en-US" dirty="0"/>
              <a:t>(int x) { balance = x; }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synchronized </a:t>
            </a:r>
            <a:r>
              <a:rPr lang="en-US" dirty="0"/>
              <a:t>void withdraw(int amount) { </a:t>
            </a:r>
          </a:p>
          <a:p>
            <a:pPr marL="0" indent="0">
              <a:buNone/>
            </a:pPr>
            <a:r>
              <a:rPr lang="en-US" dirty="0"/>
              <a:t>		int b = </a:t>
            </a:r>
            <a:r>
              <a:rPr lang="en-US" dirty="0" err="1"/>
              <a:t>getBalance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if (amount &gt; b) </a:t>
            </a:r>
          </a:p>
          <a:p>
            <a:pPr marL="0" indent="0">
              <a:buNone/>
            </a:pPr>
            <a:r>
              <a:rPr lang="en-US" dirty="0"/>
              <a:t>			throw new </a:t>
            </a:r>
            <a:r>
              <a:rPr lang="en-US" dirty="0" err="1"/>
              <a:t>WithdrawTooLargeException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setBalance</a:t>
            </a:r>
            <a:r>
              <a:rPr lang="en-US" dirty="0"/>
              <a:t>(b – amount); } </a:t>
            </a:r>
          </a:p>
          <a:p>
            <a:pPr marL="0" indent="0">
              <a:buNone/>
            </a:pPr>
            <a:r>
              <a:rPr lang="en-US" dirty="0"/>
              <a:t>	// other operations like deposit (which would use synchronized)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3151893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98ECE-174A-7C43-2874-DBA6552F7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Race Condition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0260B-B93F-B6B0-8B30-28A9E3552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163" y="1357746"/>
            <a:ext cx="11360727" cy="540327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Occurs when the computation result depends on scheduling (how threads are interleaved) </a:t>
            </a:r>
          </a:p>
          <a:p>
            <a:pPr lvl="1"/>
            <a:r>
              <a:rPr lang="en-US" dirty="0"/>
              <a:t>We, as programmers can’t influence scheduling of threads</a:t>
            </a:r>
          </a:p>
          <a:p>
            <a:pPr lvl="1"/>
            <a:r>
              <a:rPr lang="en-US" dirty="0"/>
              <a:t>We need to write programs that work independent of scheduling</a:t>
            </a:r>
          </a:p>
          <a:p>
            <a:pPr lvl="1"/>
            <a:r>
              <a:rPr lang="en-US" dirty="0"/>
              <a:t>E.g.: if two threads are withdrawing, different schedules could cause different threads to see the </a:t>
            </a:r>
            <a:r>
              <a:rPr lang="en-US" dirty="0" err="1"/>
              <a:t>WithdrawTooLargeException</a:t>
            </a:r>
            <a:endParaRPr lang="en-US" dirty="0"/>
          </a:p>
          <a:p>
            <a:pPr lvl="1"/>
            <a:r>
              <a:rPr lang="en-US" dirty="0"/>
              <a:t>The trident did not prevent a race condition, which name is the last one in the box may differ</a:t>
            </a:r>
          </a:p>
          <a:p>
            <a:r>
              <a:rPr lang="en-US" dirty="0"/>
              <a:t>Data Race: </a:t>
            </a:r>
          </a:p>
          <a:p>
            <a:pPr lvl="1"/>
            <a:r>
              <a:rPr lang="en-US" dirty="0"/>
              <a:t>When there is the potential for two threads to be writing a variable in parallel</a:t>
            </a:r>
          </a:p>
          <a:p>
            <a:pPr lvl="1"/>
            <a:r>
              <a:rPr lang="en-US" dirty="0"/>
              <a:t>When there is the potential for one thread to be reading a variable while another writes to it</a:t>
            </a:r>
          </a:p>
          <a:p>
            <a:pPr lvl="1"/>
            <a:r>
              <a:rPr lang="en-US" dirty="0"/>
              <a:t>E.g.: Two threads insert the same into a hash table. The second thread in the schedule will overwrite the insert from the first.</a:t>
            </a:r>
          </a:p>
          <a:p>
            <a:pPr lvl="1"/>
            <a:r>
              <a:rPr lang="en-US" dirty="0"/>
              <a:t>The trident corrected a data race, no two people can use the box at the same time</a:t>
            </a:r>
          </a:p>
          <a:p>
            <a:r>
              <a:rPr lang="en-US" dirty="0"/>
              <a:t>Bad Interleaving:</a:t>
            </a:r>
          </a:p>
          <a:p>
            <a:pPr lvl="1"/>
            <a:r>
              <a:rPr lang="en-US" dirty="0"/>
              <a:t>An error due to a race condition other than a data race</a:t>
            </a:r>
          </a:p>
          <a:p>
            <a:pPr lvl="1"/>
            <a:r>
              <a:rPr lang="en-US" dirty="0"/>
              <a:t>Usually it looks like exposing a “bad” intermediate state</a:t>
            </a:r>
          </a:p>
          <a:p>
            <a:pPr lvl="1"/>
            <a:r>
              <a:rPr lang="en-US" dirty="0"/>
              <a:t>E.g.: Two threads insert into a hash table. We compute the index for each key, then one thread resizes the table, now the other index might be incorrect. </a:t>
            </a:r>
          </a:p>
          <a:p>
            <a:pPr lvl="1"/>
            <a:r>
              <a:rPr lang="en-US" dirty="0"/>
              <a:t>The race condition present after the trident is not a bad interleaving because either result is still correct</a:t>
            </a:r>
          </a:p>
        </p:txBody>
      </p:sp>
    </p:spTree>
    <p:extLst>
      <p:ext uri="{BB962C8B-B14F-4D97-AF65-F5344CB8AC3E}">
        <p14:creationId xmlns:p14="http://schemas.microsoft.com/office/powerpoint/2010/main" val="109817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0D77A-A12E-2519-D945-648888DF9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96875"/>
            <a:ext cx="10515600" cy="1325563"/>
          </a:xfrm>
        </p:spPr>
        <p:txBody>
          <a:bodyPr/>
          <a:lstStyle/>
          <a:p>
            <a:r>
              <a:rPr lang="en-US" dirty="0"/>
              <a:t>Example: Shared Stack (no problems so far)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1184E-3E3D-8777-2AB8-6154021FA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9440"/>
            <a:ext cx="10515600" cy="62585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class Stack { </a:t>
            </a:r>
          </a:p>
          <a:p>
            <a:pPr marL="0" indent="0">
              <a:buNone/>
            </a:pPr>
            <a:r>
              <a:rPr lang="en-US" dirty="0"/>
              <a:t>	private E[] array = (E[])new Object[SIZE]; </a:t>
            </a:r>
          </a:p>
          <a:p>
            <a:pPr marL="0" indent="0">
              <a:buNone/>
            </a:pPr>
            <a:r>
              <a:rPr lang="en-US" dirty="0"/>
              <a:t>	private int index = -1; </a:t>
            </a:r>
          </a:p>
          <a:p>
            <a:pPr marL="0" indent="0">
              <a:buNone/>
            </a:pPr>
            <a:r>
              <a:rPr lang="en-US" dirty="0"/>
              <a:t>	synchronized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isEmpty</a:t>
            </a:r>
            <a:r>
              <a:rPr lang="en-US" dirty="0"/>
              <a:t>() { </a:t>
            </a:r>
          </a:p>
          <a:p>
            <a:pPr marL="0" indent="0">
              <a:buNone/>
            </a:pPr>
            <a:r>
              <a:rPr lang="en-US" dirty="0"/>
              <a:t>		return index==-1;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	synchronized void push(E </a:t>
            </a:r>
            <a:r>
              <a:rPr lang="en-US" dirty="0" err="1"/>
              <a:t>val</a:t>
            </a:r>
            <a:r>
              <a:rPr lang="en-US" dirty="0"/>
              <a:t>) { </a:t>
            </a:r>
          </a:p>
          <a:p>
            <a:pPr marL="0" indent="0">
              <a:buNone/>
            </a:pPr>
            <a:r>
              <a:rPr lang="en-US" dirty="0"/>
              <a:t>		array[++index] = </a:t>
            </a:r>
            <a:r>
              <a:rPr lang="en-US" dirty="0" err="1"/>
              <a:t>val</a:t>
            </a:r>
            <a:r>
              <a:rPr lang="en-US" dirty="0"/>
              <a:t>;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	synchronized E pop() { </a:t>
            </a:r>
          </a:p>
          <a:p>
            <a:pPr marL="0" indent="0">
              <a:buNone/>
            </a:pPr>
            <a:r>
              <a:rPr lang="en-US" dirty="0"/>
              <a:t>		if(</a:t>
            </a:r>
            <a:r>
              <a:rPr lang="en-US" dirty="0" err="1"/>
              <a:t>isEmpty</a:t>
            </a:r>
            <a:r>
              <a:rPr lang="en-US" dirty="0"/>
              <a:t>()) </a:t>
            </a:r>
          </a:p>
          <a:p>
            <a:pPr marL="0" indent="0">
              <a:buNone/>
            </a:pPr>
            <a:r>
              <a:rPr lang="en-US" dirty="0"/>
              <a:t>			throw new </a:t>
            </a:r>
            <a:r>
              <a:rPr lang="en-US" dirty="0" err="1"/>
              <a:t>StackEmptyException</a:t>
            </a:r>
            <a:r>
              <a:rPr lang="en-US" dirty="0"/>
              <a:t>(); </a:t>
            </a:r>
          </a:p>
          <a:p>
            <a:pPr marL="0" indent="0">
              <a:buNone/>
            </a:pPr>
            <a:r>
              <a:rPr lang="en-US" dirty="0"/>
              <a:t>		return array[index--]; </a:t>
            </a:r>
          </a:p>
          <a:p>
            <a:pPr marL="0" indent="0">
              <a:buNone/>
            </a:pPr>
            <a:r>
              <a:rPr lang="en-US" dirty="0"/>
              <a:t>	} }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793AB9-3041-0C12-9F0A-B8332694E888}"/>
              </a:ext>
            </a:extLst>
          </p:cNvPr>
          <p:cNvSpPr txBox="1"/>
          <p:nvPr/>
        </p:nvSpPr>
        <p:spPr>
          <a:xfrm>
            <a:off x="7233920" y="4368800"/>
            <a:ext cx="3800720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Critical sections of this code?</a:t>
            </a:r>
          </a:p>
        </p:txBody>
      </p:sp>
    </p:spTree>
    <p:extLst>
      <p:ext uri="{BB962C8B-B14F-4D97-AF65-F5344CB8AC3E}">
        <p14:creationId xmlns:p14="http://schemas.microsoft.com/office/powerpoint/2010/main" val="14483504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0D77A-A12E-2519-D945-648888DF9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Race Condition, but no Data Race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1184E-3E3D-8777-2AB8-6154021FA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7760"/>
            <a:ext cx="10515600" cy="57302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class Stack { </a:t>
            </a:r>
          </a:p>
          <a:p>
            <a:pPr marL="0" indent="0">
              <a:buNone/>
            </a:pPr>
            <a:r>
              <a:rPr lang="en-US" dirty="0"/>
              <a:t>	private E[] array = (E[])new Object[SIZE]; </a:t>
            </a:r>
          </a:p>
          <a:p>
            <a:pPr marL="0" indent="0">
              <a:buNone/>
            </a:pPr>
            <a:r>
              <a:rPr lang="en-US" dirty="0"/>
              <a:t>	private int index = -1; </a:t>
            </a:r>
          </a:p>
          <a:p>
            <a:pPr marL="0" indent="0">
              <a:buNone/>
            </a:pPr>
            <a:r>
              <a:rPr lang="en-US" dirty="0"/>
              <a:t>	synchronized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isEmpty</a:t>
            </a:r>
            <a:r>
              <a:rPr lang="en-US" dirty="0"/>
              <a:t>() { … } </a:t>
            </a:r>
          </a:p>
          <a:p>
            <a:pPr marL="0" indent="0">
              <a:buNone/>
            </a:pPr>
            <a:r>
              <a:rPr lang="en-US" dirty="0"/>
              <a:t>	synchronized void push(E </a:t>
            </a:r>
            <a:r>
              <a:rPr lang="en-US" dirty="0" err="1"/>
              <a:t>val</a:t>
            </a:r>
            <a:r>
              <a:rPr lang="en-US" dirty="0"/>
              <a:t>) { … } </a:t>
            </a:r>
          </a:p>
          <a:p>
            <a:pPr marL="0" indent="0">
              <a:buNone/>
            </a:pPr>
            <a:r>
              <a:rPr lang="en-US" dirty="0"/>
              <a:t>	synchronized E pop() { … } </a:t>
            </a:r>
          </a:p>
          <a:p>
            <a:pPr marL="0" indent="0">
              <a:buNone/>
            </a:pPr>
            <a:r>
              <a:rPr lang="en-US" dirty="0"/>
              <a:t>	E peek(){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fr-FR" dirty="0"/>
              <a:t>E ans = pop(); </a:t>
            </a:r>
          </a:p>
          <a:p>
            <a:pPr marL="0" indent="0">
              <a:buNone/>
            </a:pPr>
            <a:r>
              <a:rPr lang="fr-FR" dirty="0"/>
              <a:t>		push(ans); </a:t>
            </a:r>
          </a:p>
          <a:p>
            <a:pPr marL="0" indent="0">
              <a:buNone/>
            </a:pPr>
            <a:r>
              <a:rPr lang="fr-FR" dirty="0"/>
              <a:t>		return ans;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7F7C49-A9B0-D71B-2293-78AC65711059}"/>
              </a:ext>
            </a:extLst>
          </p:cNvPr>
          <p:cNvSpPr txBox="1"/>
          <p:nvPr/>
        </p:nvSpPr>
        <p:spPr>
          <a:xfrm>
            <a:off x="7233920" y="4368800"/>
            <a:ext cx="3800720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Critical sections of this code?</a:t>
            </a:r>
          </a:p>
        </p:txBody>
      </p:sp>
    </p:spTree>
    <p:extLst>
      <p:ext uri="{BB962C8B-B14F-4D97-AF65-F5344CB8AC3E}">
        <p14:creationId xmlns:p14="http://schemas.microsoft.com/office/powerpoint/2010/main" val="8816642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DABED-FC58-1B03-048A-19E1A971A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A9F99-C319-6183-5B10-5E2F36F6C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Peeks Break LIFO Order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99D9A3-9914-01AF-96F7-48F7C3C82C53}"/>
              </a:ext>
            </a:extLst>
          </p:cNvPr>
          <p:cNvSpPr/>
          <p:nvPr/>
        </p:nvSpPr>
        <p:spPr>
          <a:xfrm>
            <a:off x="347817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</a:rPr>
              <a:t>E ans = pop();</a:t>
            </a:r>
          </a:p>
          <a:p>
            <a:r>
              <a:rPr lang="fr-FR" dirty="0">
                <a:solidFill>
                  <a:schemeClr val="tx1"/>
                </a:solidFill>
              </a:rPr>
              <a:t>push(ans); </a:t>
            </a:r>
          </a:p>
          <a:p>
            <a:r>
              <a:rPr lang="fr-FR" dirty="0">
                <a:solidFill>
                  <a:schemeClr val="tx1"/>
                </a:solidFill>
              </a:rPr>
              <a:t>return ans;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9CFE3B-7878-8C9D-BF13-BD426649936C}"/>
              </a:ext>
            </a:extLst>
          </p:cNvPr>
          <p:cNvSpPr txBox="1"/>
          <p:nvPr/>
        </p:nvSpPr>
        <p:spPr>
          <a:xfrm>
            <a:off x="347818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E62BD0-463C-1DCB-EF49-5A3FD44E6D3F}"/>
              </a:ext>
            </a:extLst>
          </p:cNvPr>
          <p:cNvSpPr/>
          <p:nvPr/>
        </p:nvSpPr>
        <p:spPr>
          <a:xfrm>
            <a:off x="6878319" y="2172832"/>
            <a:ext cx="2499361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</a:rPr>
              <a:t>E ans = pop();</a:t>
            </a:r>
          </a:p>
          <a:p>
            <a:r>
              <a:rPr lang="fr-FR" dirty="0">
                <a:solidFill>
                  <a:schemeClr val="tx1"/>
                </a:solidFill>
              </a:rPr>
              <a:t>push(ans); </a:t>
            </a:r>
          </a:p>
          <a:p>
            <a:r>
              <a:rPr lang="fr-FR" dirty="0">
                <a:solidFill>
                  <a:schemeClr val="tx1"/>
                </a:solidFill>
              </a:rPr>
              <a:t>return ans;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5184C2-B0C7-D9B8-F4BB-CE27730DFF96}"/>
              </a:ext>
            </a:extLst>
          </p:cNvPr>
          <p:cNvSpPr txBox="1"/>
          <p:nvPr/>
        </p:nvSpPr>
        <p:spPr>
          <a:xfrm>
            <a:off x="687832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30B527-2773-B825-D04E-300DF91EA384}"/>
              </a:ext>
            </a:extLst>
          </p:cNvPr>
          <p:cNvSpPr/>
          <p:nvPr/>
        </p:nvSpPr>
        <p:spPr>
          <a:xfrm>
            <a:off x="2864289" y="3437615"/>
            <a:ext cx="3393439" cy="24247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E ans = pop();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push(ans); 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return ans;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19CF3D-8C79-8ECE-BA54-AEF4FF39558A}"/>
              </a:ext>
            </a:extLst>
          </p:cNvPr>
          <p:cNvSpPr/>
          <p:nvPr/>
        </p:nvSpPr>
        <p:spPr>
          <a:xfrm>
            <a:off x="6257728" y="3437615"/>
            <a:ext cx="3393439" cy="24247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E ans = pop();</a:t>
            </a:r>
          </a:p>
          <a:p>
            <a:endParaRPr lang="fr-FR" dirty="0">
              <a:solidFill>
                <a:schemeClr val="tx1"/>
              </a:solidFill>
            </a:endParaRPr>
          </a:p>
          <a:p>
            <a:endParaRPr lang="fr-FR" dirty="0">
              <a:solidFill>
                <a:schemeClr val="tx1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push(ans); </a:t>
            </a:r>
          </a:p>
          <a:p>
            <a:r>
              <a:rPr lang="fr-FR" dirty="0">
                <a:solidFill>
                  <a:schemeClr val="tx1"/>
                </a:solidFill>
              </a:rPr>
              <a:t>return ans;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49710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0D77A-A12E-2519-D945-648888DF9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Race Condition, including a </a:t>
            </a:r>
            <a:r>
              <a:rPr lang="en-US" dirty="0">
                <a:solidFill>
                  <a:srgbClr val="FF0000"/>
                </a:solidFill>
              </a:rPr>
              <a:t>Data Race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1184E-3E3D-8777-2AB8-6154021FA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7760"/>
            <a:ext cx="10515600" cy="573024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class Stack { </a:t>
            </a:r>
          </a:p>
          <a:p>
            <a:pPr marL="0" indent="0">
              <a:buNone/>
            </a:pPr>
            <a:r>
              <a:rPr lang="en-US" dirty="0"/>
              <a:t>	private E[] array = (E[])new Object[SIZE]; </a:t>
            </a:r>
          </a:p>
          <a:p>
            <a:pPr marL="0" indent="0">
              <a:buNone/>
            </a:pPr>
            <a:r>
              <a:rPr lang="en-US" dirty="0"/>
              <a:t>	private int index = -1; </a:t>
            </a:r>
          </a:p>
          <a:p>
            <a:pPr marL="0" indent="0">
              <a:buNone/>
            </a:pPr>
            <a:r>
              <a:rPr lang="en-US" dirty="0"/>
              <a:t>	synchronized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isEmpty</a:t>
            </a:r>
            <a:r>
              <a:rPr lang="en-US" dirty="0"/>
              <a:t>() { … } </a:t>
            </a:r>
          </a:p>
          <a:p>
            <a:pPr marL="0" indent="0">
              <a:buNone/>
            </a:pPr>
            <a:r>
              <a:rPr lang="en-US" dirty="0"/>
              <a:t>	synchronized void push(E </a:t>
            </a:r>
            <a:r>
              <a:rPr lang="en-US" dirty="0" err="1"/>
              <a:t>val</a:t>
            </a:r>
            <a:r>
              <a:rPr lang="en-US" dirty="0"/>
              <a:t>) { … } </a:t>
            </a:r>
          </a:p>
          <a:p>
            <a:pPr marL="0" indent="0">
              <a:buNone/>
            </a:pPr>
            <a:r>
              <a:rPr lang="en-US" dirty="0"/>
              <a:t>	synchronized E pop() { … } </a:t>
            </a:r>
          </a:p>
          <a:p>
            <a:pPr marL="0" indent="0">
              <a:buNone/>
            </a:pPr>
            <a:r>
              <a:rPr lang="en-US" dirty="0"/>
              <a:t>	E peek(){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>
                <a:solidFill>
                  <a:srgbClr val="FF0000"/>
                </a:solidFill>
              </a:rPr>
              <a:t>System.out.println</a:t>
            </a:r>
            <a:r>
              <a:rPr lang="en-US" dirty="0">
                <a:solidFill>
                  <a:srgbClr val="FF0000"/>
                </a:solidFill>
              </a:rPr>
              <a:t>(index);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fr-FR" dirty="0"/>
              <a:t>E ans = pop(); </a:t>
            </a:r>
          </a:p>
          <a:p>
            <a:pPr marL="0" indent="0">
              <a:buNone/>
            </a:pPr>
            <a:r>
              <a:rPr lang="fr-FR" dirty="0"/>
              <a:t>		push(ans); </a:t>
            </a:r>
          </a:p>
          <a:p>
            <a:pPr marL="0" indent="0">
              <a:buNone/>
            </a:pPr>
            <a:r>
              <a:rPr lang="fr-FR" dirty="0"/>
              <a:t>		return ans;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2177479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4874-7598-75F3-A2CC-FBE80781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Peek and </a:t>
            </a:r>
            <a:r>
              <a:rPr lang="en-US" dirty="0" err="1"/>
              <a:t>isEmpty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D818AA-EFE4-7F48-8EF7-33057CEB31CC}"/>
              </a:ext>
            </a:extLst>
          </p:cNvPr>
          <p:cNvSpPr/>
          <p:nvPr/>
        </p:nvSpPr>
        <p:spPr>
          <a:xfrm>
            <a:off x="347817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peek();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BA55D-D713-BF6A-8ED2-33DA599C57B9}"/>
              </a:ext>
            </a:extLst>
          </p:cNvPr>
          <p:cNvSpPr txBox="1"/>
          <p:nvPr/>
        </p:nvSpPr>
        <p:spPr>
          <a:xfrm>
            <a:off x="347818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9B78A1-0032-E1E0-0BA8-5D5E4C8B0F5B}"/>
              </a:ext>
            </a:extLst>
          </p:cNvPr>
          <p:cNvSpPr/>
          <p:nvPr/>
        </p:nvSpPr>
        <p:spPr>
          <a:xfrm>
            <a:off x="6878319" y="2172832"/>
            <a:ext cx="2499361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push(x);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boolean</a:t>
            </a:r>
            <a:r>
              <a:rPr lang="en-US" dirty="0">
                <a:solidFill>
                  <a:schemeClr val="tx1"/>
                </a:solidFill>
              </a:rPr>
              <a:t> b = </a:t>
            </a:r>
            <a:r>
              <a:rPr lang="en-US" dirty="0" err="1">
                <a:solidFill>
                  <a:schemeClr val="tx1"/>
                </a:solidFill>
              </a:rPr>
              <a:t>isEmpty</a:t>
            </a:r>
            <a:r>
              <a:rPr lang="en-US" dirty="0">
                <a:solidFill>
                  <a:schemeClr val="tx1"/>
                </a:solidFill>
              </a:rPr>
              <a:t>();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8721B4-28B3-5EE4-95FD-F71534E5B6AC}"/>
              </a:ext>
            </a:extLst>
          </p:cNvPr>
          <p:cNvSpPr txBox="1"/>
          <p:nvPr/>
        </p:nvSpPr>
        <p:spPr>
          <a:xfrm>
            <a:off x="687832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26526B-ABE2-8331-53E8-2718273955D5}"/>
              </a:ext>
            </a:extLst>
          </p:cNvPr>
          <p:cNvSpPr/>
          <p:nvPr/>
        </p:nvSpPr>
        <p:spPr>
          <a:xfrm>
            <a:off x="2864289" y="3437615"/>
            <a:ext cx="3393439" cy="24247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E ans = pop();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push(ans); 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return ans;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3ADA93-4C40-AD42-D3C8-F3A19358B1E7}"/>
              </a:ext>
            </a:extLst>
          </p:cNvPr>
          <p:cNvSpPr/>
          <p:nvPr/>
        </p:nvSpPr>
        <p:spPr>
          <a:xfrm>
            <a:off x="6257728" y="3437615"/>
            <a:ext cx="3393439" cy="24247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push(x);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boolean</a:t>
            </a:r>
            <a:r>
              <a:rPr lang="en-US" dirty="0">
                <a:solidFill>
                  <a:schemeClr val="tx1"/>
                </a:solidFill>
              </a:rPr>
              <a:t> b = </a:t>
            </a:r>
            <a:r>
              <a:rPr lang="en-US" dirty="0" err="1">
                <a:solidFill>
                  <a:schemeClr val="tx1"/>
                </a:solidFill>
              </a:rPr>
              <a:t>isEmpty</a:t>
            </a:r>
            <a:r>
              <a:rPr lang="en-US" dirty="0">
                <a:solidFill>
                  <a:schemeClr val="tx1"/>
                </a:solidFill>
              </a:rPr>
              <a:t>();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DB5831-0F18-E385-D329-3B1A55566C6B}"/>
              </a:ext>
            </a:extLst>
          </p:cNvPr>
          <p:cNvSpPr txBox="1"/>
          <p:nvPr/>
        </p:nvSpPr>
        <p:spPr>
          <a:xfrm>
            <a:off x="7664661" y="438190"/>
            <a:ext cx="45273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Expected Behavior:</a:t>
            </a:r>
          </a:p>
          <a:p>
            <a:r>
              <a:rPr lang="en-US" dirty="0"/>
              <a:t>Thread 2 should not see an empty stack if there is a push but no pop.</a:t>
            </a:r>
          </a:p>
        </p:txBody>
      </p:sp>
    </p:spTree>
    <p:extLst>
      <p:ext uri="{BB962C8B-B14F-4D97-AF65-F5344CB8AC3E}">
        <p14:creationId xmlns:p14="http://schemas.microsoft.com/office/powerpoint/2010/main" val="15873601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4874-7598-75F3-A2CC-FBE80781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Peek and Push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D818AA-EFE4-7F48-8EF7-33057CEB31CC}"/>
              </a:ext>
            </a:extLst>
          </p:cNvPr>
          <p:cNvSpPr/>
          <p:nvPr/>
        </p:nvSpPr>
        <p:spPr>
          <a:xfrm>
            <a:off x="347817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peek();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BA55D-D713-BF6A-8ED2-33DA599C57B9}"/>
              </a:ext>
            </a:extLst>
          </p:cNvPr>
          <p:cNvSpPr txBox="1"/>
          <p:nvPr/>
        </p:nvSpPr>
        <p:spPr>
          <a:xfrm>
            <a:off x="347818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9B78A1-0032-E1E0-0BA8-5D5E4C8B0F5B}"/>
              </a:ext>
            </a:extLst>
          </p:cNvPr>
          <p:cNvSpPr/>
          <p:nvPr/>
        </p:nvSpPr>
        <p:spPr>
          <a:xfrm>
            <a:off x="6548167" y="2172832"/>
            <a:ext cx="2829514" cy="1129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push(x);</a:t>
            </a:r>
          </a:p>
          <a:p>
            <a:r>
              <a:rPr lang="en-US" dirty="0">
                <a:solidFill>
                  <a:schemeClr val="tx1"/>
                </a:solidFill>
              </a:rPr>
              <a:t>push(y);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(pop());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(pop());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8721B4-28B3-5EE4-95FD-F71534E5B6AC}"/>
              </a:ext>
            </a:extLst>
          </p:cNvPr>
          <p:cNvSpPr txBox="1"/>
          <p:nvPr/>
        </p:nvSpPr>
        <p:spPr>
          <a:xfrm>
            <a:off x="687832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26526B-ABE2-8331-53E8-2718273955D5}"/>
              </a:ext>
            </a:extLst>
          </p:cNvPr>
          <p:cNvSpPr/>
          <p:nvPr/>
        </p:nvSpPr>
        <p:spPr>
          <a:xfrm>
            <a:off x="2864289" y="3437615"/>
            <a:ext cx="3393439" cy="24247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E ans = pop();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push(ans); 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return ans;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3ADA93-4C40-AD42-D3C8-F3A19358B1E7}"/>
              </a:ext>
            </a:extLst>
          </p:cNvPr>
          <p:cNvSpPr/>
          <p:nvPr/>
        </p:nvSpPr>
        <p:spPr>
          <a:xfrm>
            <a:off x="6257728" y="3437615"/>
            <a:ext cx="3393439" cy="24247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push(x);</a:t>
            </a:r>
          </a:p>
          <a:p>
            <a:r>
              <a:rPr lang="en-US" dirty="0">
                <a:solidFill>
                  <a:schemeClr val="tx1"/>
                </a:solidFill>
              </a:rPr>
              <a:t>push(y);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(pop());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(pop());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DB5831-0F18-E385-D329-3B1A55566C6B}"/>
              </a:ext>
            </a:extLst>
          </p:cNvPr>
          <p:cNvSpPr txBox="1"/>
          <p:nvPr/>
        </p:nvSpPr>
        <p:spPr>
          <a:xfrm>
            <a:off x="7664661" y="438190"/>
            <a:ext cx="4527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Expected Behavior:</a:t>
            </a:r>
          </a:p>
          <a:p>
            <a:r>
              <a:rPr lang="en-US" dirty="0"/>
              <a:t>Items from a stack are popped in LIFO order</a:t>
            </a:r>
          </a:p>
        </p:txBody>
      </p:sp>
    </p:spTree>
    <p:extLst>
      <p:ext uri="{BB962C8B-B14F-4D97-AF65-F5344CB8AC3E}">
        <p14:creationId xmlns:p14="http://schemas.microsoft.com/office/powerpoint/2010/main" val="9657257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4874-7598-75F3-A2CC-FBE80781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Peek and Push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D818AA-EFE4-7F48-8EF7-33057CEB31CC}"/>
              </a:ext>
            </a:extLst>
          </p:cNvPr>
          <p:cNvSpPr/>
          <p:nvPr/>
        </p:nvSpPr>
        <p:spPr>
          <a:xfrm>
            <a:off x="347817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peek();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BA55D-D713-BF6A-8ED2-33DA599C57B9}"/>
              </a:ext>
            </a:extLst>
          </p:cNvPr>
          <p:cNvSpPr txBox="1"/>
          <p:nvPr/>
        </p:nvSpPr>
        <p:spPr>
          <a:xfrm>
            <a:off x="347818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9B78A1-0032-E1E0-0BA8-5D5E4C8B0F5B}"/>
              </a:ext>
            </a:extLst>
          </p:cNvPr>
          <p:cNvSpPr/>
          <p:nvPr/>
        </p:nvSpPr>
        <p:spPr>
          <a:xfrm>
            <a:off x="6548167" y="2172832"/>
            <a:ext cx="2829514" cy="11291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push(x);</a:t>
            </a:r>
          </a:p>
          <a:p>
            <a:r>
              <a:rPr lang="en-US" dirty="0">
                <a:solidFill>
                  <a:schemeClr val="tx1"/>
                </a:solidFill>
              </a:rPr>
              <a:t>push(y);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(pop());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(pop());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8721B4-28B3-5EE4-95FD-F71534E5B6AC}"/>
              </a:ext>
            </a:extLst>
          </p:cNvPr>
          <p:cNvSpPr txBox="1"/>
          <p:nvPr/>
        </p:nvSpPr>
        <p:spPr>
          <a:xfrm>
            <a:off x="687832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26526B-ABE2-8331-53E8-2718273955D5}"/>
              </a:ext>
            </a:extLst>
          </p:cNvPr>
          <p:cNvSpPr/>
          <p:nvPr/>
        </p:nvSpPr>
        <p:spPr>
          <a:xfrm>
            <a:off x="2864289" y="3437615"/>
            <a:ext cx="3393439" cy="24247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>
              <a:buNone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E ans = pop();</a:t>
            </a:r>
          </a:p>
          <a:p>
            <a:pPr marL="0" indent="0">
              <a:buNone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push(ans); </a:t>
            </a: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return ans;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3ADA93-4C40-AD42-D3C8-F3A19358B1E7}"/>
              </a:ext>
            </a:extLst>
          </p:cNvPr>
          <p:cNvSpPr/>
          <p:nvPr/>
        </p:nvSpPr>
        <p:spPr>
          <a:xfrm>
            <a:off x="6257728" y="3437615"/>
            <a:ext cx="3393439" cy="24247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tx1"/>
                </a:solidFill>
              </a:rPr>
              <a:t>push(x);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push(y);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(pop());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System.out.println</a:t>
            </a:r>
            <a:r>
              <a:rPr lang="en-US" dirty="0">
                <a:solidFill>
                  <a:schemeClr val="tx1"/>
                </a:solidFill>
              </a:rPr>
              <a:t>(pop());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DB5831-0F18-E385-D329-3B1A55566C6B}"/>
              </a:ext>
            </a:extLst>
          </p:cNvPr>
          <p:cNvSpPr txBox="1"/>
          <p:nvPr/>
        </p:nvSpPr>
        <p:spPr>
          <a:xfrm>
            <a:off x="7664661" y="438190"/>
            <a:ext cx="45273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Expected Behavior:</a:t>
            </a:r>
          </a:p>
          <a:p>
            <a:r>
              <a:rPr lang="en-US" dirty="0"/>
              <a:t>Thread 2 items from a stack are popped in LIFO order</a:t>
            </a:r>
          </a:p>
        </p:txBody>
      </p:sp>
    </p:spTree>
    <p:extLst>
      <p:ext uri="{BB962C8B-B14F-4D97-AF65-F5344CB8AC3E}">
        <p14:creationId xmlns:p14="http://schemas.microsoft.com/office/powerpoint/2010/main" val="31733360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1BC9A-E478-17F8-5899-39FDB3564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5115"/>
            <a:ext cx="10515600" cy="1325563"/>
          </a:xfrm>
        </p:spPr>
        <p:txBody>
          <a:bodyPr/>
          <a:lstStyle/>
          <a:p>
            <a:r>
              <a:rPr lang="en-US" dirty="0"/>
              <a:t>How to fix this?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B72D53-59E5-7978-BE83-F146F8617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7760"/>
            <a:ext cx="10515600" cy="57302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class Stack { </a:t>
            </a:r>
          </a:p>
          <a:p>
            <a:pPr marL="0" indent="0">
              <a:buNone/>
            </a:pPr>
            <a:r>
              <a:rPr lang="en-US" dirty="0"/>
              <a:t>	private E[] array = (E[])new Object[SIZE]; </a:t>
            </a:r>
          </a:p>
          <a:p>
            <a:pPr marL="0" indent="0">
              <a:buNone/>
            </a:pPr>
            <a:r>
              <a:rPr lang="en-US" dirty="0"/>
              <a:t>	private int index = -1; </a:t>
            </a:r>
          </a:p>
          <a:p>
            <a:pPr marL="0" indent="0">
              <a:buNone/>
            </a:pPr>
            <a:r>
              <a:rPr lang="en-US" dirty="0"/>
              <a:t>	synchronized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isEmpty</a:t>
            </a:r>
            <a:r>
              <a:rPr lang="en-US" dirty="0"/>
              <a:t>() { … } </a:t>
            </a:r>
          </a:p>
          <a:p>
            <a:pPr marL="0" indent="0">
              <a:buNone/>
            </a:pPr>
            <a:r>
              <a:rPr lang="en-US" dirty="0"/>
              <a:t>	synchronized void push(E </a:t>
            </a:r>
            <a:r>
              <a:rPr lang="en-US" dirty="0" err="1"/>
              <a:t>val</a:t>
            </a:r>
            <a:r>
              <a:rPr lang="en-US" dirty="0"/>
              <a:t>) { … } </a:t>
            </a:r>
          </a:p>
          <a:p>
            <a:pPr marL="0" indent="0">
              <a:buNone/>
            </a:pPr>
            <a:r>
              <a:rPr lang="en-US" dirty="0"/>
              <a:t>	synchronized E pop() { … } </a:t>
            </a:r>
          </a:p>
          <a:p>
            <a:pPr marL="0" indent="0">
              <a:buNone/>
            </a:pPr>
            <a:r>
              <a:rPr lang="en-US" dirty="0"/>
              <a:t>	E peek(){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fr-FR" dirty="0"/>
              <a:t>E ans = pop(); </a:t>
            </a:r>
          </a:p>
          <a:p>
            <a:pPr marL="0" indent="0">
              <a:buNone/>
            </a:pPr>
            <a:r>
              <a:rPr lang="fr-FR" dirty="0"/>
              <a:t>		push(ans); </a:t>
            </a:r>
          </a:p>
          <a:p>
            <a:pPr marL="0" indent="0">
              <a:buNone/>
            </a:pPr>
            <a:r>
              <a:rPr lang="fr-FR" dirty="0"/>
              <a:t>		return ans;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039135-EC9C-1AB3-29DF-5A9347DD46EF}"/>
              </a:ext>
            </a:extLst>
          </p:cNvPr>
          <p:cNvSpPr txBox="1"/>
          <p:nvPr/>
        </p:nvSpPr>
        <p:spPr>
          <a:xfrm>
            <a:off x="8087360" y="690880"/>
            <a:ext cx="3811300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Make a bigger critical section</a:t>
            </a:r>
          </a:p>
        </p:txBody>
      </p:sp>
    </p:spTree>
    <p:extLst>
      <p:ext uri="{BB962C8B-B14F-4D97-AF65-F5344CB8AC3E}">
        <p14:creationId xmlns:p14="http://schemas.microsoft.com/office/powerpoint/2010/main" val="2062912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1BC9A-E478-17F8-5899-39FDB3564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5115"/>
            <a:ext cx="10515600" cy="1325563"/>
          </a:xfrm>
        </p:spPr>
        <p:txBody>
          <a:bodyPr/>
          <a:lstStyle/>
          <a:p>
            <a:r>
              <a:rPr lang="en-US" dirty="0"/>
              <a:t>Fixed!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B72D53-59E5-7978-BE83-F146F8617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7760"/>
            <a:ext cx="10515600" cy="57302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class Stack { </a:t>
            </a:r>
          </a:p>
          <a:p>
            <a:pPr marL="0" indent="0">
              <a:buNone/>
            </a:pPr>
            <a:r>
              <a:rPr lang="en-US" dirty="0"/>
              <a:t>	private E[] array = (E[])new Object[SIZE]; </a:t>
            </a:r>
          </a:p>
          <a:p>
            <a:pPr marL="0" indent="0">
              <a:buNone/>
            </a:pPr>
            <a:r>
              <a:rPr lang="en-US" dirty="0"/>
              <a:t>	private int index = -1; </a:t>
            </a:r>
          </a:p>
          <a:p>
            <a:pPr marL="0" indent="0">
              <a:buNone/>
            </a:pPr>
            <a:r>
              <a:rPr lang="en-US" dirty="0"/>
              <a:t>	synchronized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isEmpty</a:t>
            </a:r>
            <a:r>
              <a:rPr lang="en-US" dirty="0"/>
              <a:t>() { … } </a:t>
            </a:r>
          </a:p>
          <a:p>
            <a:pPr marL="0" indent="0">
              <a:buNone/>
            </a:pPr>
            <a:r>
              <a:rPr lang="en-US" dirty="0"/>
              <a:t>	synchronized void push(E </a:t>
            </a:r>
            <a:r>
              <a:rPr lang="en-US" dirty="0" err="1"/>
              <a:t>val</a:t>
            </a:r>
            <a:r>
              <a:rPr lang="en-US" dirty="0"/>
              <a:t>) { … } </a:t>
            </a:r>
          </a:p>
          <a:p>
            <a:pPr marL="0" indent="0">
              <a:buNone/>
            </a:pPr>
            <a:r>
              <a:rPr lang="en-US" dirty="0"/>
              <a:t>	synchronized E pop() { … }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synchronized</a:t>
            </a:r>
            <a:r>
              <a:rPr lang="en-US" dirty="0"/>
              <a:t> E peek(){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fr-FR" dirty="0"/>
              <a:t>E ans = pop(); </a:t>
            </a:r>
          </a:p>
          <a:p>
            <a:pPr marL="0" indent="0">
              <a:buNone/>
            </a:pPr>
            <a:r>
              <a:rPr lang="fr-FR" dirty="0"/>
              <a:t>		push(ans); </a:t>
            </a:r>
          </a:p>
          <a:p>
            <a:pPr marL="0" indent="0">
              <a:buNone/>
            </a:pPr>
            <a:r>
              <a:rPr lang="fr-FR" dirty="0"/>
              <a:t>		return ans;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039135-EC9C-1AB3-29DF-5A9347DD46EF}"/>
              </a:ext>
            </a:extLst>
          </p:cNvPr>
          <p:cNvSpPr txBox="1"/>
          <p:nvPr/>
        </p:nvSpPr>
        <p:spPr>
          <a:xfrm>
            <a:off x="8087360" y="690880"/>
            <a:ext cx="3811300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Make a bigger critical section</a:t>
            </a:r>
          </a:p>
        </p:txBody>
      </p:sp>
    </p:spTree>
    <p:extLst>
      <p:ext uri="{BB962C8B-B14F-4D97-AF65-F5344CB8AC3E}">
        <p14:creationId xmlns:p14="http://schemas.microsoft.com/office/powerpoint/2010/main" val="8180607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1BC9A-E478-17F8-5899-39FDB3564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5115"/>
            <a:ext cx="10515600" cy="1325563"/>
          </a:xfrm>
        </p:spPr>
        <p:txBody>
          <a:bodyPr/>
          <a:lstStyle/>
          <a:p>
            <a:r>
              <a:rPr lang="en-US" dirty="0"/>
              <a:t>Did this fix it?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B72D53-59E5-7978-BE83-F146F8617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7760"/>
            <a:ext cx="10515600" cy="57302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class Stack { </a:t>
            </a:r>
          </a:p>
          <a:p>
            <a:pPr marL="0" indent="0">
              <a:buNone/>
            </a:pPr>
            <a:r>
              <a:rPr lang="en-US" dirty="0"/>
              <a:t>	private E[] array = (E[])new Object[SIZE]; </a:t>
            </a:r>
          </a:p>
          <a:p>
            <a:pPr marL="0" indent="0">
              <a:buNone/>
            </a:pPr>
            <a:r>
              <a:rPr lang="en-US" dirty="0"/>
              <a:t>	private int index = -1; </a:t>
            </a:r>
          </a:p>
          <a:p>
            <a:pPr marL="0" indent="0">
              <a:buNone/>
            </a:pPr>
            <a:r>
              <a:rPr lang="en-US" dirty="0"/>
              <a:t>	synchronized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isEmpty</a:t>
            </a:r>
            <a:r>
              <a:rPr lang="en-US" dirty="0"/>
              <a:t>() { … } </a:t>
            </a:r>
          </a:p>
          <a:p>
            <a:pPr marL="0" indent="0">
              <a:buNone/>
            </a:pPr>
            <a:r>
              <a:rPr lang="en-US" dirty="0"/>
              <a:t>	synchronized void push(E </a:t>
            </a:r>
            <a:r>
              <a:rPr lang="en-US" dirty="0" err="1"/>
              <a:t>val</a:t>
            </a:r>
            <a:r>
              <a:rPr lang="en-US" dirty="0"/>
              <a:t>) { … } </a:t>
            </a:r>
          </a:p>
          <a:p>
            <a:pPr marL="0" indent="0">
              <a:buNone/>
            </a:pPr>
            <a:r>
              <a:rPr lang="en-US" dirty="0"/>
              <a:t>	synchronized E pop() { … } </a:t>
            </a:r>
          </a:p>
          <a:p>
            <a:pPr marL="0" indent="0">
              <a:buNone/>
            </a:pPr>
            <a:r>
              <a:rPr lang="en-US" dirty="0"/>
              <a:t>	E peek(){</a:t>
            </a:r>
          </a:p>
          <a:p>
            <a:pPr marL="0" indent="0">
              <a:buNone/>
            </a:pPr>
            <a:r>
              <a:rPr lang="en-US" dirty="0"/>
              <a:t>		return array[index];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8770E1-80A0-988D-5BDB-B8758C3C4D0A}"/>
              </a:ext>
            </a:extLst>
          </p:cNvPr>
          <p:cNvSpPr txBox="1"/>
          <p:nvPr/>
        </p:nvSpPr>
        <p:spPr>
          <a:xfrm>
            <a:off x="8087360" y="690880"/>
            <a:ext cx="3873731" cy="15696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No! Now it has a data race!</a:t>
            </a:r>
          </a:p>
          <a:p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dirty="0">
                <a:solidFill>
                  <a:srgbClr val="FF0000"/>
                </a:solidFill>
              </a:rPr>
              <a:t>Push/pop will be changing the variable index!</a:t>
            </a:r>
          </a:p>
        </p:txBody>
      </p:sp>
    </p:spTree>
    <p:extLst>
      <p:ext uri="{BB962C8B-B14F-4D97-AF65-F5344CB8AC3E}">
        <p14:creationId xmlns:p14="http://schemas.microsoft.com/office/powerpoint/2010/main" val="1758208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BED13-22A1-8328-2908-CCDB1D5C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910F9-037F-8B63-FA98-ED21F813E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Occurs when two or more threads are mutually blocking each other</a:t>
            </a:r>
          </a:p>
          <a:p>
            <a:r>
              <a:rPr lang="en-US" dirty="0"/>
              <a:t>T1 is blocked by T2, which is blocked by T3, …, Tn is blocked by T1</a:t>
            </a:r>
          </a:p>
          <a:p>
            <a:pPr lvl="1"/>
            <a:r>
              <a:rPr lang="en-US" dirty="0"/>
              <a:t>A cycle of blocking</a:t>
            </a:r>
          </a:p>
        </p:txBody>
      </p:sp>
    </p:spTree>
    <p:extLst>
      <p:ext uri="{BB962C8B-B14F-4D97-AF65-F5344CB8AC3E}">
        <p14:creationId xmlns:p14="http://schemas.microsoft.com/office/powerpoint/2010/main" val="41427121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AB745-D356-74D1-E331-F346B6597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Bank Account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628D0-6B82-E387-27DA-5147E3588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… </a:t>
            </a:r>
          </a:p>
          <a:p>
            <a:pPr marL="0" indent="0">
              <a:buNone/>
            </a:pPr>
            <a:r>
              <a:rPr lang="en-US" dirty="0"/>
              <a:t>	synchronized void withdraw(int amt) {…} </a:t>
            </a:r>
          </a:p>
          <a:p>
            <a:pPr marL="0" indent="0">
              <a:buNone/>
            </a:pPr>
            <a:r>
              <a:rPr lang="en-US" dirty="0"/>
              <a:t>	synchronized void deposit(int amt) {…} </a:t>
            </a:r>
          </a:p>
          <a:p>
            <a:pPr marL="0" indent="0">
              <a:buNone/>
            </a:pPr>
            <a:r>
              <a:rPr lang="en-US" dirty="0"/>
              <a:t>	synchronized void </a:t>
            </a:r>
            <a:r>
              <a:rPr lang="en-US" dirty="0" err="1"/>
              <a:t>transferTo</a:t>
            </a:r>
            <a:r>
              <a:rPr lang="en-US" dirty="0"/>
              <a:t>(int amt, </a:t>
            </a:r>
            <a:r>
              <a:rPr lang="en-US" dirty="0" err="1"/>
              <a:t>BankAccount</a:t>
            </a:r>
            <a:r>
              <a:rPr lang="en-US" dirty="0"/>
              <a:t> a) {</a:t>
            </a:r>
          </a:p>
          <a:p>
            <a:pPr marL="0" indent="0">
              <a:buNone/>
            </a:pPr>
            <a:r>
              <a:rPr lang="en-US" dirty="0"/>
              <a:t>		 </a:t>
            </a:r>
            <a:r>
              <a:rPr lang="en-US" dirty="0" err="1"/>
              <a:t>this.withdraw</a:t>
            </a:r>
            <a:r>
              <a:rPr lang="en-US" dirty="0"/>
              <a:t>(amt);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a.deposit</a:t>
            </a:r>
            <a:r>
              <a:rPr lang="en-US" dirty="0"/>
              <a:t>(amt);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2244901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4874-7598-75F3-A2CC-FBE80781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Deadlock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D818AA-EFE4-7F48-8EF7-33057CEB31CC}"/>
              </a:ext>
            </a:extLst>
          </p:cNvPr>
          <p:cNvSpPr/>
          <p:nvPr/>
        </p:nvSpPr>
        <p:spPr>
          <a:xfrm>
            <a:off x="347817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x.transferTo</a:t>
            </a:r>
            <a:r>
              <a:rPr lang="en-US" dirty="0">
                <a:solidFill>
                  <a:schemeClr val="tx1"/>
                </a:solidFill>
              </a:rPr>
              <a:t>(1,y);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BA55D-D713-BF6A-8ED2-33DA599C57B9}"/>
              </a:ext>
            </a:extLst>
          </p:cNvPr>
          <p:cNvSpPr txBox="1"/>
          <p:nvPr/>
        </p:nvSpPr>
        <p:spPr>
          <a:xfrm>
            <a:off x="347818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9B78A1-0032-E1E0-0BA8-5D5E4C8B0F5B}"/>
              </a:ext>
            </a:extLst>
          </p:cNvPr>
          <p:cNvSpPr/>
          <p:nvPr/>
        </p:nvSpPr>
        <p:spPr>
          <a:xfrm>
            <a:off x="6548167" y="2172832"/>
            <a:ext cx="2829514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y.transferTo</a:t>
            </a:r>
            <a:r>
              <a:rPr lang="en-US" dirty="0">
                <a:solidFill>
                  <a:schemeClr val="tx1"/>
                </a:solidFill>
              </a:rPr>
              <a:t>(1,x);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8721B4-28B3-5EE4-95FD-F71534E5B6AC}"/>
              </a:ext>
            </a:extLst>
          </p:cNvPr>
          <p:cNvSpPr txBox="1"/>
          <p:nvPr/>
        </p:nvSpPr>
        <p:spPr>
          <a:xfrm>
            <a:off x="687832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26526B-ABE2-8331-53E8-2718273955D5}"/>
              </a:ext>
            </a:extLst>
          </p:cNvPr>
          <p:cNvSpPr/>
          <p:nvPr/>
        </p:nvSpPr>
        <p:spPr>
          <a:xfrm>
            <a:off x="355600" y="3437614"/>
            <a:ext cx="5902129" cy="32679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acquire lock for account x</a:t>
            </a:r>
            <a:r>
              <a:rPr lang="en-US" dirty="0">
                <a:solidFill>
                  <a:schemeClr val="tx1"/>
                </a:solidFill>
              </a:rPr>
              <a:t> b/c </a:t>
            </a:r>
            <a:r>
              <a:rPr lang="en-US" dirty="0" err="1">
                <a:solidFill>
                  <a:schemeClr val="tx1"/>
                </a:solidFill>
              </a:rPr>
              <a:t>transferTo</a:t>
            </a:r>
            <a:r>
              <a:rPr lang="en-US" dirty="0">
                <a:solidFill>
                  <a:schemeClr val="tx1"/>
                </a:solidFill>
              </a:rPr>
              <a:t> is synchronized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acquire lock for account y</a:t>
            </a:r>
            <a:r>
              <a:rPr lang="en-US" dirty="0">
                <a:solidFill>
                  <a:schemeClr val="tx1"/>
                </a:solidFill>
              </a:rPr>
              <a:t> b/c deposit is synchronized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release lock for account y</a:t>
            </a:r>
            <a:r>
              <a:rPr lang="en-US" dirty="0">
                <a:solidFill>
                  <a:schemeClr val="tx1"/>
                </a:solidFill>
              </a:rPr>
              <a:t> after </a:t>
            </a:r>
            <a:r>
              <a:rPr lang="en-US" dirty="0" err="1">
                <a:solidFill>
                  <a:schemeClr val="tx1"/>
                </a:solidFill>
              </a:rPr>
              <a:t>depost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release lock for account x </a:t>
            </a:r>
            <a:r>
              <a:rPr lang="en-US" dirty="0">
                <a:solidFill>
                  <a:schemeClr val="tx1"/>
                </a:solidFill>
              </a:rPr>
              <a:t>at end of </a:t>
            </a:r>
            <a:r>
              <a:rPr lang="en-US" dirty="0" err="1">
                <a:solidFill>
                  <a:schemeClr val="tx1"/>
                </a:solidFill>
              </a:rPr>
              <a:t>transferTo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DB5831-0F18-E385-D329-3B1A55566C6B}"/>
              </a:ext>
            </a:extLst>
          </p:cNvPr>
          <p:cNvSpPr txBox="1"/>
          <p:nvPr/>
        </p:nvSpPr>
        <p:spPr>
          <a:xfrm>
            <a:off x="7664661" y="438190"/>
            <a:ext cx="45273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Expected Behavior:</a:t>
            </a:r>
          </a:p>
          <a:p>
            <a:r>
              <a:rPr lang="en-US" dirty="0"/>
              <a:t>Thread 2 items from a stack are popped in LIFO order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5182F8-642A-68C5-38B4-4E1AD6C388B6}"/>
              </a:ext>
            </a:extLst>
          </p:cNvPr>
          <p:cNvSpPr/>
          <p:nvPr/>
        </p:nvSpPr>
        <p:spPr>
          <a:xfrm>
            <a:off x="6257729" y="3437614"/>
            <a:ext cx="5902129" cy="32679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acquire lock for account y</a:t>
            </a:r>
            <a:r>
              <a:rPr lang="en-US" dirty="0">
                <a:solidFill>
                  <a:schemeClr val="tx1"/>
                </a:solidFill>
              </a:rPr>
              <a:t> b/c </a:t>
            </a:r>
            <a:r>
              <a:rPr lang="en-US" dirty="0" err="1">
                <a:solidFill>
                  <a:schemeClr val="tx1"/>
                </a:solidFill>
              </a:rPr>
              <a:t>transferTo</a:t>
            </a:r>
            <a:r>
              <a:rPr lang="en-US" dirty="0">
                <a:solidFill>
                  <a:schemeClr val="tx1"/>
                </a:solidFill>
              </a:rPr>
              <a:t> is synchronized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acquire lock for account x</a:t>
            </a:r>
            <a:r>
              <a:rPr lang="en-US" dirty="0">
                <a:solidFill>
                  <a:schemeClr val="tx1"/>
                </a:solidFill>
              </a:rPr>
              <a:t> b/c deposit is synchronized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release lock for account x</a:t>
            </a:r>
            <a:r>
              <a:rPr lang="en-US" dirty="0">
                <a:solidFill>
                  <a:schemeClr val="tx1"/>
                </a:solidFill>
              </a:rPr>
              <a:t> after deposit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release lock for account y</a:t>
            </a:r>
            <a:r>
              <a:rPr lang="en-US" dirty="0">
                <a:solidFill>
                  <a:schemeClr val="tx1"/>
                </a:solidFill>
              </a:rPr>
              <a:t> at end of </a:t>
            </a:r>
            <a:r>
              <a:rPr lang="en-US" dirty="0" err="1">
                <a:solidFill>
                  <a:schemeClr val="tx1"/>
                </a:solidFill>
              </a:rPr>
              <a:t>transferTo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8582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4874-7598-75F3-A2CC-FBE80781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Deadlock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D818AA-EFE4-7F48-8EF7-33057CEB31CC}"/>
              </a:ext>
            </a:extLst>
          </p:cNvPr>
          <p:cNvSpPr/>
          <p:nvPr/>
        </p:nvSpPr>
        <p:spPr>
          <a:xfrm>
            <a:off x="3478179" y="2172832"/>
            <a:ext cx="2165657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x.transferTo</a:t>
            </a:r>
            <a:r>
              <a:rPr lang="en-US" dirty="0">
                <a:solidFill>
                  <a:schemeClr val="tx1"/>
                </a:solidFill>
              </a:rPr>
              <a:t>(1,y);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BA55D-D713-BF6A-8ED2-33DA599C57B9}"/>
              </a:ext>
            </a:extLst>
          </p:cNvPr>
          <p:cNvSpPr txBox="1"/>
          <p:nvPr/>
        </p:nvSpPr>
        <p:spPr>
          <a:xfrm>
            <a:off x="347818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9B78A1-0032-E1E0-0BA8-5D5E4C8B0F5B}"/>
              </a:ext>
            </a:extLst>
          </p:cNvPr>
          <p:cNvSpPr/>
          <p:nvPr/>
        </p:nvSpPr>
        <p:spPr>
          <a:xfrm>
            <a:off x="6548167" y="2172832"/>
            <a:ext cx="2829514" cy="8561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y.transferTo</a:t>
            </a:r>
            <a:r>
              <a:rPr lang="en-US" dirty="0">
                <a:solidFill>
                  <a:schemeClr val="tx1"/>
                </a:solidFill>
              </a:rPr>
              <a:t>(1,x);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8721B4-28B3-5EE4-95FD-F71534E5B6AC}"/>
              </a:ext>
            </a:extLst>
          </p:cNvPr>
          <p:cNvSpPr txBox="1"/>
          <p:nvPr/>
        </p:nvSpPr>
        <p:spPr>
          <a:xfrm>
            <a:off x="6878320" y="1865651"/>
            <a:ext cx="1076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26526B-ABE2-8331-53E8-2718273955D5}"/>
              </a:ext>
            </a:extLst>
          </p:cNvPr>
          <p:cNvSpPr/>
          <p:nvPr/>
        </p:nvSpPr>
        <p:spPr>
          <a:xfrm>
            <a:off x="355600" y="3437614"/>
            <a:ext cx="5902129" cy="32679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acquire lock for account x</a:t>
            </a:r>
            <a:r>
              <a:rPr lang="en-US" dirty="0">
                <a:solidFill>
                  <a:schemeClr val="tx1"/>
                </a:solidFill>
              </a:rPr>
              <a:t> b/c </a:t>
            </a:r>
            <a:r>
              <a:rPr lang="en-US" dirty="0" err="1">
                <a:solidFill>
                  <a:schemeClr val="tx1"/>
                </a:solidFill>
              </a:rPr>
              <a:t>transferTo</a:t>
            </a:r>
            <a:r>
              <a:rPr lang="en-US" dirty="0">
                <a:solidFill>
                  <a:schemeClr val="tx1"/>
                </a:solidFill>
              </a:rPr>
              <a:t> is synchronized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acquire lock for account y</a:t>
            </a:r>
            <a:r>
              <a:rPr lang="en-US" dirty="0">
                <a:solidFill>
                  <a:schemeClr val="tx1"/>
                </a:solidFill>
              </a:rPr>
              <a:t> b/c deposit is synchronized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release lock for account y</a:t>
            </a:r>
            <a:r>
              <a:rPr lang="en-US" dirty="0">
                <a:solidFill>
                  <a:schemeClr val="tx1"/>
                </a:solidFill>
              </a:rPr>
              <a:t> after </a:t>
            </a:r>
            <a:r>
              <a:rPr lang="en-US" dirty="0" err="1">
                <a:solidFill>
                  <a:schemeClr val="tx1"/>
                </a:solidFill>
              </a:rPr>
              <a:t>depost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release lock for account x </a:t>
            </a:r>
            <a:r>
              <a:rPr lang="en-US" dirty="0">
                <a:solidFill>
                  <a:schemeClr val="tx1"/>
                </a:solidFill>
              </a:rPr>
              <a:t>at end of </a:t>
            </a:r>
            <a:r>
              <a:rPr lang="en-US" dirty="0" err="1">
                <a:solidFill>
                  <a:schemeClr val="tx1"/>
                </a:solidFill>
              </a:rPr>
              <a:t>transferTo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DB5831-0F18-E385-D329-3B1A55566C6B}"/>
              </a:ext>
            </a:extLst>
          </p:cNvPr>
          <p:cNvSpPr txBox="1"/>
          <p:nvPr/>
        </p:nvSpPr>
        <p:spPr>
          <a:xfrm>
            <a:off x="7664661" y="438190"/>
            <a:ext cx="45273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Expected Behavior:</a:t>
            </a:r>
          </a:p>
          <a:p>
            <a:r>
              <a:rPr lang="en-US" dirty="0"/>
              <a:t>Thread 2 items from a stack are popped in LIFO order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5182F8-642A-68C5-38B4-4E1AD6C388B6}"/>
              </a:ext>
            </a:extLst>
          </p:cNvPr>
          <p:cNvSpPr/>
          <p:nvPr/>
        </p:nvSpPr>
        <p:spPr>
          <a:xfrm>
            <a:off x="6257729" y="3437614"/>
            <a:ext cx="5902129" cy="32679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acquire lock for account y</a:t>
            </a:r>
            <a:r>
              <a:rPr lang="en-US" dirty="0">
                <a:solidFill>
                  <a:schemeClr val="tx1"/>
                </a:solidFill>
              </a:rPr>
              <a:t> b/c </a:t>
            </a:r>
            <a:r>
              <a:rPr lang="en-US" dirty="0" err="1">
                <a:solidFill>
                  <a:schemeClr val="tx1"/>
                </a:solidFill>
              </a:rPr>
              <a:t>transferTo</a:t>
            </a:r>
            <a:r>
              <a:rPr lang="en-US" dirty="0">
                <a:solidFill>
                  <a:schemeClr val="tx1"/>
                </a:solidFill>
              </a:rPr>
              <a:t> is synchronized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acquire lock for account x</a:t>
            </a:r>
            <a:r>
              <a:rPr lang="en-US" dirty="0">
                <a:solidFill>
                  <a:schemeClr val="tx1"/>
                </a:solidFill>
              </a:rPr>
              <a:t> b/c deposit is synchronized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release lock for account x</a:t>
            </a:r>
            <a:r>
              <a:rPr lang="en-US" dirty="0">
                <a:solidFill>
                  <a:schemeClr val="tx1"/>
                </a:solidFill>
              </a:rPr>
              <a:t> after deposit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release lock for account y</a:t>
            </a:r>
            <a:r>
              <a:rPr lang="en-US" dirty="0">
                <a:solidFill>
                  <a:schemeClr val="tx1"/>
                </a:solidFill>
              </a:rPr>
              <a:t> at end of </a:t>
            </a:r>
            <a:r>
              <a:rPr lang="en-US" dirty="0" err="1">
                <a:solidFill>
                  <a:schemeClr val="tx1"/>
                </a:solidFill>
              </a:rPr>
              <a:t>transferTo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9663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6E02C-5673-38D6-4439-D43D5A72E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Resolving Deadlocks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0BB86-88A0-A30B-3F0C-216BDA9EB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Deadlocks occur when there are multiple locks necessary to complete a task and different threads may obtain them in a different order</a:t>
            </a:r>
          </a:p>
          <a:p>
            <a:r>
              <a:rPr lang="en-US" dirty="0"/>
              <a:t>Option 1:</a:t>
            </a:r>
          </a:p>
          <a:p>
            <a:pPr lvl="1"/>
            <a:r>
              <a:rPr lang="en-US" dirty="0"/>
              <a:t>Have a coarser lock granularity</a:t>
            </a:r>
          </a:p>
          <a:p>
            <a:pPr lvl="1"/>
            <a:r>
              <a:rPr lang="en-US" dirty="0"/>
              <a:t>E.g. one lock for ALL bank accounts</a:t>
            </a:r>
          </a:p>
          <a:p>
            <a:r>
              <a:rPr lang="en-US" dirty="0"/>
              <a:t>Option 2:</a:t>
            </a:r>
          </a:p>
          <a:p>
            <a:pPr lvl="1"/>
            <a:r>
              <a:rPr lang="en-US" dirty="0"/>
              <a:t>Have a finer critical section so that only one lock is needed at a time</a:t>
            </a:r>
          </a:p>
          <a:p>
            <a:pPr lvl="1"/>
            <a:r>
              <a:rPr lang="en-US" dirty="0"/>
              <a:t>E.g. instead of a synchronized </a:t>
            </a:r>
            <a:r>
              <a:rPr lang="en-US" dirty="0" err="1"/>
              <a:t>transferTo</a:t>
            </a:r>
            <a:r>
              <a:rPr lang="en-US" dirty="0"/>
              <a:t>, have the withdraw and deposit steps locked separately</a:t>
            </a:r>
          </a:p>
          <a:p>
            <a:r>
              <a:rPr lang="en-US" dirty="0"/>
              <a:t>Option 3:</a:t>
            </a:r>
          </a:p>
          <a:p>
            <a:pPr lvl="1"/>
            <a:r>
              <a:rPr lang="en-US" dirty="0"/>
              <a:t>Force the threads to always acquire the locks in the same order</a:t>
            </a:r>
          </a:p>
          <a:p>
            <a:pPr lvl="1"/>
            <a:r>
              <a:rPr lang="en-US" dirty="0"/>
              <a:t>E.g. make </a:t>
            </a:r>
            <a:r>
              <a:rPr lang="en-US" dirty="0" err="1"/>
              <a:t>transferTo</a:t>
            </a:r>
            <a:r>
              <a:rPr lang="en-US" dirty="0"/>
              <a:t> acquire both locks before doing either the withdraw or deposit, make sure both threads agree on the order to </a:t>
            </a:r>
            <a:r>
              <a:rPr lang="en-US" dirty="0" err="1"/>
              <a:t>aquire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3935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AB745-D356-74D1-E331-F346B6597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1: Coarser Locking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628D0-6B82-E387-27DA-5147E3588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static final Object BANK = new Object();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… </a:t>
            </a:r>
          </a:p>
          <a:p>
            <a:pPr marL="0" indent="0">
              <a:buNone/>
            </a:pPr>
            <a:r>
              <a:rPr lang="en-US" dirty="0"/>
              <a:t>	synchronized void withdraw(int amt) {…} </a:t>
            </a:r>
          </a:p>
          <a:p>
            <a:pPr marL="0" indent="0">
              <a:buNone/>
            </a:pPr>
            <a:r>
              <a:rPr lang="en-US" dirty="0"/>
              <a:t>	synchronized void deposit(int amt) {…}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transferTo</a:t>
            </a:r>
            <a:r>
              <a:rPr lang="en-US" dirty="0"/>
              <a:t>(int amt, </a:t>
            </a:r>
            <a:r>
              <a:rPr lang="en-US" dirty="0" err="1"/>
              <a:t>BankAccount</a:t>
            </a:r>
            <a:r>
              <a:rPr lang="en-US" dirty="0"/>
              <a:t> a) {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synchronized(BANK){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this.withdraw</a:t>
            </a:r>
            <a:r>
              <a:rPr lang="en-US" dirty="0"/>
              <a:t>(amt);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a.deposit</a:t>
            </a:r>
            <a:r>
              <a:rPr lang="en-US" dirty="0"/>
              <a:t>(amt);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}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13522168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AB745-D356-74D1-E331-F346B6597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2: Finer Critical Section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628D0-6B82-E387-27DA-5147E3588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11365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… </a:t>
            </a:r>
          </a:p>
          <a:p>
            <a:pPr marL="0" indent="0">
              <a:buNone/>
            </a:pPr>
            <a:r>
              <a:rPr lang="en-US" dirty="0"/>
              <a:t>	synchronized void withdraw(int amt) {…} </a:t>
            </a:r>
          </a:p>
          <a:p>
            <a:pPr marL="0" indent="0">
              <a:buNone/>
            </a:pPr>
            <a:r>
              <a:rPr lang="en-US" dirty="0"/>
              <a:t>	synchronized void deposit(int amt) {…}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transferTo</a:t>
            </a:r>
            <a:r>
              <a:rPr lang="en-US" dirty="0"/>
              <a:t>(int amt, </a:t>
            </a:r>
            <a:r>
              <a:rPr lang="en-US" dirty="0" err="1"/>
              <a:t>BankAccount</a:t>
            </a:r>
            <a:r>
              <a:rPr lang="en-US" dirty="0"/>
              <a:t> a) {</a:t>
            </a:r>
          </a:p>
          <a:p>
            <a:pPr marL="0" indent="0">
              <a:buNone/>
            </a:pPr>
            <a:r>
              <a:rPr lang="en-US" dirty="0"/>
              <a:t>		synchronized(this){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this.withdraw</a:t>
            </a:r>
            <a:r>
              <a:rPr lang="en-US" dirty="0"/>
              <a:t>(amt); </a:t>
            </a:r>
          </a:p>
          <a:p>
            <a:pPr marL="0" indent="0">
              <a:buNone/>
            </a:pPr>
            <a:r>
              <a:rPr lang="en-US" dirty="0"/>
              <a:t>		}</a:t>
            </a:r>
          </a:p>
          <a:p>
            <a:pPr marL="0" indent="0">
              <a:buNone/>
            </a:pPr>
            <a:r>
              <a:rPr lang="en-US" dirty="0"/>
              <a:t>		synchronized(a){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 err="1"/>
              <a:t>a.deposit</a:t>
            </a:r>
            <a:r>
              <a:rPr lang="en-US" dirty="0"/>
              <a:t>(amt);</a:t>
            </a:r>
          </a:p>
          <a:p>
            <a:pPr marL="0" indent="0">
              <a:buNone/>
            </a:pPr>
            <a:r>
              <a:rPr lang="en-US" dirty="0"/>
              <a:t>		} 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721836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AB745-D356-74D1-E331-F346B6597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3675"/>
            <a:ext cx="10515600" cy="1325563"/>
          </a:xfrm>
        </p:spPr>
        <p:txBody>
          <a:bodyPr/>
          <a:lstStyle/>
          <a:p>
            <a:r>
              <a:rPr lang="en-US" dirty="0"/>
              <a:t>Option 3: First Get All Locks In A Fixed 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628D0-6B82-E387-27DA-5147E3588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51840"/>
            <a:ext cx="10515600" cy="618743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 </a:t>
            </a:r>
          </a:p>
          <a:p>
            <a:pPr marL="0" indent="0">
              <a:buNone/>
            </a:pPr>
            <a:r>
              <a:rPr lang="en-US" dirty="0"/>
              <a:t>	… </a:t>
            </a:r>
          </a:p>
          <a:p>
            <a:pPr marL="0" indent="0">
              <a:buNone/>
            </a:pPr>
            <a:r>
              <a:rPr lang="en-US" dirty="0"/>
              <a:t>	synchronized void withdraw(int amt) {…} </a:t>
            </a:r>
          </a:p>
          <a:p>
            <a:pPr marL="0" indent="0">
              <a:buNone/>
            </a:pPr>
            <a:r>
              <a:rPr lang="en-US" dirty="0"/>
              <a:t>	synchronized void deposit(int amt) {…} </a:t>
            </a:r>
          </a:p>
          <a:p>
            <a:pPr marL="0" indent="0">
              <a:buNone/>
            </a:pPr>
            <a:r>
              <a:rPr lang="en-US" dirty="0"/>
              <a:t>	void </a:t>
            </a:r>
            <a:r>
              <a:rPr lang="en-US" dirty="0" err="1"/>
              <a:t>transferTo</a:t>
            </a:r>
            <a:r>
              <a:rPr lang="en-US" dirty="0"/>
              <a:t>(int amt, </a:t>
            </a:r>
            <a:r>
              <a:rPr lang="en-US" dirty="0" err="1"/>
              <a:t>BankAccount</a:t>
            </a:r>
            <a:r>
              <a:rPr lang="en-US" dirty="0"/>
              <a:t> a) {</a:t>
            </a:r>
          </a:p>
          <a:p>
            <a:pPr marL="0" indent="0">
              <a:buNone/>
            </a:pPr>
            <a:r>
              <a:rPr lang="en-US" dirty="0"/>
              <a:t>		if (</a:t>
            </a:r>
            <a:r>
              <a:rPr lang="en-US" dirty="0" err="1"/>
              <a:t>this.acctNum</a:t>
            </a:r>
            <a:r>
              <a:rPr lang="en-US" dirty="0"/>
              <a:t> &lt; </a:t>
            </a:r>
            <a:r>
              <a:rPr lang="en-US" dirty="0" err="1"/>
              <a:t>a.acctNum</a:t>
            </a:r>
            <a:r>
              <a:rPr lang="en-US" dirty="0"/>
              <a:t>){</a:t>
            </a:r>
          </a:p>
          <a:p>
            <a:pPr marL="0" indent="0">
              <a:buNone/>
            </a:pPr>
            <a:r>
              <a:rPr lang="en-US" dirty="0"/>
              <a:t>			synchronized(this){</a:t>
            </a:r>
          </a:p>
          <a:p>
            <a:pPr marL="0" indent="0">
              <a:buNone/>
            </a:pPr>
            <a:r>
              <a:rPr lang="en-US" dirty="0"/>
              <a:t>				synchronized(a){ </a:t>
            </a:r>
          </a:p>
          <a:p>
            <a:pPr marL="0" indent="0">
              <a:buNone/>
            </a:pPr>
            <a:r>
              <a:rPr lang="en-US" dirty="0"/>
              <a:t>					</a:t>
            </a:r>
            <a:r>
              <a:rPr lang="en-US" dirty="0" err="1"/>
              <a:t>this.withdraw</a:t>
            </a:r>
            <a:r>
              <a:rPr lang="en-US" dirty="0"/>
              <a:t>(amt); </a:t>
            </a:r>
          </a:p>
          <a:p>
            <a:pPr marL="0" indent="0">
              <a:buNone/>
            </a:pPr>
            <a:r>
              <a:rPr lang="en-US" dirty="0"/>
              <a:t>					</a:t>
            </a:r>
            <a:r>
              <a:rPr lang="en-US" dirty="0" err="1"/>
              <a:t>a.deposit</a:t>
            </a:r>
            <a:r>
              <a:rPr lang="en-US" dirty="0"/>
              <a:t>(amt);</a:t>
            </a:r>
          </a:p>
          <a:p>
            <a:pPr marL="0" indent="0">
              <a:buNone/>
            </a:pPr>
            <a:r>
              <a:rPr lang="en-US" dirty="0"/>
              <a:t>		} } }</a:t>
            </a:r>
          </a:p>
          <a:p>
            <a:pPr marL="0" indent="0">
              <a:buNone/>
            </a:pPr>
            <a:r>
              <a:rPr lang="en-US" dirty="0"/>
              <a:t>		else {</a:t>
            </a:r>
          </a:p>
          <a:p>
            <a:pPr marL="0" indent="0">
              <a:buNone/>
            </a:pPr>
            <a:r>
              <a:rPr lang="en-US" dirty="0"/>
              <a:t>			synchronized(a){</a:t>
            </a:r>
          </a:p>
          <a:p>
            <a:pPr marL="0" indent="0">
              <a:buNone/>
            </a:pPr>
            <a:r>
              <a:rPr lang="en-US" dirty="0"/>
              <a:t>				synchronized(this){ </a:t>
            </a:r>
          </a:p>
          <a:p>
            <a:pPr marL="0" indent="0">
              <a:buNone/>
            </a:pPr>
            <a:r>
              <a:rPr lang="en-US" dirty="0"/>
              <a:t>					</a:t>
            </a:r>
            <a:r>
              <a:rPr lang="en-US" dirty="0" err="1"/>
              <a:t>this.withdraw</a:t>
            </a:r>
            <a:r>
              <a:rPr lang="en-US" dirty="0"/>
              <a:t>(amt); </a:t>
            </a:r>
          </a:p>
          <a:p>
            <a:pPr marL="0" indent="0">
              <a:buNone/>
            </a:pPr>
            <a:r>
              <a:rPr lang="en-US" dirty="0"/>
              <a:t>					</a:t>
            </a:r>
            <a:r>
              <a:rPr lang="en-US" dirty="0" err="1"/>
              <a:t>a.deposit</a:t>
            </a:r>
            <a:r>
              <a:rPr lang="en-US" dirty="0"/>
              <a:t>(amt);</a:t>
            </a:r>
          </a:p>
          <a:p>
            <a:pPr marL="0" indent="0">
              <a:buNone/>
            </a:pPr>
            <a:r>
              <a:rPr lang="en-US" dirty="0"/>
              <a:t>		} } }		</a:t>
            </a:r>
          </a:p>
          <a:p>
            <a:pPr marL="0" indent="0">
              <a:buNone/>
            </a:pPr>
            <a:r>
              <a:rPr lang="en-US" dirty="0"/>
              <a:t>	}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42188615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68F22-9A08-0993-D878-46864D92F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Code Conventional Wisdom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32497-4370-4006-0BE4-92CEAB21A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4485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5F9FC-FCC2-7595-4DA6-972C382C3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EF2E3-1391-65DE-BDE7-03579C50B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All memory must fit one of three categories: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Thread Local: Each thread has its own copy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Shared and Immutable: There is just one copy, but nothing will ever write to it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Shared and Mutable: There is just one copy, it may change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Requires Synchronization!</a:t>
            </a:r>
          </a:p>
        </p:txBody>
      </p:sp>
    </p:spTree>
    <p:extLst>
      <p:ext uri="{BB962C8B-B14F-4D97-AF65-F5344CB8AC3E}">
        <p14:creationId xmlns:p14="http://schemas.microsoft.com/office/powerpoint/2010/main" val="379149639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6891D-8375-FE99-21C6-EBE114E15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Local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15F66-6709-670F-93F3-2247BD9C7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Whenever possible, avoid sharing resources</a:t>
            </a:r>
          </a:p>
          <a:p>
            <a:r>
              <a:rPr lang="en-US" dirty="0"/>
              <a:t>Dodges all race conditions, since no other threads can touch it!</a:t>
            </a:r>
          </a:p>
          <a:p>
            <a:pPr lvl="1"/>
            <a:r>
              <a:rPr lang="en-US" dirty="0"/>
              <a:t>No synchronization necessary! (Remember </a:t>
            </a:r>
            <a:r>
              <a:rPr lang="en-US" dirty="0" err="1"/>
              <a:t>Ahmdal’s</a:t>
            </a:r>
            <a:r>
              <a:rPr lang="en-US" dirty="0"/>
              <a:t> law)</a:t>
            </a:r>
          </a:p>
          <a:p>
            <a:r>
              <a:rPr lang="en-US" dirty="0"/>
              <a:t>Use whenever threads do not need to communicate using the resource</a:t>
            </a:r>
          </a:p>
          <a:p>
            <a:pPr lvl="1"/>
            <a:r>
              <a:rPr lang="en-US" dirty="0"/>
              <a:t>E.g., each thread should have its on Random object</a:t>
            </a:r>
          </a:p>
          <a:p>
            <a:r>
              <a:rPr lang="en-US" dirty="0"/>
              <a:t>In most cases, most objects should be in this category</a:t>
            </a:r>
          </a:p>
        </p:txBody>
      </p:sp>
    </p:spTree>
    <p:extLst>
      <p:ext uri="{BB962C8B-B14F-4D97-AF65-F5344CB8AC3E}">
        <p14:creationId xmlns:p14="http://schemas.microsoft.com/office/powerpoint/2010/main" val="183954233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B2544-9CC0-FB0D-054C-7DA324CAC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Immutable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90D9C-3674-310D-619B-0737288B3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Whenever possible, avoid changing objects</a:t>
            </a:r>
          </a:p>
          <a:p>
            <a:pPr lvl="1"/>
            <a:r>
              <a:rPr lang="en-US" dirty="0"/>
              <a:t>Make new objects instead</a:t>
            </a:r>
          </a:p>
          <a:p>
            <a:r>
              <a:rPr lang="en-US" dirty="0"/>
              <a:t>Parallel reads are not data races</a:t>
            </a:r>
          </a:p>
          <a:p>
            <a:pPr lvl="1"/>
            <a:r>
              <a:rPr lang="en-US" dirty="0"/>
              <a:t>If an object is never written to, no synchronization necessary!</a:t>
            </a:r>
          </a:p>
          <a:p>
            <a:r>
              <a:rPr lang="en-US" dirty="0"/>
              <a:t>Many programmers over-use mutation, minimize it</a:t>
            </a:r>
          </a:p>
        </p:txBody>
      </p:sp>
    </p:spTree>
    <p:extLst>
      <p:ext uri="{BB962C8B-B14F-4D97-AF65-F5344CB8AC3E}">
        <p14:creationId xmlns:p14="http://schemas.microsoft.com/office/powerpoint/2010/main" val="384942675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D68A4-910D-48CC-0436-66F2F2FFF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and Mutable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1BC2D-B37B-2C4D-BE10-5A3797639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everything else, use locks</a:t>
            </a:r>
          </a:p>
          <a:p>
            <a:r>
              <a:rPr lang="en-US" dirty="0"/>
              <a:t>Avoid all data races</a:t>
            </a:r>
          </a:p>
          <a:p>
            <a:pPr lvl="1"/>
            <a:r>
              <a:rPr lang="en-US" dirty="0"/>
              <a:t>Every read and write should be projected with a lock, even if it “seems safe”</a:t>
            </a:r>
          </a:p>
          <a:p>
            <a:pPr lvl="1"/>
            <a:r>
              <a:rPr lang="en-US" dirty="0"/>
              <a:t>Almost every Java/C program with a data race is wrong</a:t>
            </a:r>
          </a:p>
          <a:p>
            <a:r>
              <a:rPr lang="en-US" dirty="0"/>
              <a:t>Even without data races, it still may be incorrect</a:t>
            </a:r>
          </a:p>
          <a:p>
            <a:pPr lvl="1"/>
            <a:r>
              <a:rPr lang="en-US" dirty="0"/>
              <a:t>Watch for bad </a:t>
            </a:r>
            <a:r>
              <a:rPr lang="en-US" dirty="0" err="1"/>
              <a:t>interleavings</a:t>
            </a:r>
            <a:r>
              <a:rPr lang="en-US" dirty="0"/>
              <a:t> as well!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35228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0955C-25A9-B2A3-AFBC-4B1D253E0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Consistent Locking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BE940-22B3-5589-4120-B555EBEC9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each location needing synchronization, have a lock that is always held when reading or writing the location</a:t>
            </a:r>
          </a:p>
          <a:p>
            <a:r>
              <a:rPr lang="en-US" dirty="0"/>
              <a:t>The same lock can (and often should) “guard” multiple fields/objects</a:t>
            </a:r>
          </a:p>
          <a:p>
            <a:pPr lvl="1"/>
            <a:r>
              <a:rPr lang="en-US" dirty="0"/>
              <a:t>Clearly document what each lock guards!</a:t>
            </a:r>
          </a:p>
          <a:p>
            <a:pPr lvl="1"/>
            <a:r>
              <a:rPr lang="en-US" dirty="0"/>
              <a:t>In Java, the lock should usually be the object itself (i.e. “this”)</a:t>
            </a:r>
          </a:p>
          <a:p>
            <a:r>
              <a:rPr lang="en-US" dirty="0"/>
              <a:t>Have a mapping between memory locations and lock objects and stick to it!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81577DD-8FD9-9AD9-885F-3D517938C6E5}"/>
              </a:ext>
            </a:extLst>
          </p:cNvPr>
          <p:cNvSpPr/>
          <p:nvPr/>
        </p:nvSpPr>
        <p:spPr>
          <a:xfrm>
            <a:off x="3393440" y="5069840"/>
            <a:ext cx="396240" cy="396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1DA4BCB-B840-E23A-D909-CCF2B6BB9715}"/>
              </a:ext>
            </a:extLst>
          </p:cNvPr>
          <p:cNvSpPr/>
          <p:nvPr/>
        </p:nvSpPr>
        <p:spPr>
          <a:xfrm>
            <a:off x="4582160" y="5024120"/>
            <a:ext cx="396240" cy="396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306CE46-E52A-8089-5737-93BA6D4D0C96}"/>
              </a:ext>
            </a:extLst>
          </p:cNvPr>
          <p:cNvSpPr/>
          <p:nvPr/>
        </p:nvSpPr>
        <p:spPr>
          <a:xfrm>
            <a:off x="3987800" y="5069840"/>
            <a:ext cx="396240" cy="396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Lock Icon Stock Illustration - Download Image Now - Lock, Locking, Icon -  iStock">
            <a:extLst>
              <a:ext uri="{FF2B5EF4-FFF2-40B4-BE49-F238E27FC236}">
                <a16:creationId xmlns:a16="http://schemas.microsoft.com/office/drawing/2014/main" id="{12BF3E40-7798-000B-70F0-ABC980897B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02" t="10872" r="23580" b="10491"/>
          <a:stretch/>
        </p:blipFill>
        <p:spPr bwMode="auto">
          <a:xfrm>
            <a:off x="3987800" y="5713254"/>
            <a:ext cx="361938" cy="54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9B28564-6754-5437-B662-DB42C2261A4C}"/>
              </a:ext>
            </a:extLst>
          </p:cNvPr>
          <p:cNvCxnSpPr>
            <a:cxnSpLocks/>
            <a:stCxn id="4" idx="4"/>
            <a:endCxn id="1026" idx="0"/>
          </p:cNvCxnSpPr>
          <p:nvPr/>
        </p:nvCxnSpPr>
        <p:spPr>
          <a:xfrm>
            <a:off x="3591560" y="5466080"/>
            <a:ext cx="577209" cy="2471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33DC13-B389-D700-8088-2E7A18BAA99C}"/>
              </a:ext>
            </a:extLst>
          </p:cNvPr>
          <p:cNvCxnSpPr>
            <a:cxnSpLocks/>
            <a:stCxn id="6" idx="4"/>
            <a:endCxn id="1026" idx="0"/>
          </p:cNvCxnSpPr>
          <p:nvPr/>
        </p:nvCxnSpPr>
        <p:spPr>
          <a:xfrm flipH="1">
            <a:off x="4168769" y="5466080"/>
            <a:ext cx="17151" cy="2471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4507CB1-7832-EEB4-B6A5-C67E1913F643}"/>
              </a:ext>
            </a:extLst>
          </p:cNvPr>
          <p:cNvCxnSpPr>
            <a:cxnSpLocks/>
            <a:stCxn id="5" idx="4"/>
            <a:endCxn id="1026" idx="0"/>
          </p:cNvCxnSpPr>
          <p:nvPr/>
        </p:nvCxnSpPr>
        <p:spPr>
          <a:xfrm flipH="1">
            <a:off x="4168769" y="5420360"/>
            <a:ext cx="611511" cy="2928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2D000D68-FFF8-4EFD-3C14-C45241A874C9}"/>
              </a:ext>
            </a:extLst>
          </p:cNvPr>
          <p:cNvSpPr/>
          <p:nvPr/>
        </p:nvSpPr>
        <p:spPr>
          <a:xfrm>
            <a:off x="6003931" y="4957128"/>
            <a:ext cx="396240" cy="396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2533211-2389-E0D6-BD14-CA40BEB073C4}"/>
              </a:ext>
            </a:extLst>
          </p:cNvPr>
          <p:cNvSpPr/>
          <p:nvPr/>
        </p:nvSpPr>
        <p:spPr>
          <a:xfrm>
            <a:off x="7192651" y="4911408"/>
            <a:ext cx="396240" cy="396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2" descr="Lock Icon Stock Illustration - Download Image Now - Lock, Locking, Icon -  iStock">
            <a:extLst>
              <a:ext uri="{FF2B5EF4-FFF2-40B4-BE49-F238E27FC236}">
                <a16:creationId xmlns:a16="http://schemas.microsoft.com/office/drawing/2014/main" id="{19673F94-4B64-11B3-33A6-4DBBD8B777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02" t="10872" r="23580" b="10491"/>
          <a:stretch/>
        </p:blipFill>
        <p:spPr bwMode="auto">
          <a:xfrm>
            <a:off x="6598291" y="5600542"/>
            <a:ext cx="361938" cy="54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3237DFB-6235-79F0-97A7-B6D83CC0FEA2}"/>
              </a:ext>
            </a:extLst>
          </p:cNvPr>
          <p:cNvCxnSpPr>
            <a:cxnSpLocks/>
            <a:stCxn id="16" idx="4"/>
            <a:endCxn id="19" idx="0"/>
          </p:cNvCxnSpPr>
          <p:nvPr/>
        </p:nvCxnSpPr>
        <p:spPr>
          <a:xfrm>
            <a:off x="6202051" y="5353368"/>
            <a:ext cx="577209" cy="2471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F8FA8E0-58BD-1596-FB94-73B07082C10E}"/>
              </a:ext>
            </a:extLst>
          </p:cNvPr>
          <p:cNvCxnSpPr>
            <a:cxnSpLocks/>
            <a:stCxn id="17" idx="4"/>
            <a:endCxn id="19" idx="0"/>
          </p:cNvCxnSpPr>
          <p:nvPr/>
        </p:nvCxnSpPr>
        <p:spPr>
          <a:xfrm flipH="1">
            <a:off x="6779260" y="5307648"/>
            <a:ext cx="611511" cy="2928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C4D660FD-E3EA-5857-DED0-2FF6289614CF}"/>
              </a:ext>
            </a:extLst>
          </p:cNvPr>
          <p:cNvSpPr/>
          <p:nvPr/>
        </p:nvSpPr>
        <p:spPr>
          <a:xfrm>
            <a:off x="1916116" y="4957128"/>
            <a:ext cx="396240" cy="3962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" descr="Lock Icon Stock Illustration - Download Image Now - Lock, Locking, Icon -  iStock">
            <a:extLst>
              <a:ext uri="{FF2B5EF4-FFF2-40B4-BE49-F238E27FC236}">
                <a16:creationId xmlns:a16="http://schemas.microsoft.com/office/drawing/2014/main" id="{710A18DC-401F-68BA-C1EC-52F5FFF228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02" t="10872" r="23580" b="10491"/>
          <a:stretch/>
        </p:blipFill>
        <p:spPr bwMode="auto">
          <a:xfrm>
            <a:off x="1916116" y="5600542"/>
            <a:ext cx="361938" cy="54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75ACF62-48CF-8852-F989-3128D30DBD3B}"/>
              </a:ext>
            </a:extLst>
          </p:cNvPr>
          <p:cNvCxnSpPr>
            <a:cxnSpLocks/>
            <a:stCxn id="25" idx="4"/>
            <a:endCxn id="26" idx="0"/>
          </p:cNvCxnSpPr>
          <p:nvPr/>
        </p:nvCxnSpPr>
        <p:spPr>
          <a:xfrm flipH="1">
            <a:off x="2097085" y="5353368"/>
            <a:ext cx="17151" cy="2471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28473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7CE9F-71A4-091E-38F4-0E9AC18DD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Lock Granularity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0479E-F96C-37FB-4532-C0B632D59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Coarse Grained: Fewer locks guarding more things each</a:t>
            </a:r>
          </a:p>
          <a:p>
            <a:pPr lvl="1"/>
            <a:r>
              <a:rPr lang="en-US" dirty="0"/>
              <a:t>One lock for an entire data structure</a:t>
            </a:r>
          </a:p>
          <a:p>
            <a:pPr lvl="1"/>
            <a:r>
              <a:rPr lang="en-US" dirty="0"/>
              <a:t>One lock shared by multiple objects (e.g. one lock for all bank accounts)</a:t>
            </a:r>
          </a:p>
          <a:p>
            <a:r>
              <a:rPr lang="en-US" dirty="0"/>
              <a:t>Fine Grained: More locks guarding fewer things each</a:t>
            </a:r>
          </a:p>
          <a:p>
            <a:pPr lvl="1"/>
            <a:r>
              <a:rPr lang="en-US" dirty="0"/>
              <a:t>One lock per data structure location (e.g. array index)</a:t>
            </a:r>
          </a:p>
          <a:p>
            <a:pPr lvl="1"/>
            <a:r>
              <a:rPr lang="en-US" dirty="0"/>
              <a:t>One lock per object or per field in one object (e.g. one lock for each account)</a:t>
            </a:r>
          </a:p>
          <a:p>
            <a:r>
              <a:rPr lang="en-US" dirty="0"/>
              <a:t>Note: there’s really a continuum between them…</a:t>
            </a:r>
          </a:p>
        </p:txBody>
      </p:sp>
    </p:spTree>
    <p:extLst>
      <p:ext uri="{BB962C8B-B14F-4D97-AF65-F5344CB8AC3E}">
        <p14:creationId xmlns:p14="http://schemas.microsoft.com/office/powerpoint/2010/main" val="36261393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04CA6-1854-5021-AEEB-6D4AA75E4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Separate Chaining </a:t>
            </a:r>
            <a:r>
              <a:rPr lang="en-US" dirty="0" err="1"/>
              <a:t>Hashtable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75089-EBD9-F387-17F4-29696B6BF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Coarse-grained: One lock for the entire </a:t>
            </a:r>
            <a:r>
              <a:rPr lang="en-US" dirty="0" err="1"/>
              <a:t>hashtable</a:t>
            </a:r>
            <a:r>
              <a:rPr lang="en-US" dirty="0"/>
              <a:t> </a:t>
            </a:r>
          </a:p>
          <a:p>
            <a:r>
              <a:rPr lang="en-US" dirty="0"/>
              <a:t>Fine-grained: One lock for each bucket </a:t>
            </a:r>
          </a:p>
          <a:p>
            <a:r>
              <a:rPr lang="en-US" dirty="0"/>
              <a:t>Which supports more parallelism in insert and find?</a:t>
            </a:r>
          </a:p>
          <a:p>
            <a:r>
              <a:rPr lang="en-US" dirty="0"/>
              <a:t>Which makes rehashing easier?</a:t>
            </a:r>
          </a:p>
          <a:p>
            <a:r>
              <a:rPr lang="en-US" dirty="0"/>
              <a:t>What happens if you want to have a size field?</a:t>
            </a:r>
          </a:p>
        </p:txBody>
      </p:sp>
    </p:spTree>
    <p:extLst>
      <p:ext uri="{BB962C8B-B14F-4D97-AF65-F5344CB8AC3E}">
        <p14:creationId xmlns:p14="http://schemas.microsoft.com/office/powerpoint/2010/main" val="245024976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C1A01-CF23-81CE-05E5-CE64EE39A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Tradeoffs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68F36-3486-B957-F723-92EF8DB08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Coarse-Grained Locking:</a:t>
            </a:r>
          </a:p>
          <a:p>
            <a:pPr lvl="1"/>
            <a:r>
              <a:rPr lang="en-US" dirty="0"/>
              <a:t>Simpler to implement and avoid race conditions</a:t>
            </a:r>
          </a:p>
          <a:p>
            <a:pPr lvl="1"/>
            <a:r>
              <a:rPr lang="en-US" dirty="0"/>
              <a:t>Faster/easier to implement operations that access multiple locations (because all guarded by the same lock) </a:t>
            </a:r>
          </a:p>
          <a:p>
            <a:pPr lvl="1"/>
            <a:r>
              <a:rPr lang="en-US" dirty="0"/>
              <a:t>Much easier for operations that modify data-structure shape</a:t>
            </a:r>
          </a:p>
          <a:p>
            <a:r>
              <a:rPr lang="en-US" dirty="0"/>
              <a:t>Fine-Grained Locking:</a:t>
            </a:r>
          </a:p>
          <a:p>
            <a:pPr lvl="1"/>
            <a:r>
              <a:rPr lang="en-US" dirty="0"/>
              <a:t>More simultaneous access (performance when coarse grained would lead to unnecessary blocking) </a:t>
            </a:r>
          </a:p>
          <a:p>
            <a:pPr lvl="1"/>
            <a:r>
              <a:rPr lang="en-US" dirty="0"/>
              <a:t>Can make multi-location operations more difficult: say, rotations in an AVL tree</a:t>
            </a:r>
          </a:p>
          <a:p>
            <a:r>
              <a:rPr lang="en-US" dirty="0"/>
              <a:t>Guideline:</a:t>
            </a:r>
          </a:p>
          <a:p>
            <a:pPr lvl="1"/>
            <a:r>
              <a:rPr lang="en-US" dirty="0"/>
              <a:t>Start with coarse-grained, make finer only as necessary to improve performance</a:t>
            </a:r>
          </a:p>
        </p:txBody>
      </p:sp>
    </p:spTree>
    <p:extLst>
      <p:ext uri="{BB962C8B-B14F-4D97-AF65-F5344CB8AC3E}">
        <p14:creationId xmlns:p14="http://schemas.microsoft.com/office/powerpoint/2010/main" val="6527327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3DF02-FA78-B96F-86DD-2652C9EA6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 But Separate Issue: Critical Section Granularity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E8E75-4589-EA1E-4DF3-1CA20E41F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Coarse-grained</a:t>
            </a:r>
          </a:p>
          <a:p>
            <a:pPr lvl="1"/>
            <a:r>
              <a:rPr lang="en-US" dirty="0"/>
              <a:t>For every method that needs a lock, put the entire method body in a lock</a:t>
            </a:r>
          </a:p>
          <a:p>
            <a:r>
              <a:rPr lang="en-US" dirty="0"/>
              <a:t>Fine-grained</a:t>
            </a:r>
          </a:p>
          <a:p>
            <a:pPr lvl="1"/>
            <a:r>
              <a:rPr lang="en-US" dirty="0"/>
              <a:t>Keep the lock only for the sections of code where it’s necessary</a:t>
            </a:r>
          </a:p>
          <a:p>
            <a:r>
              <a:rPr lang="en-US" dirty="0"/>
              <a:t>Guideline:</a:t>
            </a:r>
          </a:p>
          <a:p>
            <a:pPr lvl="1"/>
            <a:r>
              <a:rPr lang="en-US" dirty="0"/>
              <a:t>Try to structure code so that expensive operations (like I/O) can be done outside of your critical section</a:t>
            </a:r>
          </a:p>
          <a:p>
            <a:pPr lvl="1"/>
            <a:r>
              <a:rPr lang="en-US" dirty="0"/>
              <a:t>E.g., if you’re trying to print all the values in a tree, maybe copy items into an array inside your critical section, then print the array’s contents outside.</a:t>
            </a:r>
          </a:p>
        </p:txBody>
      </p:sp>
    </p:spTree>
    <p:extLst>
      <p:ext uri="{BB962C8B-B14F-4D97-AF65-F5344CB8AC3E}">
        <p14:creationId xmlns:p14="http://schemas.microsoft.com/office/powerpoint/2010/main" val="405651754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DD581-6E2B-54C1-90F9-E93A6CB5F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Atomicity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661FC-6A57-8CB3-802A-294E8FE1C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Atomic: indivisible</a:t>
            </a:r>
          </a:p>
          <a:p>
            <a:r>
              <a:rPr lang="en-US" dirty="0"/>
              <a:t>Atomic operation: one that should be thought of as a single step</a:t>
            </a:r>
          </a:p>
          <a:p>
            <a:r>
              <a:rPr lang="en-US" dirty="0"/>
              <a:t>Some sequences of operations should behave as if they are one unit</a:t>
            </a:r>
          </a:p>
          <a:p>
            <a:pPr lvl="1"/>
            <a:r>
              <a:rPr lang="en-US" dirty="0"/>
              <a:t>Between two operations you may need to avoid exposing an intermediate state</a:t>
            </a:r>
          </a:p>
          <a:p>
            <a:pPr lvl="1"/>
            <a:r>
              <a:rPr lang="en-US" dirty="0"/>
              <a:t>Usually ADT operations should be atomic </a:t>
            </a:r>
          </a:p>
          <a:p>
            <a:pPr lvl="2"/>
            <a:r>
              <a:rPr lang="en-US" dirty="0"/>
              <a:t>You don’t want another thread trying to do an insert while another thread is rotating the AVL tree</a:t>
            </a:r>
          </a:p>
          <a:p>
            <a:r>
              <a:rPr lang="en-US" dirty="0"/>
              <a:t>Think first in terms of what operations need to be atomic</a:t>
            </a:r>
          </a:p>
          <a:p>
            <a:pPr lvl="1"/>
            <a:r>
              <a:rPr lang="en-US" dirty="0"/>
              <a:t>Design critical sections and locking granularity based on these decisions</a:t>
            </a:r>
          </a:p>
        </p:txBody>
      </p:sp>
    </p:spTree>
    <p:extLst>
      <p:ext uri="{BB962C8B-B14F-4D97-AF65-F5344CB8AC3E}">
        <p14:creationId xmlns:p14="http://schemas.microsoft.com/office/powerpoint/2010/main" val="249346956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51513-6257-4293-7965-2B7E9E3AD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Pre-Tested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2C62B-845C-D299-42D4-0CD1A84A5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Whenever possible, use built-in libraries!</a:t>
            </a:r>
          </a:p>
          <a:p>
            <a:r>
              <a:rPr lang="en-US" dirty="0"/>
              <a:t>Other people have already invested tons of effort into making things both efficient and correct, use their work when you can!</a:t>
            </a:r>
          </a:p>
          <a:p>
            <a:pPr lvl="1"/>
            <a:r>
              <a:rPr lang="en-US" dirty="0"/>
              <a:t>Especially true for concurrent data structures</a:t>
            </a:r>
          </a:p>
          <a:p>
            <a:pPr lvl="1"/>
            <a:r>
              <a:rPr lang="en-US" dirty="0"/>
              <a:t>Use thread-safe data structures when available</a:t>
            </a:r>
          </a:p>
          <a:p>
            <a:pPr lvl="2"/>
            <a:r>
              <a:rPr lang="en-US" dirty="0"/>
              <a:t>E.g. Java as </a:t>
            </a:r>
            <a:r>
              <a:rPr lang="en-US" dirty="0" err="1"/>
              <a:t>ConcurrentHashMap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51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34168</TotalTime>
  <Words>6121</Words>
  <Application>Microsoft Office PowerPoint</Application>
  <PresentationFormat>Widescreen</PresentationFormat>
  <Paragraphs>957</Paragraphs>
  <Slides>67</Slides>
  <Notes>0</Notes>
  <HiddenSlides>20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1" baseType="lpstr">
      <vt:lpstr>Arial</vt:lpstr>
      <vt:lpstr>Calibri</vt:lpstr>
      <vt:lpstr>Calibri Light</vt:lpstr>
      <vt:lpstr>Office Theme</vt:lpstr>
      <vt:lpstr>CSE 332 Winter 2026 Lecture 19: Concurrency</vt:lpstr>
      <vt:lpstr>Memory Sharing With ForkJoin</vt:lpstr>
      <vt:lpstr>Example: Shared Queue</vt:lpstr>
      <vt:lpstr>Example: Shared Queue</vt:lpstr>
      <vt:lpstr>Empty Shared Queue</vt:lpstr>
      <vt:lpstr>Thread 1 – first two lines</vt:lpstr>
      <vt:lpstr>Thread 2 – all lines</vt:lpstr>
      <vt:lpstr>Thread 1 – remaining lines</vt:lpstr>
      <vt:lpstr>Interleaving</vt:lpstr>
      <vt:lpstr>Concurrent Programming</vt:lpstr>
      <vt:lpstr>Analogue Example – Data Race</vt:lpstr>
      <vt:lpstr>Analogue Example – With “Mutual Exclusion”</vt:lpstr>
      <vt:lpstr>Bank Account Example</vt:lpstr>
      <vt:lpstr>Bank Account Example - Parallel</vt:lpstr>
      <vt:lpstr>An “OK” Interleaving</vt:lpstr>
      <vt:lpstr>A “Bad” Interleaving</vt:lpstr>
      <vt:lpstr>A Bad Fix</vt:lpstr>
      <vt:lpstr>A still “Bad” Interleaving</vt:lpstr>
      <vt:lpstr>What we want – Mutual Exclusion</vt:lpstr>
      <vt:lpstr>A Bad attempt at Mutual Exclusion</vt:lpstr>
      <vt:lpstr>A still “Bad” Interleaving</vt:lpstr>
      <vt:lpstr>Solution</vt:lpstr>
      <vt:lpstr>Almost Correct Bank Account Example</vt:lpstr>
      <vt:lpstr>Exceptions End the Method!</vt:lpstr>
      <vt:lpstr>Try…Finally</vt:lpstr>
      <vt:lpstr>Correct (but not Java) Bank Account Example</vt:lpstr>
      <vt:lpstr>A still “Bad” Interleaving</vt:lpstr>
      <vt:lpstr>Solution: getBalance needs the lock</vt:lpstr>
      <vt:lpstr>Re-entrant Lock Details</vt:lpstr>
      <vt:lpstr>Java’s Re-entrant Lock Class</vt:lpstr>
      <vt:lpstr>How this looks in Java</vt:lpstr>
      <vt:lpstr>Java Synchronized Keyword</vt:lpstr>
      <vt:lpstr>Back Account Using Synchronize (version 1)</vt:lpstr>
      <vt:lpstr>Back Account Using Synchronize (version 2)</vt:lpstr>
      <vt:lpstr>More Syntactic Sugar!</vt:lpstr>
      <vt:lpstr>Back Account Using Synchronize (Final)</vt:lpstr>
      <vt:lpstr>Race Condition</vt:lpstr>
      <vt:lpstr>Example: Shared Stack (no problems so far)</vt:lpstr>
      <vt:lpstr>Race Condition, but no Data Race</vt:lpstr>
      <vt:lpstr>Two Peeks Break LIFO Order</vt:lpstr>
      <vt:lpstr>Race Condition, including a Data Race</vt:lpstr>
      <vt:lpstr>Peek and isEmpty</vt:lpstr>
      <vt:lpstr>Peek and Push</vt:lpstr>
      <vt:lpstr>Peek and Push</vt:lpstr>
      <vt:lpstr>How to fix this?</vt:lpstr>
      <vt:lpstr>Fixed!</vt:lpstr>
      <vt:lpstr>Did this fix it?</vt:lpstr>
      <vt:lpstr>Deadlock</vt:lpstr>
      <vt:lpstr>Bank Account</vt:lpstr>
      <vt:lpstr>The Deadlock</vt:lpstr>
      <vt:lpstr>The Deadlock</vt:lpstr>
      <vt:lpstr>Resolving Deadlocks</vt:lpstr>
      <vt:lpstr>Option 1: Coarser Locking</vt:lpstr>
      <vt:lpstr>Option 2: Finer Critical Section</vt:lpstr>
      <vt:lpstr>Option 3: First Get All Locks In A Fixed Order</vt:lpstr>
      <vt:lpstr>Parallel Code Conventional Wisdom</vt:lpstr>
      <vt:lpstr>Memory Categories</vt:lpstr>
      <vt:lpstr>Thread Local Memory</vt:lpstr>
      <vt:lpstr>Immutable Objects</vt:lpstr>
      <vt:lpstr>Shared and Mutable Objects</vt:lpstr>
      <vt:lpstr>Consistent Locking</vt:lpstr>
      <vt:lpstr>Lock Granularity</vt:lpstr>
      <vt:lpstr>Example: Separate Chaining Hashtable</vt:lpstr>
      <vt:lpstr>Tradeoffs</vt:lpstr>
      <vt:lpstr>Similar But Separate Issue: Critical Section Granularity</vt:lpstr>
      <vt:lpstr>Atomicity</vt:lpstr>
      <vt:lpstr>Use Pre-Tested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8: Dictionaries, BSTs</dc:title>
  <dc:creator>Nathan Brunelle</dc:creator>
  <cp:lastModifiedBy>Nathan Brunelle</cp:lastModifiedBy>
  <cp:revision>300</cp:revision>
  <dcterms:created xsi:type="dcterms:W3CDTF">2023-10-13T16:06:42Z</dcterms:created>
  <dcterms:modified xsi:type="dcterms:W3CDTF">2026-02-25T13:39:35Z</dcterms:modified>
</cp:coreProperties>
</file>