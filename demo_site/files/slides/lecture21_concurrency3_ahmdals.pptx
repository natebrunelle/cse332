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4" r:id="rId3"/>
    <p:sldId id="260" r:id="rId4"/>
    <p:sldId id="272" r:id="rId5"/>
    <p:sldId id="274" r:id="rId6"/>
    <p:sldId id="278" r:id="rId7"/>
    <p:sldId id="335" r:id="rId8"/>
    <p:sldId id="282" r:id="rId9"/>
    <p:sldId id="283" r:id="rId10"/>
    <p:sldId id="284" r:id="rId11"/>
    <p:sldId id="285" r:id="rId12"/>
    <p:sldId id="286" r:id="rId13"/>
    <p:sldId id="288" r:id="rId14"/>
    <p:sldId id="289" r:id="rId15"/>
    <p:sldId id="290" r:id="rId16"/>
    <p:sldId id="291" r:id="rId17"/>
    <p:sldId id="292" r:id="rId18"/>
    <p:sldId id="293" r:id="rId19"/>
    <p:sldId id="336" r:id="rId20"/>
    <p:sldId id="294" r:id="rId21"/>
    <p:sldId id="295" r:id="rId22"/>
    <p:sldId id="296" r:id="rId23"/>
    <p:sldId id="322" r:id="rId24"/>
    <p:sldId id="298" r:id="rId25"/>
    <p:sldId id="300" r:id="rId26"/>
    <p:sldId id="301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1" r:id="rId44"/>
    <p:sldId id="310" r:id="rId45"/>
    <p:sldId id="312" r:id="rId46"/>
    <p:sldId id="31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19: Concurrency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EC1A-6CA5-98A7-F39E-5B051CE8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1AF-5BCA-E54E-4929-B7B6A0D8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time slicing, a thread can be interrupted at any time</a:t>
            </a:r>
          </a:p>
          <a:p>
            <a:pPr lvl="1"/>
            <a:r>
              <a:rPr lang="en-US" dirty="0"/>
              <a:t>Between any two lines of code</a:t>
            </a:r>
          </a:p>
          <a:p>
            <a:pPr lvl="1"/>
            <a:r>
              <a:rPr lang="en-US" dirty="0"/>
              <a:t>Within a single line of code</a:t>
            </a:r>
          </a:p>
          <a:p>
            <a:r>
              <a:rPr lang="en-US" dirty="0"/>
              <a:t>The sequence that operations occur across two threads is called an interleaving</a:t>
            </a:r>
          </a:p>
          <a:p>
            <a:r>
              <a:rPr lang="en-US" dirty="0"/>
              <a:t>Without doing anything else, we have no control over how different threads might be interleaved</a:t>
            </a:r>
          </a:p>
        </p:txBody>
      </p:sp>
    </p:spTree>
    <p:extLst>
      <p:ext uri="{BB962C8B-B14F-4D97-AF65-F5344CB8AC3E}">
        <p14:creationId xmlns:p14="http://schemas.microsoft.com/office/powerpoint/2010/main" val="402623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CE2-9CC3-DF86-BABE-D4BE2D4A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9A95-C324-F33C-8E0D-40758B326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Concurrency: </a:t>
            </a:r>
          </a:p>
          <a:p>
            <a:pPr lvl="1"/>
            <a:r>
              <a:rPr lang="en-US" dirty="0"/>
              <a:t>Correctly and efficiently managing access to shared resources across multiple possibly-simultaneous tasks</a:t>
            </a:r>
          </a:p>
          <a:p>
            <a:r>
              <a:rPr lang="en-US" dirty="0"/>
              <a:t>Requires synchronization to avoid incorrect simultaneous access</a:t>
            </a:r>
          </a:p>
          <a:p>
            <a:pPr lvl="1"/>
            <a:r>
              <a:rPr lang="en-US" dirty="0"/>
              <a:t>Use some way of “blocking” other tasks from using a resource when another modifies it or makes decisions based on its state</a:t>
            </a:r>
          </a:p>
          <a:p>
            <a:pPr lvl="1"/>
            <a:r>
              <a:rPr lang="en-US" dirty="0"/>
              <a:t>That blocking task will free up the resource when it’s done</a:t>
            </a:r>
          </a:p>
          <a:p>
            <a:r>
              <a:rPr lang="en-US" dirty="0"/>
              <a:t>Warning:</a:t>
            </a:r>
          </a:p>
          <a:p>
            <a:pPr lvl="1"/>
            <a:r>
              <a:rPr lang="en-US" dirty="0"/>
              <a:t>Because we have no control over when threads are scheduled by the OS, even correct implementations are highly non-deterministic</a:t>
            </a:r>
          </a:p>
          <a:p>
            <a:pPr lvl="1"/>
            <a:r>
              <a:rPr lang="en-US" dirty="0"/>
              <a:t>Errors are hard to reproduce, which complicates debugging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9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attempt at Mutual Exclusion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Boolean busy = false;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busy = true;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busy = false;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05914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EEC-82A4-7735-C350-4DA0E1BB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94BA-009A-BCE3-1087-2A0C36A4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need a construct from Java to do this</a:t>
            </a:r>
          </a:p>
          <a:p>
            <a:r>
              <a:rPr lang="en-US" dirty="0"/>
              <a:t>One Solution – A </a:t>
            </a:r>
            <a:r>
              <a:rPr lang="en-US" b="1" dirty="0"/>
              <a:t>Mutual Exclusion Lock</a:t>
            </a:r>
            <a:r>
              <a:rPr lang="en-US" dirty="0"/>
              <a:t> (called a Mutex or Lock)</a:t>
            </a:r>
          </a:p>
          <a:p>
            <a:r>
              <a:rPr lang="en-US" dirty="0"/>
              <a:t>We define a </a:t>
            </a:r>
            <a:r>
              <a:rPr lang="en-US" b="1" dirty="0"/>
              <a:t>Lock</a:t>
            </a:r>
            <a:r>
              <a:rPr lang="en-US" dirty="0"/>
              <a:t> to be an ADT with operations:</a:t>
            </a:r>
          </a:p>
          <a:p>
            <a:pPr lvl="1"/>
            <a:r>
              <a:rPr lang="en-US" dirty="0"/>
              <a:t>New: </a:t>
            </a:r>
          </a:p>
          <a:p>
            <a:pPr lvl="2"/>
            <a:r>
              <a:rPr lang="en-US" dirty="0"/>
              <a:t>make a new lock, initially “not held”</a:t>
            </a:r>
          </a:p>
          <a:p>
            <a:pPr lvl="1"/>
            <a:r>
              <a:rPr lang="en-US" dirty="0"/>
              <a:t>Acquire:</a:t>
            </a:r>
          </a:p>
          <a:p>
            <a:pPr lvl="2"/>
            <a:r>
              <a:rPr lang="en-US" dirty="0"/>
              <a:t>If lock is not held, mark it as “held”</a:t>
            </a:r>
          </a:p>
          <a:p>
            <a:pPr lvl="3"/>
            <a:r>
              <a:rPr lang="en-US" dirty="0"/>
              <a:t>These two steps always done together in a way that cannot be interrupted!</a:t>
            </a:r>
          </a:p>
          <a:p>
            <a:pPr lvl="2"/>
            <a:r>
              <a:rPr lang="en-US" dirty="0"/>
              <a:t>If lock is held, pause until it is marked as “not held”</a:t>
            </a:r>
          </a:p>
          <a:p>
            <a:pPr lvl="1"/>
            <a:r>
              <a:rPr lang="en-US" dirty="0"/>
              <a:t>Release:</a:t>
            </a:r>
          </a:p>
          <a:p>
            <a:pPr lvl="2"/>
            <a:r>
              <a:rPr lang="en-US" dirty="0"/>
              <a:t>Mark the lock as “not held”</a:t>
            </a:r>
          </a:p>
        </p:txBody>
      </p:sp>
    </p:spTree>
    <p:extLst>
      <p:ext uri="{BB962C8B-B14F-4D97-AF65-F5344CB8AC3E}">
        <p14:creationId xmlns:p14="http://schemas.microsoft.com/office/powerpoint/2010/main" val="205665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Withdraw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finally 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41CF-8A8F-00EF-539B-A42DE40C58E9}"/>
              </a:ext>
            </a:extLst>
          </p:cNvPr>
          <p:cNvSpPr txBox="1"/>
          <p:nvPr/>
        </p:nvSpPr>
        <p:spPr>
          <a:xfrm>
            <a:off x="8585200" y="1690688"/>
            <a:ext cx="3484881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deposit have its own lock object?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they share one?</a:t>
            </a:r>
          </a:p>
        </p:txBody>
      </p:sp>
    </p:spTree>
    <p:extLst>
      <p:ext uri="{BB962C8B-B14F-4D97-AF65-F5344CB8AC3E}">
        <p14:creationId xmlns:p14="http://schemas.microsoft.com/office/powerpoint/2010/main" val="34646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getBalance</a:t>
            </a:r>
            <a:r>
              <a:rPr lang="en-US" dirty="0"/>
              <a:t> needs the lock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(int x) {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try{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return balance;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finally{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 </a:t>
            </a:r>
            <a:r>
              <a:rPr lang="en-US" dirty="0" err="1"/>
              <a:t>lk.release</a:t>
            </a:r>
            <a:r>
              <a:rPr lang="en-US" dirty="0"/>
              <a:t>(); 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89A4-2E43-E9E9-22B3-678B76A05715}"/>
              </a:ext>
            </a:extLst>
          </p:cNvPr>
          <p:cNvSpPr txBox="1"/>
          <p:nvPr/>
        </p:nvSpPr>
        <p:spPr>
          <a:xfrm>
            <a:off x="7416800" y="1690688"/>
            <a:ext cx="4500880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One more issue!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calls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can never finish because in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the lock will always be held! </a:t>
            </a:r>
          </a:p>
        </p:txBody>
      </p:sp>
    </p:spTree>
    <p:extLst>
      <p:ext uri="{BB962C8B-B14F-4D97-AF65-F5344CB8AC3E}">
        <p14:creationId xmlns:p14="http://schemas.microsoft.com/office/powerpoint/2010/main" val="35675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5F7-665A-9FC5-2A1E-EF711A9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Re-entrant Lock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8F06-605F-B023-345D-50BEED1A0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re-entrant lock (a.k.a. recursive lock)</a:t>
            </a:r>
          </a:p>
          <a:p>
            <a:r>
              <a:rPr lang="en-US" dirty="0"/>
              <a:t>“Remembers” </a:t>
            </a:r>
          </a:p>
          <a:p>
            <a:pPr lvl="1"/>
            <a:r>
              <a:rPr lang="en-US" dirty="0"/>
              <a:t>the thread (if any) that currently holds it </a:t>
            </a:r>
          </a:p>
          <a:p>
            <a:pPr lvl="1"/>
            <a:r>
              <a:rPr lang="en-US" dirty="0"/>
              <a:t>a count of “layers” that the thread holds it</a:t>
            </a:r>
          </a:p>
          <a:p>
            <a:r>
              <a:rPr lang="en-US" dirty="0"/>
              <a:t>When the lock goes from not-held to held, the count is set to 0 </a:t>
            </a:r>
          </a:p>
          <a:p>
            <a:r>
              <a:rPr lang="en-US" dirty="0"/>
              <a:t>If (code running in) the current holder calls acquire: </a:t>
            </a:r>
          </a:p>
          <a:p>
            <a:pPr lvl="1"/>
            <a:r>
              <a:rPr lang="en-US" dirty="0"/>
              <a:t>it does not block </a:t>
            </a:r>
          </a:p>
          <a:p>
            <a:pPr lvl="1"/>
            <a:r>
              <a:rPr lang="en-US" dirty="0"/>
              <a:t>it increments the count </a:t>
            </a:r>
          </a:p>
          <a:p>
            <a:r>
              <a:rPr lang="en-US" dirty="0"/>
              <a:t>On release: </a:t>
            </a:r>
          </a:p>
          <a:p>
            <a:pPr lvl="1"/>
            <a:r>
              <a:rPr lang="en-US" dirty="0"/>
              <a:t>if the count is &gt; 0, the count is decremented </a:t>
            </a:r>
          </a:p>
          <a:p>
            <a:pPr lvl="1"/>
            <a:r>
              <a:rPr lang="en-US" dirty="0"/>
              <a:t>if the count is 0, the lock becomes not-held</a:t>
            </a:r>
          </a:p>
        </p:txBody>
      </p:sp>
    </p:spTree>
    <p:extLst>
      <p:ext uri="{BB962C8B-B14F-4D97-AF65-F5344CB8AC3E}">
        <p14:creationId xmlns:p14="http://schemas.microsoft.com/office/powerpoint/2010/main" val="333110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C8CE-76D5-72C9-751C-2441A08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Java’s Re-entrant Lock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1571-7770-8F19-F192-B62EF32D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java.util.concurrent.locks.ReentrantLock</a:t>
            </a:r>
            <a:r>
              <a:rPr lang="en-US" dirty="0"/>
              <a:t> </a:t>
            </a:r>
          </a:p>
          <a:p>
            <a:r>
              <a:rPr lang="en-US" dirty="0"/>
              <a:t>Has methods lock() and unlock() </a:t>
            </a:r>
          </a:p>
          <a:p>
            <a:r>
              <a:rPr lang="en-US" dirty="0"/>
              <a:t>Important to guarantee that lock is always released!!! </a:t>
            </a:r>
          </a:p>
          <a:p>
            <a:r>
              <a:rPr lang="en-US" dirty="0"/>
              <a:t>Recommend something like this: </a:t>
            </a:r>
          </a:p>
          <a:p>
            <a:pPr marL="457200" lvl="1" indent="0">
              <a:buNone/>
            </a:pPr>
            <a:r>
              <a:rPr lang="en-US" dirty="0" err="1"/>
              <a:t>myLock.lock</a:t>
            </a:r>
            <a:r>
              <a:rPr lang="en-US" dirty="0"/>
              <a:t>(); </a:t>
            </a:r>
          </a:p>
          <a:p>
            <a:pPr marL="457200" lvl="1" indent="0">
              <a:buNone/>
            </a:pPr>
            <a:r>
              <a:rPr lang="en-US" dirty="0"/>
              <a:t>try { // method body }</a:t>
            </a:r>
          </a:p>
          <a:p>
            <a:pPr marL="457200" lvl="1" indent="0">
              <a:buNone/>
            </a:pPr>
            <a:r>
              <a:rPr lang="en-US" dirty="0"/>
              <a:t>finally { </a:t>
            </a:r>
            <a:r>
              <a:rPr lang="en-US" dirty="0" err="1"/>
              <a:t>myLock.unlock</a:t>
            </a:r>
            <a:r>
              <a:rPr lang="en-US" dirty="0"/>
              <a:t>(); } </a:t>
            </a:r>
          </a:p>
        </p:txBody>
      </p:sp>
    </p:spTree>
    <p:extLst>
      <p:ext uri="{BB962C8B-B14F-4D97-AF65-F5344CB8AC3E}">
        <p14:creationId xmlns:p14="http://schemas.microsoft.com/office/powerpoint/2010/main" val="303110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looks in Java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java.util.concurrent.locks.ReentrantLock</a:t>
            </a:r>
            <a:r>
              <a:rPr lang="en-US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		balance = x; }</a:t>
            </a:r>
          </a:p>
          <a:p>
            <a:pPr marL="0" indent="0">
              <a:buNone/>
            </a:pPr>
            <a:r>
              <a:rPr lang="en-US" dirty="0"/>
              <a:t>		finally{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205833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545-F6D7-FF86-2C4F-2973D3D6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Synchronized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7616-0B51-EF39-FDB9-C13F0827A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Syntactic sugar for re-entrant locks</a:t>
            </a:r>
          </a:p>
          <a:p>
            <a:r>
              <a:rPr lang="en-US" dirty="0"/>
              <a:t>You can use the synchronized statement as an alternative to declaring a </a:t>
            </a:r>
            <a:r>
              <a:rPr lang="en-US" dirty="0" err="1"/>
              <a:t>ReentrantLock</a:t>
            </a:r>
            <a:endParaRPr lang="en-US" dirty="0"/>
          </a:p>
          <a:p>
            <a:r>
              <a:rPr lang="en-US" dirty="0"/>
              <a:t>Syntax:</a:t>
            </a:r>
          </a:p>
          <a:p>
            <a:r>
              <a:rPr lang="en-US" dirty="0"/>
              <a:t>Any Object can serve as a “lock”</a:t>
            </a:r>
          </a:p>
          <a:p>
            <a:pPr lvl="1"/>
            <a:r>
              <a:rPr lang="en-US" dirty="0"/>
              <a:t>Primitive types (e.g. int) cannot serve as a lock</a:t>
            </a:r>
          </a:p>
          <a:p>
            <a:r>
              <a:rPr lang="en-US" dirty="0"/>
              <a:t>Acquires a lock and blocks if necessary</a:t>
            </a:r>
          </a:p>
          <a:p>
            <a:pPr lvl="1"/>
            <a:r>
              <a:rPr lang="en-US" dirty="0"/>
              <a:t>Once you get past the “{“, you have the lock</a:t>
            </a:r>
          </a:p>
          <a:p>
            <a:r>
              <a:rPr lang="en-US" dirty="0"/>
              <a:t>Released the lock when you pass “}”</a:t>
            </a:r>
          </a:p>
          <a:p>
            <a:pPr lvl="1"/>
            <a:r>
              <a:rPr lang="en-US" dirty="0"/>
              <a:t>Even in the cases of returning, exceptions, anything!</a:t>
            </a:r>
          </a:p>
          <a:p>
            <a:pPr lvl="1"/>
            <a:r>
              <a:rPr lang="en-US" dirty="0"/>
              <a:t>Impossible to forget to release the lock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D1961-CD41-26DA-F57A-3D4184303799}"/>
              </a:ext>
            </a:extLst>
          </p:cNvPr>
          <p:cNvSpPr txBox="1"/>
          <p:nvPr/>
        </p:nvSpPr>
        <p:spPr>
          <a:xfrm>
            <a:off x="2296160" y="3012440"/>
            <a:ext cx="630589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synchronized( /* expression returning an Object */ ) {statements}</a:t>
            </a:r>
          </a:p>
        </p:txBody>
      </p:sp>
    </p:spTree>
    <p:extLst>
      <p:ext uri="{BB962C8B-B14F-4D97-AF65-F5344CB8AC3E}">
        <p14:creationId xmlns:p14="http://schemas.microsoft.com/office/powerpoint/2010/main" val="374504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Object 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 = new Object();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7923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 // deposit would also use synchronized(</a:t>
            </a:r>
            <a:r>
              <a:rPr lang="en-US" dirty="0" err="1"/>
              <a:t>lk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EFB39-E530-049D-8D9C-B920D9F62D15}"/>
              </a:ext>
            </a:extLst>
          </p:cNvPr>
          <p:cNvSpPr txBox="1"/>
          <p:nvPr/>
        </p:nvSpPr>
        <p:spPr>
          <a:xfrm>
            <a:off x="7416800" y="1690688"/>
            <a:ext cx="4500880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Since we have one lock per account regardless of operation, it’s more intuitive to use the account object itself as the lock!</a:t>
            </a:r>
          </a:p>
        </p:txBody>
      </p:sp>
    </p:spTree>
    <p:extLst>
      <p:ext uri="{BB962C8B-B14F-4D97-AF65-F5344CB8AC3E}">
        <p14:creationId xmlns:p14="http://schemas.microsoft.com/office/powerpoint/2010/main" val="278480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4A2-54C4-FDD2-E365-2A9EFFF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Syntactic Sugar!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3A75-790A-FBFC-D455-485A246C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object itself as a lock is common enough that Java has convenient syntax for that as well!</a:t>
            </a:r>
          </a:p>
          <a:p>
            <a:r>
              <a:rPr lang="en-US" dirty="0"/>
              <a:t>Declaring a method as “</a:t>
            </a:r>
            <a:r>
              <a:rPr lang="en-US" b="1" dirty="0"/>
              <a:t>synchronized</a:t>
            </a:r>
            <a:r>
              <a:rPr lang="en-US" dirty="0"/>
              <a:t>” puts its body into a synchronized block with “this” as the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4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(Final)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 (which would use synchronized)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1518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8ECE-174A-7C43-2874-DBA6552F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48"/>
            <a:ext cx="10515600" cy="1325563"/>
          </a:xfrm>
        </p:spPr>
        <p:txBody>
          <a:bodyPr/>
          <a:lstStyle/>
          <a:p>
            <a:r>
              <a:rPr lang="en-US" dirty="0"/>
              <a:t>Concurrency 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260B-B93F-B6B0-8B30-28A9E355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63" y="1052945"/>
            <a:ext cx="11360727" cy="57080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Race Condition:</a:t>
            </a:r>
          </a:p>
          <a:p>
            <a:pPr lvl="1"/>
            <a:r>
              <a:rPr lang="en-US" dirty="0"/>
              <a:t>Occurs when the computation result depends on scheduling (how threads are interleaved) </a:t>
            </a:r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threads call withdraw. Different schedules cause different threads to see the Exception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trident did not prevent a race condition, </a:t>
            </a:r>
            <a:r>
              <a:rPr lang="en-US" i="1" dirty="0"/>
              <a:t>which</a:t>
            </a:r>
            <a:r>
              <a:rPr lang="en-US" dirty="0"/>
              <a:t> name is the last one in the box may differ, depending on who grabbed the trident first</a:t>
            </a:r>
          </a:p>
          <a:p>
            <a:r>
              <a:rPr lang="en-US" b="1" dirty="0"/>
              <a:t>Data Race: </a:t>
            </a:r>
          </a:p>
          <a:p>
            <a:pPr lvl="1"/>
            <a:r>
              <a:rPr lang="en-US" dirty="0"/>
              <a:t>Either:</a:t>
            </a:r>
          </a:p>
          <a:p>
            <a:pPr lvl="2"/>
            <a:r>
              <a:rPr lang="en-US" sz="2400" dirty="0"/>
              <a:t>There is the potential for two threads to be writing to a variable in parallel</a:t>
            </a:r>
          </a:p>
          <a:p>
            <a:pPr lvl="2"/>
            <a:r>
              <a:rPr lang="en-US" sz="2400" dirty="0"/>
              <a:t>There is the potential for one thread to be reading a variable while another writes to it</a:t>
            </a:r>
            <a:endParaRPr lang="en-US" dirty="0"/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different threads attempt to change a static variable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trident corrected a data race, no two people can use the box at the same time</a:t>
            </a:r>
          </a:p>
          <a:p>
            <a:r>
              <a:rPr lang="en-US" b="1" dirty="0"/>
              <a:t>Bad Interleaving:</a:t>
            </a:r>
          </a:p>
          <a:p>
            <a:pPr lvl="1"/>
            <a:r>
              <a:rPr lang="en-US" dirty="0"/>
              <a:t>An error due to a race condition other than a data race</a:t>
            </a:r>
          </a:p>
          <a:p>
            <a:pPr lvl="2"/>
            <a:r>
              <a:rPr lang="en-US" dirty="0"/>
              <a:t>It’s a race condition the results in behavior our specification says in incorrect</a:t>
            </a:r>
          </a:p>
          <a:p>
            <a:pPr lvl="1"/>
            <a:r>
              <a:rPr lang="en-US" dirty="0"/>
              <a:t>Usually it looks like exposing a “bad” intermediate state</a:t>
            </a:r>
          </a:p>
          <a:p>
            <a:pPr lvl="1"/>
            <a:r>
              <a:rPr lang="en-US" b="1" dirty="0"/>
              <a:t>Java Example:</a:t>
            </a:r>
            <a:r>
              <a:rPr lang="en-US" dirty="0"/>
              <a:t> Two threads insert into a hash table. One thread computes the index, the other resizes the table. Now the index might be incorrect. </a:t>
            </a:r>
          </a:p>
          <a:p>
            <a:pPr lvl="1"/>
            <a:r>
              <a:rPr lang="en-US" b="1" dirty="0"/>
              <a:t>Trident Example:</a:t>
            </a:r>
            <a:r>
              <a:rPr lang="en-US" dirty="0"/>
              <a:t> The race condition present after the trident is not a bad interleaving because either result is still correct</a:t>
            </a:r>
          </a:p>
        </p:txBody>
      </p:sp>
    </p:spTree>
    <p:extLst>
      <p:ext uri="{BB962C8B-B14F-4D97-AF65-F5344CB8AC3E}">
        <p14:creationId xmlns:p14="http://schemas.microsoft.com/office/powerpoint/2010/main" val="1098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875"/>
            <a:ext cx="10515600" cy="1325563"/>
          </a:xfrm>
        </p:spPr>
        <p:txBody>
          <a:bodyPr/>
          <a:lstStyle/>
          <a:p>
            <a:r>
              <a:rPr lang="en-US" dirty="0"/>
              <a:t>Example: Shared Stack (no problems 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440"/>
            <a:ext cx="10515600" cy="6258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return end ==-1;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array[++ end] = </a:t>
            </a:r>
            <a:r>
              <a:rPr lang="en-US" dirty="0" err="1"/>
              <a:t>val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E pop() { </a:t>
            </a:r>
          </a:p>
          <a:p>
            <a:pPr marL="0" indent="0">
              <a:buNone/>
            </a:pPr>
            <a:r>
              <a:rPr lang="en-US" dirty="0"/>
              <a:t>		if(</a:t>
            </a:r>
            <a:r>
              <a:rPr lang="en-US" dirty="0" err="1"/>
              <a:t>isEmpty</a:t>
            </a:r>
            <a:r>
              <a:rPr lang="en-US" dirty="0"/>
              <a:t>())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StackEmptyException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return array[end--]; </a:t>
            </a:r>
          </a:p>
          <a:p>
            <a:pPr marL="0" indent="0">
              <a:buNone/>
            </a:pPr>
            <a:r>
              <a:rPr lang="en-US" dirty="0"/>
              <a:t>	}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93AB9-3041-0C12-9F0A-B8332694E888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1448350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but no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F7C49-A9B0-D71B-2293-78AC65711059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881664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ABED-FC58-1B03-048A-19E1A971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9F99-C319-6183-5B10-5E2F36F6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Peeks Break LIFO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9A3-9914-01AF-96F7-48F7C3C82C53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CFE3B-7878-8C9D-BF13-BD426649936C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62BD0-463C-1DCB-EF49-5A3FD44E6D3F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184C2-B0C7-D9B8-F4BB-CE27730DFF96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0B527-2773-B825-D04E-300DF91EA384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9CF3D-8C79-8ECE-BA54-AEF4FF39558A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971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including a </a:t>
            </a:r>
            <a:r>
              <a:rPr lang="en-US" dirty="0">
                <a:solidFill>
                  <a:srgbClr val="FF0000"/>
                </a:solidFill>
              </a:rPr>
              <a:t>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System.out.println</a:t>
            </a:r>
            <a:r>
              <a:rPr lang="en-US" dirty="0">
                <a:solidFill>
                  <a:srgbClr val="FF0000"/>
                </a:solidFill>
              </a:rPr>
              <a:t>(end);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17747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</a:t>
            </a:r>
            <a:r>
              <a:rPr lang="en-US" dirty="0" err="1"/>
              <a:t>isEmpty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should not see an empty stack if there is a push but no pop.</a:t>
            </a:r>
          </a:p>
        </p:txBody>
      </p:sp>
    </p:spTree>
    <p:extLst>
      <p:ext uri="{BB962C8B-B14F-4D97-AF65-F5344CB8AC3E}">
        <p14:creationId xmlns:p14="http://schemas.microsoft.com/office/powerpoint/2010/main" val="158736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965725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3173336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How to fix this?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206291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Fixed!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818060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Did this fix it?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end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return array[end];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770E1-80A0-988D-5BDB-B8758C3C4D0A}"/>
              </a:ext>
            </a:extLst>
          </p:cNvPr>
          <p:cNvSpPr txBox="1"/>
          <p:nvPr/>
        </p:nvSpPr>
        <p:spPr>
          <a:xfrm>
            <a:off x="7832436" y="690880"/>
            <a:ext cx="4128655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 Now it has a data race!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Push/pop will be changing end!</a:t>
            </a:r>
          </a:p>
        </p:txBody>
      </p:sp>
    </p:spTree>
    <p:extLst>
      <p:ext uri="{BB962C8B-B14F-4D97-AF65-F5344CB8AC3E}">
        <p14:creationId xmlns:p14="http://schemas.microsoft.com/office/powerpoint/2010/main" val="17582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ED13-22A1-8328-2908-CCDB1D5C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10F9-037F-8B63-FA98-ED21F813E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two or more threads are mutually blocking each other</a:t>
            </a:r>
          </a:p>
          <a:p>
            <a:r>
              <a:rPr lang="en-US" dirty="0"/>
              <a:t>T1 is blocked by T2, which is blocked by T3, …, Tn is blocked by T1</a:t>
            </a:r>
          </a:p>
          <a:p>
            <a:pPr lvl="1"/>
            <a:r>
              <a:rPr lang="en-US" dirty="0"/>
              <a:t>A cycle of blocking</a:t>
            </a:r>
          </a:p>
          <a:p>
            <a:pPr lvl="1"/>
            <a:endParaRPr lang="en-US" dirty="0"/>
          </a:p>
          <a:p>
            <a:r>
              <a:rPr lang="en-US" dirty="0"/>
              <a:t>Three requirements for deadlock:</a:t>
            </a:r>
          </a:p>
          <a:p>
            <a:pPr lvl="1"/>
            <a:r>
              <a:rPr lang="en-US" dirty="0"/>
              <a:t>Multiple threads each need to acquire </a:t>
            </a:r>
            <a:r>
              <a:rPr lang="en-US" b="1" dirty="0"/>
              <a:t>multiple locks</a:t>
            </a:r>
          </a:p>
          <a:p>
            <a:pPr lvl="1"/>
            <a:r>
              <a:rPr lang="en-US" dirty="0"/>
              <a:t>The locks need to be </a:t>
            </a:r>
            <a:r>
              <a:rPr lang="en-US" b="1" dirty="0"/>
              <a:t>held at the same time </a:t>
            </a:r>
            <a:r>
              <a:rPr lang="en-US" dirty="0"/>
              <a:t>by the threads</a:t>
            </a:r>
          </a:p>
          <a:p>
            <a:pPr lvl="1"/>
            <a:r>
              <a:rPr lang="en-US" dirty="0"/>
              <a:t>The locks may be </a:t>
            </a:r>
            <a:r>
              <a:rPr lang="en-US" b="1" dirty="0"/>
              <a:t>acquired in multiple orders</a:t>
            </a:r>
          </a:p>
        </p:txBody>
      </p:sp>
    </p:spTree>
    <p:extLst>
      <p:ext uri="{BB962C8B-B14F-4D97-AF65-F5344CB8AC3E}">
        <p14:creationId xmlns:p14="http://schemas.microsoft.com/office/powerpoint/2010/main" val="4142712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synchronized 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 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a.deposit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24490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58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66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E02C-5673-38D6-4439-D43D5A72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BB86-88A0-A30B-3F0C-216BDA9EB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Option 1: Address the “multiple locks” requirement</a:t>
            </a:r>
          </a:p>
          <a:p>
            <a:pPr lvl="1"/>
            <a:r>
              <a:rPr lang="en-US" dirty="0"/>
              <a:t>Have a coarser lock granularity</a:t>
            </a:r>
          </a:p>
          <a:p>
            <a:pPr lvl="1"/>
            <a:r>
              <a:rPr lang="en-US" dirty="0"/>
              <a:t>E.g. one lock for ALL bank accounts</a:t>
            </a:r>
          </a:p>
          <a:p>
            <a:r>
              <a:rPr lang="en-US" dirty="0"/>
              <a:t>Option 2: Address the “held at the same time” requirement</a:t>
            </a:r>
          </a:p>
          <a:p>
            <a:pPr lvl="1"/>
            <a:r>
              <a:rPr lang="en-US" dirty="0"/>
              <a:t>Have a finer critical section so that only one lock is needed at a time</a:t>
            </a:r>
          </a:p>
          <a:p>
            <a:pPr lvl="1"/>
            <a:r>
              <a:rPr lang="en-US" dirty="0"/>
              <a:t>E.g. instead of a synchronized </a:t>
            </a:r>
            <a:r>
              <a:rPr lang="en-US" dirty="0" err="1"/>
              <a:t>transferTo</a:t>
            </a:r>
            <a:r>
              <a:rPr lang="en-US" dirty="0"/>
              <a:t>, have the withdraw and deposit steps locked separately</a:t>
            </a:r>
          </a:p>
          <a:p>
            <a:r>
              <a:rPr lang="en-US" dirty="0"/>
              <a:t>Option 3: Address the “acquired in multiple orders” requirement</a:t>
            </a:r>
          </a:p>
          <a:p>
            <a:pPr lvl="1"/>
            <a:r>
              <a:rPr lang="en-US" dirty="0"/>
              <a:t>Force the threads to always acquire the locks in the same order</a:t>
            </a:r>
          </a:p>
          <a:p>
            <a:pPr lvl="1"/>
            <a:r>
              <a:rPr lang="en-US" dirty="0"/>
              <a:t>E.g. make </a:t>
            </a:r>
            <a:r>
              <a:rPr lang="en-US" dirty="0" err="1"/>
              <a:t>transferTo</a:t>
            </a:r>
            <a:r>
              <a:rPr lang="en-US" dirty="0"/>
              <a:t> acquire both locks before doing either the withdraw or deposit, make sure both threads agree on the order to </a:t>
            </a:r>
            <a:r>
              <a:rPr lang="en-US" dirty="0" err="1"/>
              <a:t>aquire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93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Coarser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static final Object BANK = new Object();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synchronized(BANK){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35221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Finer 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3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synchronized(this){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synchronized(a){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2183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n-US" dirty="0"/>
              <a:t>Option 3: First Get All Locks In A Fixed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840"/>
            <a:ext cx="10515600" cy="61874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this.acctNum</a:t>
            </a:r>
            <a:r>
              <a:rPr lang="en-US" dirty="0"/>
              <a:t> &lt; </a:t>
            </a:r>
            <a:r>
              <a:rPr lang="en-US" dirty="0" err="1"/>
              <a:t>a.acctNum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synchronized(this){</a:t>
            </a:r>
          </a:p>
          <a:p>
            <a:pPr marL="0" indent="0">
              <a:buNone/>
            </a:pPr>
            <a:r>
              <a:rPr lang="en-US" dirty="0"/>
              <a:t>				synchronized(a){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</a:t>
            </a:r>
          </a:p>
          <a:p>
            <a:pPr marL="0" indent="0">
              <a:buNone/>
            </a:pPr>
            <a:r>
              <a:rPr lang="en-US" dirty="0"/>
              <a:t>		else {</a:t>
            </a:r>
          </a:p>
          <a:p>
            <a:pPr marL="0" indent="0">
              <a:buNone/>
            </a:pPr>
            <a:r>
              <a:rPr lang="en-US" dirty="0"/>
              <a:t>			synchronized(a){</a:t>
            </a:r>
          </a:p>
          <a:p>
            <a:pPr marL="0" indent="0">
              <a:buNone/>
            </a:pPr>
            <a:r>
              <a:rPr lang="en-US" dirty="0"/>
              <a:t>				synchronized(this){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		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218861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8F22-9A08-0993-D878-46864D9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Code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2497-4370-4006-0BE4-92CEAB21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48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F9FC-FCC2-7595-4DA6-972C382C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F2E3-1391-65DE-BDE7-03579C50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memory must fit one of three categories: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Thread Local: Each thread has its own copy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Immutable: There is just one copy, but nothing will ever write to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Mutable: There is just one copy, it may change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Requires Synchronization!</a:t>
            </a:r>
          </a:p>
        </p:txBody>
      </p:sp>
    </p:spTree>
    <p:extLst>
      <p:ext uri="{BB962C8B-B14F-4D97-AF65-F5344CB8AC3E}">
        <p14:creationId xmlns:p14="http://schemas.microsoft.com/office/powerpoint/2010/main" val="3791496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891D-8375-FE99-21C6-EBE114E1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Local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5F66-6709-670F-93F3-2247BD9C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sharing resources</a:t>
            </a:r>
          </a:p>
          <a:p>
            <a:r>
              <a:rPr lang="en-US" dirty="0"/>
              <a:t>Dodges all race conditions, since no other threads can touch it!</a:t>
            </a:r>
          </a:p>
          <a:p>
            <a:pPr lvl="1"/>
            <a:r>
              <a:rPr lang="en-US" dirty="0"/>
              <a:t>No synchronization necessary! (Remember </a:t>
            </a:r>
            <a:r>
              <a:rPr lang="en-US" dirty="0" err="1"/>
              <a:t>Ahmdal’s</a:t>
            </a:r>
            <a:r>
              <a:rPr lang="en-US" dirty="0"/>
              <a:t> law)</a:t>
            </a:r>
          </a:p>
          <a:p>
            <a:r>
              <a:rPr lang="en-US" dirty="0"/>
              <a:t>Use whenever threads do not need to communicate using the resource</a:t>
            </a:r>
          </a:p>
          <a:p>
            <a:pPr lvl="1"/>
            <a:r>
              <a:rPr lang="en-US" dirty="0"/>
              <a:t>E.g., each thread should have its on Random object</a:t>
            </a:r>
          </a:p>
          <a:p>
            <a:r>
              <a:rPr lang="en-US" dirty="0"/>
              <a:t>In most cases, most objects should be in this category</a:t>
            </a:r>
          </a:p>
        </p:txBody>
      </p:sp>
    </p:spTree>
    <p:extLst>
      <p:ext uri="{BB962C8B-B14F-4D97-AF65-F5344CB8AC3E}">
        <p14:creationId xmlns:p14="http://schemas.microsoft.com/office/powerpoint/2010/main" val="1839542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2544-9CC0-FB0D-054C-7DA324CA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0D9C-3674-310D-619B-0737288B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changing objects</a:t>
            </a:r>
          </a:p>
          <a:p>
            <a:pPr lvl="1"/>
            <a:r>
              <a:rPr lang="en-US" dirty="0"/>
              <a:t>Make new objects instead</a:t>
            </a:r>
          </a:p>
          <a:p>
            <a:r>
              <a:rPr lang="en-US" dirty="0"/>
              <a:t>Parallel reads are not data races</a:t>
            </a:r>
          </a:p>
          <a:p>
            <a:pPr lvl="1"/>
            <a:r>
              <a:rPr lang="en-US" dirty="0"/>
              <a:t>If an object is never written to, no synchronization necessary!</a:t>
            </a:r>
          </a:p>
          <a:p>
            <a:r>
              <a:rPr lang="en-US" dirty="0"/>
              <a:t>Many programmers over-use mutation, minimize it</a:t>
            </a:r>
          </a:p>
        </p:txBody>
      </p:sp>
    </p:spTree>
    <p:extLst>
      <p:ext uri="{BB962C8B-B14F-4D97-AF65-F5344CB8AC3E}">
        <p14:creationId xmlns:p14="http://schemas.microsoft.com/office/powerpoint/2010/main" val="3849426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68A4-910D-48CC-0436-66F2F2FF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and 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BC2D-B37B-2C4D-BE10-5A379763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everything else, use locks</a:t>
            </a:r>
          </a:p>
          <a:p>
            <a:r>
              <a:rPr lang="en-US" dirty="0"/>
              <a:t>Avoid all data races</a:t>
            </a:r>
          </a:p>
          <a:p>
            <a:pPr lvl="1"/>
            <a:r>
              <a:rPr lang="en-US" dirty="0"/>
              <a:t>Every read and write should be projected with a lock, even if it “seems safe”</a:t>
            </a:r>
          </a:p>
          <a:p>
            <a:pPr lvl="1"/>
            <a:r>
              <a:rPr lang="en-US" dirty="0"/>
              <a:t>Almost every Java/C program with a data race is wrong</a:t>
            </a:r>
          </a:p>
          <a:p>
            <a:r>
              <a:rPr lang="en-US" dirty="0"/>
              <a:t>Even without data races, it still may be incorrect</a:t>
            </a:r>
          </a:p>
          <a:p>
            <a:pPr lvl="1"/>
            <a:r>
              <a:rPr lang="en-US" dirty="0"/>
              <a:t>Watch for bad </a:t>
            </a:r>
            <a:r>
              <a:rPr lang="en-US" dirty="0" err="1"/>
              <a:t>interleavings</a:t>
            </a:r>
            <a:r>
              <a:rPr lang="en-US" dirty="0"/>
              <a:t> as well!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52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955C-25A9-B2A3-AFBC-4B1D253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E940-22B3-5589-4120-B555EBEC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location needing synchronization, have a lock that is always held when reading or writing the location</a:t>
            </a:r>
          </a:p>
          <a:p>
            <a:r>
              <a:rPr lang="en-US" dirty="0"/>
              <a:t>The same lock can (and often should) “guard” multiple fields/objects</a:t>
            </a:r>
          </a:p>
          <a:p>
            <a:pPr lvl="1"/>
            <a:r>
              <a:rPr lang="en-US" dirty="0"/>
              <a:t>Clearly document what each lock guards!</a:t>
            </a:r>
          </a:p>
          <a:p>
            <a:pPr lvl="1"/>
            <a:r>
              <a:rPr lang="en-US" dirty="0"/>
              <a:t>In Java, the lock should usually be the object itself (i.e. “this”)</a:t>
            </a:r>
          </a:p>
          <a:p>
            <a:r>
              <a:rPr lang="en-US" dirty="0"/>
              <a:t>Have a mapping between memory locations and lock objects and stick to it!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577DD-8FD9-9AD9-885F-3D517938C6E5}"/>
              </a:ext>
            </a:extLst>
          </p:cNvPr>
          <p:cNvSpPr/>
          <p:nvPr/>
        </p:nvSpPr>
        <p:spPr>
          <a:xfrm>
            <a:off x="339344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DA4BCB-B840-E23A-D909-CCF2B6BB9715}"/>
              </a:ext>
            </a:extLst>
          </p:cNvPr>
          <p:cNvSpPr/>
          <p:nvPr/>
        </p:nvSpPr>
        <p:spPr>
          <a:xfrm>
            <a:off x="4582160" y="502412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06CE46-E52A-8089-5737-93BA6D4D0C96}"/>
              </a:ext>
            </a:extLst>
          </p:cNvPr>
          <p:cNvSpPr/>
          <p:nvPr/>
        </p:nvSpPr>
        <p:spPr>
          <a:xfrm>
            <a:off x="398780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2BF3E40-7798-000B-70F0-ABC980897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3987800" y="5713254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B28564-6754-5437-B662-DB42C2261A4C}"/>
              </a:ext>
            </a:extLst>
          </p:cNvPr>
          <p:cNvCxnSpPr>
            <a:cxnSpLocks/>
            <a:stCxn id="4" idx="4"/>
            <a:endCxn id="1026" idx="0"/>
          </p:cNvCxnSpPr>
          <p:nvPr/>
        </p:nvCxnSpPr>
        <p:spPr>
          <a:xfrm>
            <a:off x="3591560" y="5466080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DC13-B389-D700-8088-2E7A18BAA99C}"/>
              </a:ext>
            </a:extLst>
          </p:cNvPr>
          <p:cNvCxnSpPr>
            <a:cxnSpLocks/>
            <a:stCxn id="6" idx="4"/>
            <a:endCxn id="1026" idx="0"/>
          </p:cNvCxnSpPr>
          <p:nvPr/>
        </p:nvCxnSpPr>
        <p:spPr>
          <a:xfrm flipH="1">
            <a:off x="4168769" y="5466080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07CB1-7832-EEB4-B6A5-C67E1913F643}"/>
              </a:ext>
            </a:extLst>
          </p:cNvPr>
          <p:cNvCxnSpPr>
            <a:cxnSpLocks/>
            <a:stCxn id="5" idx="4"/>
            <a:endCxn id="1026" idx="0"/>
          </p:cNvCxnSpPr>
          <p:nvPr/>
        </p:nvCxnSpPr>
        <p:spPr>
          <a:xfrm flipH="1">
            <a:off x="4168769" y="5420360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000D68-FFF8-4EFD-3C14-C45241A874C9}"/>
              </a:ext>
            </a:extLst>
          </p:cNvPr>
          <p:cNvSpPr/>
          <p:nvPr/>
        </p:nvSpPr>
        <p:spPr>
          <a:xfrm>
            <a:off x="6003931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533211-2389-E0D6-BD14-CA40BEB073C4}"/>
              </a:ext>
            </a:extLst>
          </p:cNvPr>
          <p:cNvSpPr/>
          <p:nvPr/>
        </p:nvSpPr>
        <p:spPr>
          <a:xfrm>
            <a:off x="7192651" y="491140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9673F94-4B64-11B3-33A6-4DBBD8B77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6598291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37DFB-6235-79F0-97A7-B6D83CC0FEA2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6202051" y="5353368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8FA8E0-58BD-1596-FB94-73B07082C10E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79260" y="5307648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4D660FD-E3EA-5857-DED0-2FF6289614CF}"/>
              </a:ext>
            </a:extLst>
          </p:cNvPr>
          <p:cNvSpPr/>
          <p:nvPr/>
        </p:nvSpPr>
        <p:spPr>
          <a:xfrm>
            <a:off x="1916116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710A18DC-401F-68BA-C1EC-52F5FFF2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1916116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5ACF62-48CF-8852-F989-3128D30DBD3B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 flipH="1">
            <a:off x="2097085" y="5353368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84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CE9F-71A4-091E-38F4-0E9AC18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479E-F96C-37FB-4532-C0B632D5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 Grained: Fewer locks guarding more things each</a:t>
            </a:r>
          </a:p>
          <a:p>
            <a:pPr lvl="1"/>
            <a:r>
              <a:rPr lang="en-US" dirty="0"/>
              <a:t>One lock for an entire data structure</a:t>
            </a:r>
          </a:p>
          <a:p>
            <a:pPr lvl="1"/>
            <a:r>
              <a:rPr lang="en-US" dirty="0"/>
              <a:t>One lock shared by multiple objects (e.g. one lock for all bank accounts)</a:t>
            </a:r>
          </a:p>
          <a:p>
            <a:r>
              <a:rPr lang="en-US" dirty="0"/>
              <a:t>Fine Grained: More locks guarding fewer things each</a:t>
            </a:r>
          </a:p>
          <a:p>
            <a:pPr lvl="1"/>
            <a:r>
              <a:rPr lang="en-US" dirty="0"/>
              <a:t>One lock per data structure location (e.g. array index)</a:t>
            </a:r>
          </a:p>
          <a:p>
            <a:pPr lvl="1"/>
            <a:r>
              <a:rPr lang="en-US" dirty="0"/>
              <a:t>One lock per object or per field in one object (e.g. one lock for each account)</a:t>
            </a:r>
          </a:p>
          <a:p>
            <a:r>
              <a:rPr lang="en-US" dirty="0"/>
              <a:t>Note: there’s really a continuum between them…</a:t>
            </a:r>
          </a:p>
        </p:txBody>
      </p:sp>
    </p:spTree>
    <p:extLst>
      <p:ext uri="{BB962C8B-B14F-4D97-AF65-F5344CB8AC3E}">
        <p14:creationId xmlns:p14="http://schemas.microsoft.com/office/powerpoint/2010/main" val="362613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4CA6-1854-5021-AEEB-6D4AA75E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Separate Chaining </a:t>
            </a:r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5089-EBD9-F387-17F4-29696B6B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Coarse-grained: One lock for the entire </a:t>
            </a:r>
            <a:r>
              <a:rPr lang="en-US" dirty="0" err="1"/>
              <a:t>hashtable</a:t>
            </a:r>
            <a:r>
              <a:rPr lang="en-US" dirty="0"/>
              <a:t> </a:t>
            </a:r>
          </a:p>
          <a:p>
            <a:r>
              <a:rPr lang="en-US" dirty="0"/>
              <a:t>Fine-grained: One lock for each bucket </a:t>
            </a:r>
          </a:p>
          <a:p>
            <a:r>
              <a:rPr lang="en-US" dirty="0"/>
              <a:t>Which supports more parallelism in insert and find?</a:t>
            </a:r>
          </a:p>
          <a:p>
            <a:r>
              <a:rPr lang="en-US" dirty="0"/>
              <a:t>Which makes rehashing easier?</a:t>
            </a:r>
          </a:p>
          <a:p>
            <a:r>
              <a:rPr lang="en-US" dirty="0"/>
              <a:t>What happens if you want to have a size field?</a:t>
            </a:r>
          </a:p>
        </p:txBody>
      </p:sp>
    </p:spTree>
    <p:extLst>
      <p:ext uri="{BB962C8B-B14F-4D97-AF65-F5344CB8AC3E}">
        <p14:creationId xmlns:p14="http://schemas.microsoft.com/office/powerpoint/2010/main" val="2450249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1A01-CF23-81CE-05E5-CE64EE39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8F36-3486-B957-F723-92EF8DB0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Coarse-Grained Locking:</a:t>
            </a:r>
          </a:p>
          <a:p>
            <a:pPr lvl="1"/>
            <a:r>
              <a:rPr lang="en-US" dirty="0"/>
              <a:t>Simpler to implement and avoid race conditions</a:t>
            </a:r>
          </a:p>
          <a:p>
            <a:pPr lvl="1"/>
            <a:r>
              <a:rPr lang="en-US" dirty="0"/>
              <a:t>Faster/easier to implement operations that access multiple locations (because all guarded by the same lock) </a:t>
            </a:r>
          </a:p>
          <a:p>
            <a:pPr lvl="1"/>
            <a:r>
              <a:rPr lang="en-US" dirty="0"/>
              <a:t>Much easier for operations that modify data-structure shape</a:t>
            </a:r>
          </a:p>
          <a:p>
            <a:r>
              <a:rPr lang="en-US" dirty="0"/>
              <a:t>Fine-Grained Locking:</a:t>
            </a:r>
          </a:p>
          <a:p>
            <a:pPr lvl="1"/>
            <a:r>
              <a:rPr lang="en-US" dirty="0"/>
              <a:t>More simultaneous access (performance when coarse grained would lead to unnecessary blocking) </a:t>
            </a:r>
          </a:p>
          <a:p>
            <a:pPr lvl="1"/>
            <a:r>
              <a:rPr lang="en-US" dirty="0"/>
              <a:t>Can make multi-location operations more difficult: say, rotations in an AVL tree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Start with coarse-grained, make finer only as necessary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65273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DF02-FA78-B96F-86DD-2652C9EA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But Separate Issue: Critical Section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8E75-4589-EA1E-4DF3-1CA20E41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</a:t>
            </a:r>
          </a:p>
          <a:p>
            <a:pPr lvl="1"/>
            <a:r>
              <a:rPr lang="en-US" dirty="0"/>
              <a:t>For every method that needs a lock, put the entire method body in a lock</a:t>
            </a:r>
          </a:p>
          <a:p>
            <a:r>
              <a:rPr lang="en-US" dirty="0"/>
              <a:t>Fine-grained</a:t>
            </a:r>
          </a:p>
          <a:p>
            <a:pPr lvl="1"/>
            <a:r>
              <a:rPr lang="en-US" dirty="0"/>
              <a:t>Keep the lock only for the sections of code where it’s necessary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Try to structure code so that expensive operations (like I/O) can be done outside of your critical section</a:t>
            </a:r>
          </a:p>
          <a:p>
            <a:pPr lvl="1"/>
            <a:r>
              <a:rPr lang="en-US" dirty="0"/>
              <a:t>E.g., if you’re trying to print all the values in a tree, maybe copy items into an array inside your critical section, then print the array’s contents outside.</a:t>
            </a:r>
          </a:p>
        </p:txBody>
      </p:sp>
    </p:spTree>
    <p:extLst>
      <p:ext uri="{BB962C8B-B14F-4D97-AF65-F5344CB8AC3E}">
        <p14:creationId xmlns:p14="http://schemas.microsoft.com/office/powerpoint/2010/main" val="4056517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D581-6E2B-54C1-90F9-E93A6CB5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61FC-6A57-8CB3-802A-294E8FE1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Atomic: indivisible</a:t>
            </a:r>
          </a:p>
          <a:p>
            <a:r>
              <a:rPr lang="en-US" dirty="0"/>
              <a:t>Atomic operation: one that should be thought of as a single step</a:t>
            </a:r>
          </a:p>
          <a:p>
            <a:r>
              <a:rPr lang="en-US" dirty="0"/>
              <a:t>Some sequences of operations should behave as if they are one unit</a:t>
            </a:r>
          </a:p>
          <a:p>
            <a:pPr lvl="1"/>
            <a:r>
              <a:rPr lang="en-US" dirty="0"/>
              <a:t>Between two operations you may need to avoid exposing an intermediate state</a:t>
            </a:r>
          </a:p>
          <a:p>
            <a:pPr lvl="1"/>
            <a:r>
              <a:rPr lang="en-US" dirty="0"/>
              <a:t>Usually ADT operations should be atomic </a:t>
            </a:r>
          </a:p>
          <a:p>
            <a:pPr lvl="2"/>
            <a:r>
              <a:rPr lang="en-US" dirty="0"/>
              <a:t>You don’t want another thread trying to do an insert while another thread is rotating the AVL tree</a:t>
            </a:r>
          </a:p>
          <a:p>
            <a:r>
              <a:rPr lang="en-US" dirty="0"/>
              <a:t>Think first in terms of what operations need to be atomic</a:t>
            </a:r>
          </a:p>
          <a:p>
            <a:pPr lvl="1"/>
            <a:r>
              <a:rPr lang="en-US" dirty="0"/>
              <a:t>Design critical sections and locking granularity based on these decisions</a:t>
            </a:r>
          </a:p>
        </p:txBody>
      </p:sp>
    </p:spTree>
    <p:extLst>
      <p:ext uri="{BB962C8B-B14F-4D97-AF65-F5344CB8AC3E}">
        <p14:creationId xmlns:p14="http://schemas.microsoft.com/office/powerpoint/2010/main" val="2493469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1513-6257-4293-7965-2B7E9E3A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Pre-Tested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C62B-845C-D299-42D4-0CD1A84A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use built-in libraries!</a:t>
            </a:r>
          </a:p>
          <a:p>
            <a:r>
              <a:rPr lang="en-US" dirty="0"/>
              <a:t>Other people have already invested tons of effort into making things both efficient and correct, use their work when you can!</a:t>
            </a:r>
          </a:p>
          <a:p>
            <a:pPr lvl="1"/>
            <a:r>
              <a:rPr lang="en-US" dirty="0"/>
              <a:t>Especially true for concurrent data structures</a:t>
            </a:r>
          </a:p>
          <a:p>
            <a:pPr lvl="1"/>
            <a:r>
              <a:rPr lang="en-US" dirty="0"/>
              <a:t>Use thread-safe data structures when available</a:t>
            </a:r>
          </a:p>
          <a:p>
            <a:pPr lvl="2"/>
            <a:r>
              <a:rPr lang="en-US" dirty="0"/>
              <a:t>E.g. Java as </a:t>
            </a:r>
            <a:r>
              <a:rPr lang="en-US" dirty="0" err="1"/>
              <a:t>ConcurrentHashMap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31893</TotalTime>
  <Words>4032</Words>
  <Application>Microsoft Office PowerPoint</Application>
  <PresentationFormat>Widescreen</PresentationFormat>
  <Paragraphs>546</Paragraphs>
  <Slides>46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CSE 332 Winter 2026 Lecture 19: Concurrency 2</vt:lpstr>
      <vt:lpstr>Interleaving</vt:lpstr>
      <vt:lpstr>Concurrent Programming</vt:lpstr>
      <vt:lpstr>A Bad attempt at Mutual Exclusion</vt:lpstr>
      <vt:lpstr>Solution</vt:lpstr>
      <vt:lpstr>Correct Withdraw</vt:lpstr>
      <vt:lpstr>Solution: getBalance needs the lock</vt:lpstr>
      <vt:lpstr>Re-entrant Lock Details</vt:lpstr>
      <vt:lpstr>Java’s Re-entrant Lock Class</vt:lpstr>
      <vt:lpstr>How this looks in Java</vt:lpstr>
      <vt:lpstr>Java Synchronized Keyword</vt:lpstr>
      <vt:lpstr>Back Account Using Synchronize (version 1)</vt:lpstr>
      <vt:lpstr>Back Account Using Synchronize (version 2)</vt:lpstr>
      <vt:lpstr>More Syntactic Sugar!</vt:lpstr>
      <vt:lpstr>Back Account Using Synchronize (Final)</vt:lpstr>
      <vt:lpstr>Concurrency Races</vt:lpstr>
      <vt:lpstr>Example: Shared Stack (no problems so far)</vt:lpstr>
      <vt:lpstr>Race Condition, but no Data Race</vt:lpstr>
      <vt:lpstr>Two Peeks Break LIFO Order</vt:lpstr>
      <vt:lpstr>Race Condition, including a Data Race</vt:lpstr>
      <vt:lpstr>Peek and isEmpty</vt:lpstr>
      <vt:lpstr>Peek and Push</vt:lpstr>
      <vt:lpstr>Peek and Push</vt:lpstr>
      <vt:lpstr>How to fix this?</vt:lpstr>
      <vt:lpstr>Fixed!</vt:lpstr>
      <vt:lpstr>Did this fix it?</vt:lpstr>
      <vt:lpstr>Deadlock</vt:lpstr>
      <vt:lpstr>Bank Account</vt:lpstr>
      <vt:lpstr>Deadlock Example</vt:lpstr>
      <vt:lpstr>Deadlock Example</vt:lpstr>
      <vt:lpstr>Resolving Deadlocks</vt:lpstr>
      <vt:lpstr>Option 1: Coarser Locking</vt:lpstr>
      <vt:lpstr>Option 2: Finer Critical Section</vt:lpstr>
      <vt:lpstr>Option 3: First Get All Locks In A Fixed Order</vt:lpstr>
      <vt:lpstr>Parallel Code Conventional Wisdom</vt:lpstr>
      <vt:lpstr>Memory Categories</vt:lpstr>
      <vt:lpstr>Thread Local Memory</vt:lpstr>
      <vt:lpstr>Immutable Objects</vt:lpstr>
      <vt:lpstr>Shared and Mutable Objects</vt:lpstr>
      <vt:lpstr>Consistent Locking</vt:lpstr>
      <vt:lpstr>Lock Granularity</vt:lpstr>
      <vt:lpstr>Example: Separate Chaining Hashtable</vt:lpstr>
      <vt:lpstr>Tradeoffs</vt:lpstr>
      <vt:lpstr>Similar But Separate Issue: Critical Section Granularity</vt:lpstr>
      <vt:lpstr>Atomicity</vt:lpstr>
      <vt:lpstr>Use Pre-Tested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308</cp:revision>
  <dcterms:created xsi:type="dcterms:W3CDTF">2023-10-13T16:06:42Z</dcterms:created>
  <dcterms:modified xsi:type="dcterms:W3CDTF">2026-02-27T14:37:57Z</dcterms:modified>
</cp:coreProperties>
</file>