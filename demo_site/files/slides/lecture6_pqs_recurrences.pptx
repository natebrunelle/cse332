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6"/>
  </p:notesMasterIdLst>
  <p:sldIdLst>
    <p:sldId id="256" r:id="rId2"/>
    <p:sldId id="452" r:id="rId3"/>
    <p:sldId id="417" r:id="rId4"/>
    <p:sldId id="424" r:id="rId5"/>
    <p:sldId id="461" r:id="rId6"/>
    <p:sldId id="462" r:id="rId7"/>
    <p:sldId id="437" r:id="rId8"/>
    <p:sldId id="430" r:id="rId9"/>
    <p:sldId id="435" r:id="rId10"/>
    <p:sldId id="438" r:id="rId11"/>
    <p:sldId id="440" r:id="rId12"/>
    <p:sldId id="441" r:id="rId13"/>
    <p:sldId id="443" r:id="rId14"/>
    <p:sldId id="444" r:id="rId15"/>
    <p:sldId id="445" r:id="rId16"/>
    <p:sldId id="446" r:id="rId17"/>
    <p:sldId id="447" r:id="rId18"/>
    <p:sldId id="448" r:id="rId19"/>
    <p:sldId id="449" r:id="rId20"/>
    <p:sldId id="450" r:id="rId21"/>
    <p:sldId id="451" r:id="rId22"/>
    <p:sldId id="458" r:id="rId23"/>
    <p:sldId id="453" r:id="rId24"/>
    <p:sldId id="306" r:id="rId25"/>
    <p:sldId id="307" r:id="rId26"/>
    <p:sldId id="454" r:id="rId27"/>
    <p:sldId id="456" r:id="rId28"/>
    <p:sldId id="457" r:id="rId29"/>
    <p:sldId id="459" r:id="rId30"/>
    <p:sldId id="460" r:id="rId31"/>
    <p:sldId id="385" r:id="rId32"/>
    <p:sldId id="464" r:id="rId33"/>
    <p:sldId id="463" r:id="rId34"/>
    <p:sldId id="455" r:id="rId35"/>
  </p:sldIdLst>
  <p:sldSz cx="12192000" cy="6858000"/>
  <p:notesSz cx="6858000" cy="9144000"/>
  <p:embeddedFontLst>
    <p:embeddedFont>
      <p:font typeface="Cambria Math" panose="02040503050406030204" pitchFamily="18" charset="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CB46A9-AC64-2107-0D04-23C3E6A0A637}" name="Sarah Brunelle" initials="SB" userId="S::sarah.bland@TNC.ORG::0841f992-6401-4fcf-8797-7495e84da30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FF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0D1F59-0C63-44D8-BE72-2266A9516CA1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C3430-04EA-4E2B-840E-2DAFF95C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3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1DCF-5FA9-3BBE-A6DC-4C4767E77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8AAD4-9F4E-2546-4A20-345BE6926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68BC9-B242-D863-6297-36224D35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D43E7-A090-881E-D908-BB9CC53D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FBC9-B9F9-85A6-26A1-9D7E515D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09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B011-50E5-247E-0EB3-D47C59C4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71371-A022-A3A5-E49C-D2CCEC4E2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F92F8-B436-FF4B-567C-6CF9F3F68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755B9-83BE-E117-954F-A47925F5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45716-8D01-8E2F-8276-3A903E60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7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64CF-1BBA-680C-4F96-017144A1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9E9BE-1B28-C587-A2C5-253ECF74E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E3E68-CE19-CACB-1EDD-351F4F9C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49855-AB14-5CF9-EE88-AB42D1DF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E2C96-8A85-4C99-39A1-9B9DB31D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64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89EEC-003E-DFFB-2D04-A2E70FE1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FE0F4-58A0-D6D9-6AAC-CD97965C2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E4C68-9C36-2696-B323-CF0642D6D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713B3-5A96-0F1A-CFE7-8563FD24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D724B-C264-2548-CAFF-305FE7D3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93A13-EBDF-17F2-DF34-5BA3D793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14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9F2D-6C68-B3F6-3BC7-2A9EE6BE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A2B36-9CB6-0E61-D14F-48AD642FC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51B63-A4A2-BD66-BF76-72528E69B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F4911-72D8-7120-897F-434F05D8D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54135-3D54-9447-778A-86081F047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52A4A-AE91-8A3A-8DE2-74205F39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FC667D-AA9E-21BF-66F2-755D86E7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8E628E-2723-30DA-D22D-BFF79CE0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1984-7865-CBC1-7E39-27325050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41811-B828-6912-5458-2BC9266D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DF831-0A64-24F5-806E-B3EBA5591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FD212-56D6-B7F8-FC27-BC4BF738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6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03B13-E121-53F2-65F9-41E383C5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14793-9D7D-32F8-795A-31644DBA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6B231-FE15-2561-B700-2506AC71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5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5398-EEBA-42F4-3948-4DF36A153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000E0-12D7-545A-0B4A-64A8B51A9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85510-3798-210C-EC55-29C449719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698E8-2EE7-873D-A608-9A260F5D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5F347-CF7A-10E6-8DC6-FA1E5DB6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E452D-F82A-718F-94C2-C889F622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56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1DDD-DB8D-6429-4235-465780A7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42B9E5-6756-3695-C94E-93A464783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70C60-CA85-5E67-14F6-3176093E5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25D70-D5F0-5123-66A9-63D9B82E9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7B62A-8600-7CE9-095E-82CDE4E1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8F328-EF42-0E10-9C29-12A53381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4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4705-3181-4743-BF72-E5B55E627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9669D-6765-7CD2-C040-D4C5E44BA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5E7B0-5065-8FAA-2D02-01DC4905B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87F4E-481E-5CA4-5AC0-EF15EBAF8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5C81A-1EC7-F85E-A5DB-0F7CA62E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72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F8F565-D4D2-A972-147D-1A41777B2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13695-1D6C-4A4F-7F94-134666381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AEB8A-EA17-E1E1-8CD3-B7AF8E3F2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AF905-A88D-ED4C-DD07-098840D4A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A03B8-DD10-B6B6-6B59-3EB669F3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8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BC2B57-F2EC-C92D-BAFA-C36FE7F31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E8E8-3549-4143-3C3F-38529FA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2DEB0-3161-B686-27DF-345950BFF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5E12D-E358-B346-0620-4D8545C52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1C4BA-D22A-5462-8F71-6F616DC8F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07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5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360.png"/><Relationship Id="rId18" Type="http://schemas.openxmlformats.org/officeDocument/2006/relationships/image" Target="../media/image210.png"/><Relationship Id="rId3" Type="http://schemas.openxmlformats.org/officeDocument/2006/relationships/image" Target="../media/image261.png"/><Relationship Id="rId21" Type="http://schemas.openxmlformats.org/officeDocument/2006/relationships/image" Target="../media/image25.png"/><Relationship Id="rId7" Type="http://schemas.openxmlformats.org/officeDocument/2006/relationships/image" Target="../media/image300.png"/><Relationship Id="rId12" Type="http://schemas.openxmlformats.org/officeDocument/2006/relationships/image" Target="../media/image35.png"/><Relationship Id="rId17" Type="http://schemas.openxmlformats.org/officeDocument/2006/relationships/image" Target="../media/image200.png"/><Relationship Id="rId2" Type="http://schemas.openxmlformats.org/officeDocument/2006/relationships/image" Target="../media/image100.png"/><Relationship Id="rId16" Type="http://schemas.openxmlformats.org/officeDocument/2006/relationships/image" Target="../media/image190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0.png"/><Relationship Id="rId11" Type="http://schemas.openxmlformats.org/officeDocument/2006/relationships/image" Target="../media/image34.png"/><Relationship Id="rId24" Type="http://schemas.openxmlformats.org/officeDocument/2006/relationships/image" Target="../media/image46.png"/><Relationship Id="rId5" Type="http://schemas.openxmlformats.org/officeDocument/2006/relationships/image" Target="../media/image170.png"/><Relationship Id="rId15" Type="http://schemas.openxmlformats.org/officeDocument/2006/relationships/image" Target="../media/image38.png"/><Relationship Id="rId23" Type="http://schemas.openxmlformats.org/officeDocument/2006/relationships/image" Target="../media/image45.png"/><Relationship Id="rId10" Type="http://schemas.openxmlformats.org/officeDocument/2006/relationships/image" Target="../media/image330.png"/><Relationship Id="rId19" Type="http://schemas.openxmlformats.org/officeDocument/2006/relationships/image" Target="../media/image220.png"/><Relationship Id="rId4" Type="http://schemas.openxmlformats.org/officeDocument/2006/relationships/image" Target="../media/image271.png"/><Relationship Id="rId9" Type="http://schemas.openxmlformats.org/officeDocument/2006/relationships/image" Target="../media/image320.png"/><Relationship Id="rId14" Type="http://schemas.openxmlformats.org/officeDocument/2006/relationships/image" Target="../media/image370.png"/><Relationship Id="rId22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2.png"/><Relationship Id="rId18" Type="http://schemas.openxmlformats.org/officeDocument/2006/relationships/image" Target="../media/image49.png"/><Relationship Id="rId26" Type="http://schemas.openxmlformats.org/officeDocument/2006/relationships/image" Target="../media/image57.png"/><Relationship Id="rId3" Type="http://schemas.openxmlformats.org/officeDocument/2006/relationships/image" Target="../media/image28.png"/><Relationship Id="rId21" Type="http://schemas.openxmlformats.org/officeDocument/2006/relationships/image" Target="../media/image52.png"/><Relationship Id="rId7" Type="http://schemas.openxmlformats.org/officeDocument/2006/relationships/image" Target="../media/image33.png"/><Relationship Id="rId12" Type="http://schemas.openxmlformats.org/officeDocument/2006/relationships/image" Target="../media/image41.png"/><Relationship Id="rId17" Type="http://schemas.openxmlformats.org/officeDocument/2006/relationships/image" Target="../media/image48.png"/><Relationship Id="rId25" Type="http://schemas.openxmlformats.org/officeDocument/2006/relationships/image" Target="../media/image56.png"/><Relationship Id="rId2" Type="http://schemas.openxmlformats.org/officeDocument/2006/relationships/image" Target="../media/image26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29" Type="http://schemas.openxmlformats.org/officeDocument/2006/relationships/image" Target="../media/image6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11" Type="http://schemas.openxmlformats.org/officeDocument/2006/relationships/image" Target="../media/image40.png"/><Relationship Id="rId24" Type="http://schemas.openxmlformats.org/officeDocument/2006/relationships/image" Target="../media/image55.png"/><Relationship Id="rId32" Type="http://schemas.openxmlformats.org/officeDocument/2006/relationships/image" Target="../media/image63.png"/><Relationship Id="rId5" Type="http://schemas.openxmlformats.org/officeDocument/2006/relationships/image" Target="../media/image31.png"/><Relationship Id="rId15" Type="http://schemas.openxmlformats.org/officeDocument/2006/relationships/image" Target="../media/image44.png"/><Relationship Id="rId23" Type="http://schemas.openxmlformats.org/officeDocument/2006/relationships/image" Target="../media/image54.png"/><Relationship Id="rId28" Type="http://schemas.openxmlformats.org/officeDocument/2006/relationships/image" Target="../media/image59.png"/><Relationship Id="rId10" Type="http://schemas.openxmlformats.org/officeDocument/2006/relationships/image" Target="../media/image39.png"/><Relationship Id="rId19" Type="http://schemas.openxmlformats.org/officeDocument/2006/relationships/image" Target="../media/image50.png"/><Relationship Id="rId31" Type="http://schemas.openxmlformats.org/officeDocument/2006/relationships/image" Target="../media/image62.png"/><Relationship Id="rId4" Type="http://schemas.openxmlformats.org/officeDocument/2006/relationships/image" Target="../media/image29.png"/><Relationship Id="rId9" Type="http://schemas.openxmlformats.org/officeDocument/2006/relationships/image" Target="../media/image37.png"/><Relationship Id="rId14" Type="http://schemas.openxmlformats.org/officeDocument/2006/relationships/image" Target="../media/image43.png"/><Relationship Id="rId22" Type="http://schemas.openxmlformats.org/officeDocument/2006/relationships/image" Target="../media/image53.png"/><Relationship Id="rId27" Type="http://schemas.openxmlformats.org/officeDocument/2006/relationships/image" Target="../media/image58.png"/><Relationship Id="rId30" Type="http://schemas.openxmlformats.org/officeDocument/2006/relationships/image" Target="../media/image6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CSE 332 Winter 2024</a:t>
            </a:r>
            <a:br>
              <a:rPr lang="en-US" dirty="0"/>
            </a:br>
            <a:r>
              <a:rPr lang="en-US" dirty="0"/>
              <a:t>Lecture 6: Priority Queues and recurrences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D41E5-465C-EBB5-E9CD-029376B83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ADT: Priority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F048E-DA88-5227-7793-0EE138E73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What is it?</a:t>
            </a:r>
          </a:p>
          <a:p>
            <a:pPr lvl="1"/>
            <a:r>
              <a:rPr lang="en-US" dirty="0"/>
              <a:t>A collection of items and their “priorities”</a:t>
            </a:r>
          </a:p>
          <a:p>
            <a:pPr lvl="1"/>
            <a:r>
              <a:rPr lang="en-US" dirty="0"/>
              <a:t>Allows quick access/removal to the “top priority” thing</a:t>
            </a:r>
          </a:p>
          <a:p>
            <a:r>
              <a:rPr lang="en-US" dirty="0"/>
              <a:t>What Operations do we need?</a:t>
            </a:r>
          </a:p>
          <a:p>
            <a:pPr lvl="1"/>
            <a:r>
              <a:rPr lang="en-US" dirty="0"/>
              <a:t>insert(item, priority)</a:t>
            </a:r>
          </a:p>
          <a:p>
            <a:pPr lvl="2"/>
            <a:r>
              <a:rPr lang="en-US" dirty="0"/>
              <a:t>Add a new item to the PQ with indicated priority</a:t>
            </a:r>
          </a:p>
          <a:p>
            <a:pPr lvl="2"/>
            <a:r>
              <a:rPr lang="en-US" dirty="0"/>
              <a:t>Usually, smaller priority value means more important</a:t>
            </a:r>
          </a:p>
          <a:p>
            <a:pPr lvl="1"/>
            <a:r>
              <a:rPr lang="en-US" dirty="0" err="1"/>
              <a:t>deleteMin</a:t>
            </a:r>
            <a:endParaRPr lang="en-US" dirty="0"/>
          </a:p>
          <a:p>
            <a:pPr lvl="2"/>
            <a:r>
              <a:rPr lang="en-US" dirty="0"/>
              <a:t>Remove and return the “top priority” item from the queue</a:t>
            </a:r>
          </a:p>
          <a:p>
            <a:pPr lvl="1"/>
            <a:r>
              <a:rPr lang="en-US" dirty="0" err="1"/>
              <a:t>Is_empty</a:t>
            </a:r>
            <a:endParaRPr lang="en-US" dirty="0"/>
          </a:p>
          <a:p>
            <a:pPr lvl="2"/>
            <a:r>
              <a:rPr lang="en-US" dirty="0"/>
              <a:t>Indicate whether or not there are items still on the queue</a:t>
            </a:r>
          </a:p>
          <a:p>
            <a:r>
              <a:rPr lang="en-US" dirty="0"/>
              <a:t>Note: the “priority” value can be any type/class so long as it’s comparable (i.e. you can use “&lt;“ or “</a:t>
            </a:r>
            <a:r>
              <a:rPr lang="en-US" dirty="0" err="1"/>
              <a:t>compareTo</a:t>
            </a:r>
            <a:r>
              <a:rPr lang="en-US" dirty="0"/>
              <a:t>” with it)</a:t>
            </a:r>
          </a:p>
        </p:txBody>
      </p:sp>
    </p:spTree>
    <p:extLst>
      <p:ext uri="{BB962C8B-B14F-4D97-AF65-F5344CB8AC3E}">
        <p14:creationId xmlns:p14="http://schemas.microsoft.com/office/powerpoint/2010/main" val="2524281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C6CB2-21FD-58F8-0744-75D5A27E3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through implementations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5DE81BF-64A3-93DD-75E1-1B8B7ADAA44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02711796"/>
                  </p:ext>
                </p:extLst>
              </p:nvPr>
            </p:nvGraphicFramePr>
            <p:xfrm>
              <a:off x="838200" y="1825625"/>
              <a:ext cx="10515597" cy="2880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636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378968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4099557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Worst case 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Worst case time to </a:t>
                          </a:r>
                          <a:r>
                            <a:rPr lang="en-US" sz="2100" dirty="0" err="1"/>
                            <a:t>deleteMin</a:t>
                          </a:r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1959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Heap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sz="2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100" b="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21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sz="2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100" b="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21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76517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5DE81BF-64A3-93DD-75E1-1B8B7ADAA44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02711796"/>
                  </p:ext>
                </p:extLst>
              </p:nvPr>
            </p:nvGraphicFramePr>
            <p:xfrm>
              <a:off x="838200" y="1825625"/>
              <a:ext cx="10515597" cy="2880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636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378968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4099557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Worst case 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Worst case time to </a:t>
                          </a:r>
                          <a:r>
                            <a:rPr lang="en-US" sz="2100" dirty="0" err="1"/>
                            <a:t>deleteMin</a:t>
                          </a:r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453" t="-110448" r="-108842" b="-534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6612" t="-110448" r="-594" b="-5343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453" t="-207353" r="-108842" b="-4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6612" t="-207353" r="-594" b="-426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453" t="-311940" r="-108842" b="-332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6612" t="-311940" r="-594" b="-332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453" t="-405882" r="-108842" b="-22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6612" t="-405882" r="-594" b="-227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453" t="-513433" r="-108842" b="-1313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6612" t="-513433" r="-594" b="-1313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1959055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Heap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453" t="-604412" r="-108842" b="-2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6612" t="-604412" r="-594" b="-2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76517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5DC9A6B-441D-32AF-47B4-F4888F339B90}"/>
              </a:ext>
            </a:extLst>
          </p:cNvPr>
          <p:cNvSpPr txBox="1"/>
          <p:nvPr/>
        </p:nvSpPr>
        <p:spPr>
          <a:xfrm>
            <a:off x="838200" y="6035040"/>
            <a:ext cx="9707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Note: Assume we know the maximum size of the PQ in advance</a:t>
            </a:r>
          </a:p>
        </p:txBody>
      </p:sp>
    </p:spTree>
    <p:extLst>
      <p:ext uri="{BB962C8B-B14F-4D97-AF65-F5344CB8AC3E}">
        <p14:creationId xmlns:p14="http://schemas.microsoft.com/office/powerpoint/2010/main" val="3914709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0BF59-083A-CA08-93EA-90DDC967B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(Min) Heap Data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97669B-CBB0-4757-983B-3F44485761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Keep items in a complete binary tree</a:t>
                </a:r>
              </a:p>
              <a:p>
                <a:r>
                  <a:rPr lang="en-US" dirty="0"/>
                  <a:t>Maintain the “(Min) Heap Property” of the tree</a:t>
                </a:r>
              </a:p>
              <a:p>
                <a:pPr lvl="1"/>
                <a:r>
                  <a:rPr lang="en-US" dirty="0"/>
                  <a:t>Every node’s priority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its children’s priority</a:t>
                </a:r>
              </a:p>
              <a:p>
                <a:pPr lvl="1"/>
                <a:r>
                  <a:rPr lang="en-US" sz="2000" dirty="0"/>
                  <a:t>Max Heap Property: every node’s priority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000" dirty="0"/>
                  <a:t> its children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97669B-CBB0-4757-983B-3F44485761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58AE6CBA-AB2F-80B2-02B0-F3E0F80B5682}"/>
              </a:ext>
            </a:extLst>
          </p:cNvPr>
          <p:cNvGrpSpPr/>
          <p:nvPr/>
        </p:nvGrpSpPr>
        <p:grpSpPr>
          <a:xfrm>
            <a:off x="5161281" y="2808212"/>
            <a:ext cx="6934200" cy="3368751"/>
            <a:chOff x="2590801" y="2672070"/>
            <a:chExt cx="6934200" cy="336875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C35D44B-7628-E1CA-355C-F1502458AAFF}"/>
                </a:ext>
              </a:extLst>
            </p:cNvPr>
            <p:cNvSpPr/>
            <p:nvPr/>
          </p:nvSpPr>
          <p:spPr>
            <a:xfrm>
              <a:off x="5996855" y="267207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06D75F0-1F90-45CD-3466-F0D3151331C2}"/>
                </a:ext>
              </a:extLst>
            </p:cNvPr>
            <p:cNvSpPr/>
            <p:nvPr/>
          </p:nvSpPr>
          <p:spPr>
            <a:xfrm>
              <a:off x="4191001" y="3682289"/>
              <a:ext cx="688077" cy="68807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5428839-BA2F-B30D-94E5-826514CC6F90}"/>
                </a:ext>
              </a:extLst>
            </p:cNvPr>
            <p:cNvSpPr/>
            <p:nvPr/>
          </p:nvSpPr>
          <p:spPr>
            <a:xfrm>
              <a:off x="7858499" y="3653913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AAF1CD9-D7B0-1F23-5F0D-1AE7356B4063}"/>
                </a:ext>
              </a:extLst>
            </p:cNvPr>
            <p:cNvSpPr/>
            <p:nvPr/>
          </p:nvSpPr>
          <p:spPr>
            <a:xfrm>
              <a:off x="3200401" y="438350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A3A9B3C-DD7B-FA7F-8066-BF8EDE5C6C0E}"/>
                </a:ext>
              </a:extLst>
            </p:cNvPr>
            <p:cNvSpPr/>
            <p:nvPr/>
          </p:nvSpPr>
          <p:spPr>
            <a:xfrm>
              <a:off x="5211206" y="4425368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4A5175A-FD0A-6371-2F1B-DB3E686ECC8D}"/>
                </a:ext>
              </a:extLst>
            </p:cNvPr>
            <p:cNvSpPr/>
            <p:nvPr/>
          </p:nvSpPr>
          <p:spPr>
            <a:xfrm>
              <a:off x="6934201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A33B652-75C8-B0DA-13BD-38B23E9E57B2}"/>
                </a:ext>
              </a:extLst>
            </p:cNvPr>
            <p:cNvSpPr/>
            <p:nvPr/>
          </p:nvSpPr>
          <p:spPr>
            <a:xfrm>
              <a:off x="8836924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36E5ACF-446B-CD24-C4B1-D4CCCBEFC8B9}"/>
                </a:ext>
              </a:extLst>
            </p:cNvPr>
            <p:cNvSpPr/>
            <p:nvPr/>
          </p:nvSpPr>
          <p:spPr>
            <a:xfrm>
              <a:off x="2590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28E15AD-EBCB-3F3E-9454-F62DC58673EF}"/>
                </a:ext>
              </a:extLst>
            </p:cNvPr>
            <p:cNvSpPr/>
            <p:nvPr/>
          </p:nvSpPr>
          <p:spPr>
            <a:xfrm>
              <a:off x="3733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474545E-8779-A2D5-CC1E-916D83DAFEC0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4778311" y="3259380"/>
              <a:ext cx="1319311" cy="5236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C832117-1D91-EA54-AA48-D42D50B6E77D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584165" y="3259380"/>
              <a:ext cx="1375101" cy="495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216AEFE-FACF-94D3-2B06-267CC376A70D}"/>
                </a:ext>
              </a:extLst>
            </p:cNvPr>
            <p:cNvCxnSpPr>
              <a:stCxn id="9" idx="1"/>
              <a:endCxn id="6" idx="5"/>
            </p:cNvCxnSpPr>
            <p:nvPr/>
          </p:nvCxnSpPr>
          <p:spPr>
            <a:xfrm flipH="1" flipV="1">
              <a:off x="4778310" y="4269598"/>
              <a:ext cx="533662" cy="2565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F51E84C-C241-3587-EEAA-D44DCC6EB670}"/>
                </a:ext>
              </a:extLst>
            </p:cNvPr>
            <p:cNvCxnSpPr>
              <a:stCxn id="8" idx="7"/>
              <a:endCxn id="6" idx="3"/>
            </p:cNvCxnSpPr>
            <p:nvPr/>
          </p:nvCxnSpPr>
          <p:spPr>
            <a:xfrm flipV="1">
              <a:off x="3787711" y="4269598"/>
              <a:ext cx="504057" cy="214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2F6055D-B72C-64B7-C5B6-16DED3B88937}"/>
                </a:ext>
              </a:extLst>
            </p:cNvPr>
            <p:cNvCxnSpPr>
              <a:stCxn id="13" idx="0"/>
              <a:endCxn id="8" idx="5"/>
            </p:cNvCxnSpPr>
            <p:nvPr/>
          </p:nvCxnSpPr>
          <p:spPr>
            <a:xfrm flipH="1" flipV="1">
              <a:off x="3787711" y="4970813"/>
              <a:ext cx="290129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820EC72-600D-B503-2BA3-2F770786B564}"/>
                </a:ext>
              </a:extLst>
            </p:cNvPr>
            <p:cNvCxnSpPr>
              <a:stCxn id="12" idx="0"/>
              <a:endCxn id="8" idx="3"/>
            </p:cNvCxnSpPr>
            <p:nvPr/>
          </p:nvCxnSpPr>
          <p:spPr>
            <a:xfrm flipV="1">
              <a:off x="2934839" y="4970813"/>
              <a:ext cx="366328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E5B7A2E-C48F-13F0-EC5F-40C151CCB2C5}"/>
                </a:ext>
              </a:extLst>
            </p:cNvPr>
            <p:cNvCxnSpPr>
              <a:stCxn id="10" idx="7"/>
              <a:endCxn id="7" idx="3"/>
            </p:cNvCxnSpPr>
            <p:nvPr/>
          </p:nvCxnSpPr>
          <p:spPr>
            <a:xfrm flipV="1">
              <a:off x="7521511" y="4241222"/>
              <a:ext cx="437755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6A696EE-72D9-D0B0-C82B-CF1F4D5D6426}"/>
                </a:ext>
              </a:extLst>
            </p:cNvPr>
            <p:cNvCxnSpPr>
              <a:stCxn id="11" idx="1"/>
              <a:endCxn id="7" idx="5"/>
            </p:cNvCxnSpPr>
            <p:nvPr/>
          </p:nvCxnSpPr>
          <p:spPr>
            <a:xfrm flipH="1" flipV="1">
              <a:off x="8445808" y="4241222"/>
              <a:ext cx="491882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8341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0A239-AB83-588B-7F8C-A378F624E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a Heap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79323D-7A04-F49B-C2B4-877B56453F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6282" y="1570438"/>
                <a:ext cx="6938093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Every complete binary tree with the same number of nodes uses the same positions and edges</a:t>
                </a:r>
              </a:p>
              <a:p>
                <a:r>
                  <a:rPr lang="en-US" dirty="0"/>
                  <a:t>Use an array to represent the heap</a:t>
                </a:r>
              </a:p>
              <a:p>
                <a:r>
                  <a:rPr lang="en-US" dirty="0"/>
                  <a:t>Index of root: </a:t>
                </a:r>
                <a:r>
                  <a:rPr lang="en-US" dirty="0">
                    <a:solidFill>
                      <a:srgbClr val="FF66FF"/>
                    </a:solidFill>
                  </a:rPr>
                  <a:t>1</a:t>
                </a:r>
              </a:p>
              <a:p>
                <a:r>
                  <a:rPr lang="en-US" dirty="0"/>
                  <a:t>Parent of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b="0" i="1" smtClean="0">
                            <a:solidFill>
                              <a:srgbClr val="FF66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Left child of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66F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solidFill>
                          <a:srgbClr val="FF66F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Right child of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66F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solidFill>
                          <a:srgbClr val="FF66F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rgbClr val="FF66FF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Location of the leaves: </a:t>
                </a:r>
                <a:r>
                  <a:rPr lang="en-US" dirty="0">
                    <a:solidFill>
                      <a:srgbClr val="FF66FF"/>
                    </a:solidFill>
                  </a:rPr>
                  <a:t>last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b="0" i="1" smtClean="0">
                            <a:solidFill>
                              <a:srgbClr val="FF66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79323D-7A04-F49B-C2B4-877B56453F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6282" y="1570438"/>
                <a:ext cx="6938093" cy="4351338"/>
              </a:xfrm>
              <a:blipFill>
                <a:blip r:embed="rId2"/>
                <a:stretch>
                  <a:fillRect l="-1582" t="-3226" b="-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2F432A6F-3B38-F5E7-01DD-DAEA463B2720}"/>
              </a:ext>
            </a:extLst>
          </p:cNvPr>
          <p:cNvGrpSpPr/>
          <p:nvPr/>
        </p:nvGrpSpPr>
        <p:grpSpPr>
          <a:xfrm>
            <a:off x="5161281" y="2830993"/>
            <a:ext cx="6934200" cy="3661882"/>
            <a:chOff x="2590801" y="2672070"/>
            <a:chExt cx="6934200" cy="366188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CCDFAF7-D087-A729-16FC-1A4A848DC165}"/>
                </a:ext>
              </a:extLst>
            </p:cNvPr>
            <p:cNvSpPr/>
            <p:nvPr/>
          </p:nvSpPr>
          <p:spPr>
            <a:xfrm>
              <a:off x="5996855" y="267207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66556C7-28BB-27CE-2453-438EB9B5729C}"/>
                </a:ext>
              </a:extLst>
            </p:cNvPr>
            <p:cNvSpPr/>
            <p:nvPr/>
          </p:nvSpPr>
          <p:spPr>
            <a:xfrm>
              <a:off x="4191001" y="3682289"/>
              <a:ext cx="688077" cy="68807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1F22AA6-3A2C-0E0F-6770-5E4814A3A9BA}"/>
                </a:ext>
              </a:extLst>
            </p:cNvPr>
            <p:cNvSpPr/>
            <p:nvPr/>
          </p:nvSpPr>
          <p:spPr>
            <a:xfrm>
              <a:off x="7858499" y="3653913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3EFC98-7E2D-1466-6EEA-85788B9C4879}"/>
                </a:ext>
              </a:extLst>
            </p:cNvPr>
            <p:cNvSpPr/>
            <p:nvPr/>
          </p:nvSpPr>
          <p:spPr>
            <a:xfrm>
              <a:off x="3200401" y="438350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754F5A3-A2CA-ABC5-C1BD-653DE632FCB2}"/>
                </a:ext>
              </a:extLst>
            </p:cNvPr>
            <p:cNvSpPr/>
            <p:nvPr/>
          </p:nvSpPr>
          <p:spPr>
            <a:xfrm>
              <a:off x="5211206" y="4425368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395B23C-4819-8F19-E006-45A28A32E0F3}"/>
                </a:ext>
              </a:extLst>
            </p:cNvPr>
            <p:cNvSpPr/>
            <p:nvPr/>
          </p:nvSpPr>
          <p:spPr>
            <a:xfrm>
              <a:off x="6934201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1FD7AE4-5789-4301-9D43-66F98E658620}"/>
                </a:ext>
              </a:extLst>
            </p:cNvPr>
            <p:cNvSpPr/>
            <p:nvPr/>
          </p:nvSpPr>
          <p:spPr>
            <a:xfrm>
              <a:off x="8836924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577DA87-3AA4-A9F6-0603-B50AB8AA521F}"/>
                </a:ext>
              </a:extLst>
            </p:cNvPr>
            <p:cNvSpPr/>
            <p:nvPr/>
          </p:nvSpPr>
          <p:spPr>
            <a:xfrm>
              <a:off x="2590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15D83AD-A4F9-DDA6-7C9B-D5E2FB999159}"/>
                </a:ext>
              </a:extLst>
            </p:cNvPr>
            <p:cNvSpPr/>
            <p:nvPr/>
          </p:nvSpPr>
          <p:spPr>
            <a:xfrm>
              <a:off x="3733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4C678B9-8376-E641-03A3-B9B5AC01DD5A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4778311" y="3259380"/>
              <a:ext cx="1319311" cy="5236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73A3D15-A765-6F5D-FF62-8AFF371E1C9F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584165" y="3259380"/>
              <a:ext cx="1375101" cy="495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5A8FFAB-D84B-85B8-58B8-1B00F7CCA551}"/>
                </a:ext>
              </a:extLst>
            </p:cNvPr>
            <p:cNvCxnSpPr>
              <a:stCxn id="9" idx="1"/>
              <a:endCxn id="6" idx="5"/>
            </p:cNvCxnSpPr>
            <p:nvPr/>
          </p:nvCxnSpPr>
          <p:spPr>
            <a:xfrm flipH="1" flipV="1">
              <a:off x="4778310" y="4269598"/>
              <a:ext cx="533662" cy="2565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5B82966-89E3-2B46-3D38-374AFBCC160F}"/>
                </a:ext>
              </a:extLst>
            </p:cNvPr>
            <p:cNvCxnSpPr>
              <a:stCxn id="8" idx="7"/>
              <a:endCxn id="6" idx="3"/>
            </p:cNvCxnSpPr>
            <p:nvPr/>
          </p:nvCxnSpPr>
          <p:spPr>
            <a:xfrm flipV="1">
              <a:off x="3787711" y="4269598"/>
              <a:ext cx="504057" cy="214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5158B6C-4AAC-11E8-A5FA-CBD2F7589363}"/>
                </a:ext>
              </a:extLst>
            </p:cNvPr>
            <p:cNvCxnSpPr>
              <a:stCxn id="13" idx="0"/>
              <a:endCxn id="8" idx="5"/>
            </p:cNvCxnSpPr>
            <p:nvPr/>
          </p:nvCxnSpPr>
          <p:spPr>
            <a:xfrm flipH="1" flipV="1">
              <a:off x="3787711" y="4970813"/>
              <a:ext cx="290129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B16B0B2-C57D-A089-16C8-D9A40F63D872}"/>
                </a:ext>
              </a:extLst>
            </p:cNvPr>
            <p:cNvCxnSpPr>
              <a:stCxn id="12" idx="0"/>
              <a:endCxn id="8" idx="3"/>
            </p:cNvCxnSpPr>
            <p:nvPr/>
          </p:nvCxnSpPr>
          <p:spPr>
            <a:xfrm flipV="1">
              <a:off x="2934839" y="4970813"/>
              <a:ext cx="366328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CD70709-CC17-AFBD-F517-918800E04B01}"/>
                </a:ext>
              </a:extLst>
            </p:cNvPr>
            <p:cNvCxnSpPr>
              <a:stCxn id="10" idx="7"/>
              <a:endCxn id="7" idx="3"/>
            </p:cNvCxnSpPr>
            <p:nvPr/>
          </p:nvCxnSpPr>
          <p:spPr>
            <a:xfrm flipV="1">
              <a:off x="7521511" y="4241222"/>
              <a:ext cx="437755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EC3F72F-4633-2DB2-15C6-8744989B9052}"/>
                </a:ext>
              </a:extLst>
            </p:cNvPr>
            <p:cNvCxnSpPr>
              <a:stCxn id="11" idx="1"/>
              <a:endCxn id="7" idx="5"/>
            </p:cNvCxnSpPr>
            <p:nvPr/>
          </p:nvCxnSpPr>
          <p:spPr>
            <a:xfrm flipH="1" flipV="1">
              <a:off x="8445808" y="4241222"/>
              <a:ext cx="491882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2D58420-FDF0-2F8C-6D16-5DCE4CECFFFE}"/>
                </a:ext>
              </a:extLst>
            </p:cNvPr>
            <p:cNvSpPr txBox="1"/>
            <p:nvPr/>
          </p:nvSpPr>
          <p:spPr>
            <a:xfrm>
              <a:off x="6190049" y="33712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D3FC88C-CCA1-260D-94E2-E82E0014B50F}"/>
                </a:ext>
              </a:extLst>
            </p:cNvPr>
            <p:cNvSpPr txBox="1"/>
            <p:nvPr/>
          </p:nvSpPr>
          <p:spPr>
            <a:xfrm>
              <a:off x="4384195" y="437709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823466E-9014-5708-3F67-1E2739A939F2}"/>
                </a:ext>
              </a:extLst>
            </p:cNvPr>
            <p:cNvSpPr txBox="1"/>
            <p:nvPr/>
          </p:nvSpPr>
          <p:spPr>
            <a:xfrm>
              <a:off x="8051693" y="431669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9F29237-8A0E-5878-6C02-03A9050EA055}"/>
                </a:ext>
              </a:extLst>
            </p:cNvPr>
            <p:cNvSpPr txBox="1"/>
            <p:nvPr/>
          </p:nvSpPr>
          <p:spPr>
            <a:xfrm>
              <a:off x="3352081" y="507158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9F9AA81-2F4E-7699-571D-B616367A4776}"/>
                </a:ext>
              </a:extLst>
            </p:cNvPr>
            <p:cNvSpPr txBox="1"/>
            <p:nvPr/>
          </p:nvSpPr>
          <p:spPr>
            <a:xfrm>
              <a:off x="7122005" y="501267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7FA733E-267C-B6B7-35AE-6CB4C124A4C6}"/>
                </a:ext>
              </a:extLst>
            </p:cNvPr>
            <p:cNvSpPr txBox="1"/>
            <p:nvPr/>
          </p:nvSpPr>
          <p:spPr>
            <a:xfrm>
              <a:off x="5404400" y="510890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2074F7B-90C0-2766-0C59-F8D7C3963C3B}"/>
                </a:ext>
              </a:extLst>
            </p:cNvPr>
            <p:cNvSpPr txBox="1"/>
            <p:nvPr/>
          </p:nvSpPr>
          <p:spPr>
            <a:xfrm>
              <a:off x="9030118" y="503006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81AE260-19E9-58C5-CE3F-E1C5B23C297D}"/>
                </a:ext>
              </a:extLst>
            </p:cNvPr>
            <p:cNvSpPr txBox="1"/>
            <p:nvPr/>
          </p:nvSpPr>
          <p:spPr>
            <a:xfrm>
              <a:off x="2783996" y="596462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2DD3AF9-8C64-BB8A-8916-179191C830E1}"/>
                </a:ext>
              </a:extLst>
            </p:cNvPr>
            <p:cNvSpPr txBox="1"/>
            <p:nvPr/>
          </p:nvSpPr>
          <p:spPr>
            <a:xfrm>
              <a:off x="3920467" y="596462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034A460-2586-8D84-2404-1DC6F3C7CF2C}"/>
              </a:ext>
            </a:extLst>
          </p:cNvPr>
          <p:cNvGrpSpPr/>
          <p:nvPr/>
        </p:nvGrpSpPr>
        <p:grpSpPr>
          <a:xfrm>
            <a:off x="6415734" y="754688"/>
            <a:ext cx="5335707" cy="942725"/>
            <a:chOff x="2969525" y="2137541"/>
            <a:chExt cx="5335707" cy="942725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12067B8-0F65-635F-EB27-A65C8C91F307}"/>
                </a:ext>
              </a:extLst>
            </p:cNvPr>
            <p:cNvGrpSpPr/>
            <p:nvPr/>
          </p:nvGrpSpPr>
          <p:grpSpPr>
            <a:xfrm>
              <a:off x="2969525" y="2137541"/>
              <a:ext cx="5335707" cy="533400"/>
              <a:chOff x="1445524" y="2971800"/>
              <a:chExt cx="5335707" cy="53340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6CF93A6-5138-3AA8-571B-124F87F53452}"/>
                  </a:ext>
                </a:extLst>
              </p:cNvPr>
              <p:cNvSpPr/>
              <p:nvPr/>
            </p:nvSpPr>
            <p:spPr>
              <a:xfrm>
                <a:off x="1445524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1D61B2B-B935-40A6-9785-DC28D35F85B1}"/>
                  </a:ext>
                </a:extLst>
              </p:cNvPr>
              <p:cNvSpPr/>
              <p:nvPr/>
            </p:nvSpPr>
            <p:spPr>
              <a:xfrm>
                <a:off x="1978924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C5E4A36F-69C2-8FEF-04C8-448BCBC24C3A}"/>
                  </a:ext>
                </a:extLst>
              </p:cNvPr>
              <p:cNvSpPr/>
              <p:nvPr/>
            </p:nvSpPr>
            <p:spPr>
              <a:xfrm>
                <a:off x="25128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8311943-7B02-92AD-C0E0-1A1570965454}"/>
                  </a:ext>
                </a:extLst>
              </p:cNvPr>
              <p:cNvSpPr/>
              <p:nvPr/>
            </p:nvSpPr>
            <p:spPr>
              <a:xfrm>
                <a:off x="30462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446B978-1048-2DFC-8915-A3E1343D6252}"/>
                  </a:ext>
                </a:extLst>
              </p:cNvPr>
              <p:cNvSpPr/>
              <p:nvPr/>
            </p:nvSpPr>
            <p:spPr>
              <a:xfrm>
                <a:off x="35796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08363A7-7B23-DEEC-7E4C-07E98FC32C12}"/>
                  </a:ext>
                </a:extLst>
              </p:cNvPr>
              <p:cNvSpPr/>
              <p:nvPr/>
            </p:nvSpPr>
            <p:spPr>
              <a:xfrm>
                <a:off x="41136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6D8F0EE-99AB-9979-A652-B1E990B6B685}"/>
                  </a:ext>
                </a:extLst>
              </p:cNvPr>
              <p:cNvSpPr/>
              <p:nvPr/>
            </p:nvSpPr>
            <p:spPr>
              <a:xfrm>
                <a:off x="46470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8E298803-4CF9-44C4-65A9-22FA36AE083F}"/>
                  </a:ext>
                </a:extLst>
              </p:cNvPr>
              <p:cNvSpPr/>
              <p:nvPr/>
            </p:nvSpPr>
            <p:spPr>
              <a:xfrm>
                <a:off x="51804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4E192E8-3C35-79F3-9BEF-6DBE322A6E6B}"/>
                  </a:ext>
                </a:extLst>
              </p:cNvPr>
              <p:cNvSpPr/>
              <p:nvPr/>
            </p:nvSpPr>
            <p:spPr>
              <a:xfrm>
                <a:off x="57144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176A0CF5-494E-36C1-2E0E-37D540346774}"/>
                  </a:ext>
                </a:extLst>
              </p:cNvPr>
              <p:cNvSpPr/>
              <p:nvPr/>
            </p:nvSpPr>
            <p:spPr>
              <a:xfrm>
                <a:off x="62478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F94BD7F-DFB9-3F7B-F409-F969572D5CFC}"/>
                </a:ext>
              </a:extLst>
            </p:cNvPr>
            <p:cNvSpPr txBox="1"/>
            <p:nvPr/>
          </p:nvSpPr>
          <p:spPr>
            <a:xfrm>
              <a:off x="3085381" y="2710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B9141C7-12C6-27DA-EA35-667DF41CF456}"/>
                </a:ext>
              </a:extLst>
            </p:cNvPr>
            <p:cNvSpPr txBox="1"/>
            <p:nvPr/>
          </p:nvSpPr>
          <p:spPr>
            <a:xfrm>
              <a:off x="3618781" y="2710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9345D1E-2ECC-D61F-6990-8586D482B42B}"/>
                </a:ext>
              </a:extLst>
            </p:cNvPr>
            <p:cNvSpPr txBox="1"/>
            <p:nvPr/>
          </p:nvSpPr>
          <p:spPr>
            <a:xfrm>
              <a:off x="4152750" y="2710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BA1BA49-7BD4-1661-2F4D-774C17D9A52D}"/>
                </a:ext>
              </a:extLst>
            </p:cNvPr>
            <p:cNvSpPr txBox="1"/>
            <p:nvPr/>
          </p:nvSpPr>
          <p:spPr>
            <a:xfrm>
              <a:off x="4686150" y="2710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2E61923-18C0-5991-9ED1-C98F41FC6780}"/>
                </a:ext>
              </a:extLst>
            </p:cNvPr>
            <p:cNvSpPr txBox="1"/>
            <p:nvPr/>
          </p:nvSpPr>
          <p:spPr>
            <a:xfrm>
              <a:off x="5217138" y="2710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B578BBA-E437-9237-E1A7-A7A9590EF9B9}"/>
                </a:ext>
              </a:extLst>
            </p:cNvPr>
            <p:cNvSpPr txBox="1"/>
            <p:nvPr/>
          </p:nvSpPr>
          <p:spPr>
            <a:xfrm>
              <a:off x="5695168" y="2710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113EA20-51DB-7222-044F-DA2A93E26892}"/>
                </a:ext>
              </a:extLst>
            </p:cNvPr>
            <p:cNvSpPr txBox="1"/>
            <p:nvPr/>
          </p:nvSpPr>
          <p:spPr>
            <a:xfrm>
              <a:off x="6286919" y="2710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116FF36-472F-232B-3424-BF9419CED2B9}"/>
                </a:ext>
              </a:extLst>
            </p:cNvPr>
            <p:cNvSpPr txBox="1"/>
            <p:nvPr/>
          </p:nvSpPr>
          <p:spPr>
            <a:xfrm>
              <a:off x="6820319" y="2710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D02C096-1D8C-C0F5-9993-B189511233E0}"/>
                </a:ext>
              </a:extLst>
            </p:cNvPr>
            <p:cNvSpPr txBox="1"/>
            <p:nvPr/>
          </p:nvSpPr>
          <p:spPr>
            <a:xfrm>
              <a:off x="7354288" y="2710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58A9836-1411-4CA9-818E-52538A1A8A8A}"/>
                </a:ext>
              </a:extLst>
            </p:cNvPr>
            <p:cNvSpPr txBox="1"/>
            <p:nvPr/>
          </p:nvSpPr>
          <p:spPr>
            <a:xfrm>
              <a:off x="7887688" y="2710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0016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0A239-AB83-588B-7F8C-A378F624E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a Heap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79323D-7A04-F49B-C2B4-877B56453F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6282" y="1570438"/>
                <a:ext cx="6938093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Every complete binary tree with the same number of nodes uses the same positions and edges</a:t>
                </a:r>
              </a:p>
              <a:p>
                <a:r>
                  <a:rPr lang="en-US" dirty="0"/>
                  <a:t>Use an array to represent the heap</a:t>
                </a:r>
              </a:p>
              <a:p>
                <a:r>
                  <a:rPr lang="en-US" dirty="0"/>
                  <a:t>Index of root: </a:t>
                </a:r>
                <a:r>
                  <a:rPr lang="en-US" dirty="0">
                    <a:solidFill>
                      <a:srgbClr val="FF66FF"/>
                    </a:solidFill>
                  </a:rPr>
                  <a:t>0</a:t>
                </a:r>
              </a:p>
              <a:p>
                <a:r>
                  <a:rPr lang="en-US" dirty="0"/>
                  <a:t>Parent of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b="0" i="1" smtClean="0">
                            <a:solidFill>
                              <a:srgbClr val="FF66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rgbClr val="FF66FF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Left child of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66FF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66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66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FF66FF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solidFill>
                          <a:srgbClr val="FF66FF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Right child of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66FF"/>
                        </a:solidFill>
                        <a:latin typeface="Cambria Math" panose="02040503050406030204" pitchFamily="18" charset="0"/>
                      </a:rPr>
                      <m:t>2(</m:t>
                    </m:r>
                    <m:r>
                      <a:rPr lang="en-US" b="0" i="1" smtClean="0">
                        <a:solidFill>
                          <a:srgbClr val="FF66F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rgbClr val="FF66FF"/>
                        </a:solidFill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Location of the leaves: </a:t>
                </a:r>
                <a:r>
                  <a:rPr lang="en-US" dirty="0">
                    <a:solidFill>
                      <a:srgbClr val="FF66FF"/>
                    </a:solidFill>
                  </a:rPr>
                  <a:t>last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b="0" i="1" smtClean="0">
                            <a:solidFill>
                              <a:srgbClr val="FF66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79323D-7A04-F49B-C2B4-877B56453F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6282" y="1570438"/>
                <a:ext cx="6938093" cy="4351338"/>
              </a:xfrm>
              <a:blipFill>
                <a:blip r:embed="rId2"/>
                <a:stretch>
                  <a:fillRect l="-1582" t="-3226" b="-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2F432A6F-3B38-F5E7-01DD-DAEA463B2720}"/>
              </a:ext>
            </a:extLst>
          </p:cNvPr>
          <p:cNvGrpSpPr/>
          <p:nvPr/>
        </p:nvGrpSpPr>
        <p:grpSpPr>
          <a:xfrm>
            <a:off x="5161281" y="2830993"/>
            <a:ext cx="6934200" cy="3661882"/>
            <a:chOff x="2590801" y="2672070"/>
            <a:chExt cx="6934200" cy="366188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CCDFAF7-D087-A729-16FC-1A4A848DC165}"/>
                </a:ext>
              </a:extLst>
            </p:cNvPr>
            <p:cNvSpPr/>
            <p:nvPr/>
          </p:nvSpPr>
          <p:spPr>
            <a:xfrm>
              <a:off x="5996855" y="267207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66556C7-28BB-27CE-2453-438EB9B5729C}"/>
                </a:ext>
              </a:extLst>
            </p:cNvPr>
            <p:cNvSpPr/>
            <p:nvPr/>
          </p:nvSpPr>
          <p:spPr>
            <a:xfrm>
              <a:off x="4191001" y="3682289"/>
              <a:ext cx="688077" cy="68807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1F22AA6-3A2C-0E0F-6770-5E4814A3A9BA}"/>
                </a:ext>
              </a:extLst>
            </p:cNvPr>
            <p:cNvSpPr/>
            <p:nvPr/>
          </p:nvSpPr>
          <p:spPr>
            <a:xfrm>
              <a:off x="7858499" y="3653913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3EFC98-7E2D-1466-6EEA-85788B9C4879}"/>
                </a:ext>
              </a:extLst>
            </p:cNvPr>
            <p:cNvSpPr/>
            <p:nvPr/>
          </p:nvSpPr>
          <p:spPr>
            <a:xfrm>
              <a:off x="3200401" y="438350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754F5A3-A2CA-ABC5-C1BD-653DE632FCB2}"/>
                </a:ext>
              </a:extLst>
            </p:cNvPr>
            <p:cNvSpPr/>
            <p:nvPr/>
          </p:nvSpPr>
          <p:spPr>
            <a:xfrm>
              <a:off x="5211206" y="4425368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395B23C-4819-8F19-E006-45A28A32E0F3}"/>
                </a:ext>
              </a:extLst>
            </p:cNvPr>
            <p:cNvSpPr/>
            <p:nvPr/>
          </p:nvSpPr>
          <p:spPr>
            <a:xfrm>
              <a:off x="6934201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1FD7AE4-5789-4301-9D43-66F98E658620}"/>
                </a:ext>
              </a:extLst>
            </p:cNvPr>
            <p:cNvSpPr/>
            <p:nvPr/>
          </p:nvSpPr>
          <p:spPr>
            <a:xfrm>
              <a:off x="8836924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577DA87-3AA4-A9F6-0603-B50AB8AA521F}"/>
                </a:ext>
              </a:extLst>
            </p:cNvPr>
            <p:cNvSpPr/>
            <p:nvPr/>
          </p:nvSpPr>
          <p:spPr>
            <a:xfrm>
              <a:off x="2590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15D83AD-A4F9-DDA6-7C9B-D5E2FB999159}"/>
                </a:ext>
              </a:extLst>
            </p:cNvPr>
            <p:cNvSpPr/>
            <p:nvPr/>
          </p:nvSpPr>
          <p:spPr>
            <a:xfrm>
              <a:off x="3733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4C678B9-8376-E641-03A3-B9B5AC01DD5A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4778311" y="3259380"/>
              <a:ext cx="1319311" cy="5236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73A3D15-A765-6F5D-FF62-8AFF371E1C9F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584165" y="3259380"/>
              <a:ext cx="1375101" cy="495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5A8FFAB-D84B-85B8-58B8-1B00F7CCA551}"/>
                </a:ext>
              </a:extLst>
            </p:cNvPr>
            <p:cNvCxnSpPr>
              <a:stCxn id="9" idx="1"/>
              <a:endCxn id="6" idx="5"/>
            </p:cNvCxnSpPr>
            <p:nvPr/>
          </p:nvCxnSpPr>
          <p:spPr>
            <a:xfrm flipH="1" flipV="1">
              <a:off x="4778310" y="4269598"/>
              <a:ext cx="533662" cy="2565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5B82966-89E3-2B46-3D38-374AFBCC160F}"/>
                </a:ext>
              </a:extLst>
            </p:cNvPr>
            <p:cNvCxnSpPr>
              <a:stCxn id="8" idx="7"/>
              <a:endCxn id="6" idx="3"/>
            </p:cNvCxnSpPr>
            <p:nvPr/>
          </p:nvCxnSpPr>
          <p:spPr>
            <a:xfrm flipV="1">
              <a:off x="3787711" y="4269598"/>
              <a:ext cx="504057" cy="214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5158B6C-4AAC-11E8-A5FA-CBD2F7589363}"/>
                </a:ext>
              </a:extLst>
            </p:cNvPr>
            <p:cNvCxnSpPr>
              <a:stCxn id="13" idx="0"/>
              <a:endCxn id="8" idx="5"/>
            </p:cNvCxnSpPr>
            <p:nvPr/>
          </p:nvCxnSpPr>
          <p:spPr>
            <a:xfrm flipH="1" flipV="1">
              <a:off x="3787711" y="4970813"/>
              <a:ext cx="290129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B16B0B2-C57D-A089-16C8-D9A40F63D872}"/>
                </a:ext>
              </a:extLst>
            </p:cNvPr>
            <p:cNvCxnSpPr>
              <a:stCxn id="12" idx="0"/>
              <a:endCxn id="8" idx="3"/>
            </p:cNvCxnSpPr>
            <p:nvPr/>
          </p:nvCxnSpPr>
          <p:spPr>
            <a:xfrm flipV="1">
              <a:off x="2934839" y="4970813"/>
              <a:ext cx="366328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CD70709-CC17-AFBD-F517-918800E04B01}"/>
                </a:ext>
              </a:extLst>
            </p:cNvPr>
            <p:cNvCxnSpPr>
              <a:stCxn id="10" idx="7"/>
              <a:endCxn id="7" idx="3"/>
            </p:cNvCxnSpPr>
            <p:nvPr/>
          </p:nvCxnSpPr>
          <p:spPr>
            <a:xfrm flipV="1">
              <a:off x="7521511" y="4241222"/>
              <a:ext cx="437755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EC3F72F-4633-2DB2-15C6-8744989B9052}"/>
                </a:ext>
              </a:extLst>
            </p:cNvPr>
            <p:cNvCxnSpPr>
              <a:stCxn id="11" idx="1"/>
              <a:endCxn id="7" idx="5"/>
            </p:cNvCxnSpPr>
            <p:nvPr/>
          </p:nvCxnSpPr>
          <p:spPr>
            <a:xfrm flipH="1" flipV="1">
              <a:off x="8445808" y="4241222"/>
              <a:ext cx="491882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2D58420-FDF0-2F8C-6D16-5DCE4CECFFFE}"/>
                </a:ext>
              </a:extLst>
            </p:cNvPr>
            <p:cNvSpPr txBox="1"/>
            <p:nvPr/>
          </p:nvSpPr>
          <p:spPr>
            <a:xfrm>
              <a:off x="6190049" y="33712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D3FC88C-CCA1-260D-94E2-E82E0014B50F}"/>
                </a:ext>
              </a:extLst>
            </p:cNvPr>
            <p:cNvSpPr txBox="1"/>
            <p:nvPr/>
          </p:nvSpPr>
          <p:spPr>
            <a:xfrm>
              <a:off x="4384195" y="437709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823466E-9014-5708-3F67-1E2739A939F2}"/>
                </a:ext>
              </a:extLst>
            </p:cNvPr>
            <p:cNvSpPr txBox="1"/>
            <p:nvPr/>
          </p:nvSpPr>
          <p:spPr>
            <a:xfrm>
              <a:off x="8051693" y="431669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9F29237-8A0E-5878-6C02-03A9050EA055}"/>
                </a:ext>
              </a:extLst>
            </p:cNvPr>
            <p:cNvSpPr txBox="1"/>
            <p:nvPr/>
          </p:nvSpPr>
          <p:spPr>
            <a:xfrm>
              <a:off x="3352081" y="507158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9F9AA81-2F4E-7699-571D-B616367A4776}"/>
                </a:ext>
              </a:extLst>
            </p:cNvPr>
            <p:cNvSpPr txBox="1"/>
            <p:nvPr/>
          </p:nvSpPr>
          <p:spPr>
            <a:xfrm>
              <a:off x="7122005" y="501267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7FA733E-267C-B6B7-35AE-6CB4C124A4C6}"/>
                </a:ext>
              </a:extLst>
            </p:cNvPr>
            <p:cNvSpPr txBox="1"/>
            <p:nvPr/>
          </p:nvSpPr>
          <p:spPr>
            <a:xfrm>
              <a:off x="5404400" y="510890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2074F7B-90C0-2766-0C59-F8D7C3963C3B}"/>
                </a:ext>
              </a:extLst>
            </p:cNvPr>
            <p:cNvSpPr txBox="1"/>
            <p:nvPr/>
          </p:nvSpPr>
          <p:spPr>
            <a:xfrm>
              <a:off x="9030118" y="503006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81AE260-19E9-58C5-CE3F-E1C5B23C297D}"/>
                </a:ext>
              </a:extLst>
            </p:cNvPr>
            <p:cNvSpPr txBox="1"/>
            <p:nvPr/>
          </p:nvSpPr>
          <p:spPr>
            <a:xfrm>
              <a:off x="2783996" y="596462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2DD3AF9-8C64-BB8A-8916-179191C830E1}"/>
                </a:ext>
              </a:extLst>
            </p:cNvPr>
            <p:cNvSpPr txBox="1"/>
            <p:nvPr/>
          </p:nvSpPr>
          <p:spPr>
            <a:xfrm>
              <a:off x="3920467" y="596462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034A460-2586-8D84-2404-1DC6F3C7CF2C}"/>
              </a:ext>
            </a:extLst>
          </p:cNvPr>
          <p:cNvGrpSpPr/>
          <p:nvPr/>
        </p:nvGrpSpPr>
        <p:grpSpPr>
          <a:xfrm>
            <a:off x="6949134" y="754688"/>
            <a:ext cx="4802307" cy="942725"/>
            <a:chOff x="3502925" y="2137541"/>
            <a:chExt cx="4802307" cy="942725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12067B8-0F65-635F-EB27-A65C8C91F307}"/>
                </a:ext>
              </a:extLst>
            </p:cNvPr>
            <p:cNvGrpSpPr/>
            <p:nvPr/>
          </p:nvGrpSpPr>
          <p:grpSpPr>
            <a:xfrm>
              <a:off x="3502925" y="2137541"/>
              <a:ext cx="4802307" cy="533400"/>
              <a:chOff x="1978924" y="2971800"/>
              <a:chExt cx="4802307" cy="533400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1D61B2B-B935-40A6-9785-DC28D35F85B1}"/>
                  </a:ext>
                </a:extLst>
              </p:cNvPr>
              <p:cNvSpPr/>
              <p:nvPr/>
            </p:nvSpPr>
            <p:spPr>
              <a:xfrm>
                <a:off x="1978924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C5E4A36F-69C2-8FEF-04C8-448BCBC24C3A}"/>
                  </a:ext>
                </a:extLst>
              </p:cNvPr>
              <p:cNvSpPr/>
              <p:nvPr/>
            </p:nvSpPr>
            <p:spPr>
              <a:xfrm>
                <a:off x="25128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8311943-7B02-92AD-C0E0-1A1570965454}"/>
                  </a:ext>
                </a:extLst>
              </p:cNvPr>
              <p:cNvSpPr/>
              <p:nvPr/>
            </p:nvSpPr>
            <p:spPr>
              <a:xfrm>
                <a:off x="30462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446B978-1048-2DFC-8915-A3E1343D6252}"/>
                  </a:ext>
                </a:extLst>
              </p:cNvPr>
              <p:cNvSpPr/>
              <p:nvPr/>
            </p:nvSpPr>
            <p:spPr>
              <a:xfrm>
                <a:off x="35796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08363A7-7B23-DEEC-7E4C-07E98FC32C12}"/>
                  </a:ext>
                </a:extLst>
              </p:cNvPr>
              <p:cNvSpPr/>
              <p:nvPr/>
            </p:nvSpPr>
            <p:spPr>
              <a:xfrm>
                <a:off x="41136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6D8F0EE-99AB-9979-A652-B1E990B6B685}"/>
                  </a:ext>
                </a:extLst>
              </p:cNvPr>
              <p:cNvSpPr/>
              <p:nvPr/>
            </p:nvSpPr>
            <p:spPr>
              <a:xfrm>
                <a:off x="46470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8E298803-4CF9-44C4-65A9-22FA36AE083F}"/>
                  </a:ext>
                </a:extLst>
              </p:cNvPr>
              <p:cNvSpPr/>
              <p:nvPr/>
            </p:nvSpPr>
            <p:spPr>
              <a:xfrm>
                <a:off x="51804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4E192E8-3C35-79F3-9BEF-6DBE322A6E6B}"/>
                  </a:ext>
                </a:extLst>
              </p:cNvPr>
              <p:cNvSpPr/>
              <p:nvPr/>
            </p:nvSpPr>
            <p:spPr>
              <a:xfrm>
                <a:off x="57144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176A0CF5-494E-36C1-2E0E-37D540346774}"/>
                  </a:ext>
                </a:extLst>
              </p:cNvPr>
              <p:cNvSpPr/>
              <p:nvPr/>
            </p:nvSpPr>
            <p:spPr>
              <a:xfrm>
                <a:off x="62478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B9141C7-12C6-27DA-EA35-667DF41CF456}"/>
                </a:ext>
              </a:extLst>
            </p:cNvPr>
            <p:cNvSpPr txBox="1"/>
            <p:nvPr/>
          </p:nvSpPr>
          <p:spPr>
            <a:xfrm>
              <a:off x="3618781" y="2710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9345D1E-2ECC-D61F-6990-8586D482B42B}"/>
                </a:ext>
              </a:extLst>
            </p:cNvPr>
            <p:cNvSpPr txBox="1"/>
            <p:nvPr/>
          </p:nvSpPr>
          <p:spPr>
            <a:xfrm>
              <a:off x="4152750" y="2710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BA1BA49-7BD4-1661-2F4D-774C17D9A52D}"/>
                </a:ext>
              </a:extLst>
            </p:cNvPr>
            <p:cNvSpPr txBox="1"/>
            <p:nvPr/>
          </p:nvSpPr>
          <p:spPr>
            <a:xfrm>
              <a:off x="4686150" y="2710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2E61923-18C0-5991-9ED1-C98F41FC6780}"/>
                </a:ext>
              </a:extLst>
            </p:cNvPr>
            <p:cNvSpPr txBox="1"/>
            <p:nvPr/>
          </p:nvSpPr>
          <p:spPr>
            <a:xfrm>
              <a:off x="5217138" y="2710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B578BBA-E437-9237-E1A7-A7A9590EF9B9}"/>
                </a:ext>
              </a:extLst>
            </p:cNvPr>
            <p:cNvSpPr txBox="1"/>
            <p:nvPr/>
          </p:nvSpPr>
          <p:spPr>
            <a:xfrm>
              <a:off x="5695168" y="2710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113EA20-51DB-7222-044F-DA2A93E26892}"/>
                </a:ext>
              </a:extLst>
            </p:cNvPr>
            <p:cNvSpPr txBox="1"/>
            <p:nvPr/>
          </p:nvSpPr>
          <p:spPr>
            <a:xfrm>
              <a:off x="6286919" y="2710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116FF36-472F-232B-3424-BF9419CED2B9}"/>
                </a:ext>
              </a:extLst>
            </p:cNvPr>
            <p:cNvSpPr txBox="1"/>
            <p:nvPr/>
          </p:nvSpPr>
          <p:spPr>
            <a:xfrm>
              <a:off x="6820319" y="2710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D02C096-1D8C-C0F5-9993-B189511233E0}"/>
                </a:ext>
              </a:extLst>
            </p:cNvPr>
            <p:cNvSpPr txBox="1"/>
            <p:nvPr/>
          </p:nvSpPr>
          <p:spPr>
            <a:xfrm>
              <a:off x="7354288" y="2710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58A9836-1411-4CA9-818E-52538A1A8A8A}"/>
                </a:ext>
              </a:extLst>
            </p:cNvPr>
            <p:cNvSpPr txBox="1"/>
            <p:nvPr/>
          </p:nvSpPr>
          <p:spPr>
            <a:xfrm>
              <a:off x="7887688" y="2710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1055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B0ABD-0BFF-6D08-9E5A-671AB1079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</a:t>
            </a:r>
            <a:r>
              <a:rPr lang="en-US" dirty="0" err="1"/>
              <a:t>Psuedocode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F30F0-7D06-DAC8-8BF6-ECA17E7C2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insert(item){</a:t>
            </a:r>
          </a:p>
          <a:p>
            <a:pPr marL="0" indent="0">
              <a:buNone/>
            </a:pPr>
            <a:r>
              <a:rPr lang="en-US" dirty="0"/>
              <a:t>    if(size == </a:t>
            </a:r>
            <a:r>
              <a:rPr lang="en-US" dirty="0" err="1"/>
              <a:t>arr.length</a:t>
            </a:r>
            <a:r>
              <a:rPr lang="en-US" dirty="0"/>
              <a:t> – 1){resize();}</a:t>
            </a:r>
          </a:p>
          <a:p>
            <a:pPr marL="0" indent="0">
              <a:buNone/>
            </a:pPr>
            <a:r>
              <a:rPr lang="en-US" dirty="0"/>
              <a:t>    size++;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= item;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 err="1"/>
              <a:t>percolateUp</a:t>
            </a:r>
            <a:r>
              <a:rPr lang="en-US" b="1" dirty="0"/>
              <a:t>(</a:t>
            </a:r>
            <a:r>
              <a:rPr lang="en-US" b="1" dirty="0" err="1"/>
              <a:t>i</a:t>
            </a:r>
            <a:r>
              <a:rPr lang="en-US" b="1" dirty="0"/>
              <a:t>);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319A78C-22E0-1504-C121-1B9D7CECEFDF}"/>
              </a:ext>
            </a:extLst>
          </p:cNvPr>
          <p:cNvGrpSpPr/>
          <p:nvPr/>
        </p:nvGrpSpPr>
        <p:grpSpPr>
          <a:xfrm>
            <a:off x="5161281" y="2830993"/>
            <a:ext cx="6934200" cy="3661882"/>
            <a:chOff x="2590801" y="2672070"/>
            <a:chExt cx="6934200" cy="366188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590ADCF-AC3A-F95D-CBD8-5376AE545FD0}"/>
                </a:ext>
              </a:extLst>
            </p:cNvPr>
            <p:cNvSpPr/>
            <p:nvPr/>
          </p:nvSpPr>
          <p:spPr>
            <a:xfrm>
              <a:off x="5996855" y="267207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1E97F45-62B0-D1B7-9478-3853F3867812}"/>
                </a:ext>
              </a:extLst>
            </p:cNvPr>
            <p:cNvSpPr/>
            <p:nvPr/>
          </p:nvSpPr>
          <p:spPr>
            <a:xfrm>
              <a:off x="4191001" y="3682289"/>
              <a:ext cx="688077" cy="68807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905ACCE-BD79-240B-004A-8E9C40E8A095}"/>
                </a:ext>
              </a:extLst>
            </p:cNvPr>
            <p:cNvSpPr/>
            <p:nvPr/>
          </p:nvSpPr>
          <p:spPr>
            <a:xfrm>
              <a:off x="7858499" y="3653913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1F9406B-F77B-C36E-6D36-B2CA52C44840}"/>
                </a:ext>
              </a:extLst>
            </p:cNvPr>
            <p:cNvSpPr/>
            <p:nvPr/>
          </p:nvSpPr>
          <p:spPr>
            <a:xfrm>
              <a:off x="3200401" y="438350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A610A05-C4E9-EA78-7DBB-9B3058A4457C}"/>
                </a:ext>
              </a:extLst>
            </p:cNvPr>
            <p:cNvSpPr/>
            <p:nvPr/>
          </p:nvSpPr>
          <p:spPr>
            <a:xfrm>
              <a:off x="5211206" y="4425368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0782E2-E251-676C-C175-94BF04C51411}"/>
                </a:ext>
              </a:extLst>
            </p:cNvPr>
            <p:cNvSpPr/>
            <p:nvPr/>
          </p:nvSpPr>
          <p:spPr>
            <a:xfrm>
              <a:off x="6934201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24958CB-DB1A-72DF-AB74-2753C9B5A9E3}"/>
                </a:ext>
              </a:extLst>
            </p:cNvPr>
            <p:cNvSpPr/>
            <p:nvPr/>
          </p:nvSpPr>
          <p:spPr>
            <a:xfrm>
              <a:off x="8836924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883FC59-010C-A8A3-DF98-478714DA6CCE}"/>
                </a:ext>
              </a:extLst>
            </p:cNvPr>
            <p:cNvSpPr/>
            <p:nvPr/>
          </p:nvSpPr>
          <p:spPr>
            <a:xfrm>
              <a:off x="2590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DFF37CC-26F4-FA47-D06F-86E490A2F288}"/>
                </a:ext>
              </a:extLst>
            </p:cNvPr>
            <p:cNvSpPr/>
            <p:nvPr/>
          </p:nvSpPr>
          <p:spPr>
            <a:xfrm>
              <a:off x="3733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43FA3B6-3BD2-A7AB-C429-AB41FC4511D4}"/>
                </a:ext>
              </a:extLst>
            </p:cNvPr>
            <p:cNvCxnSpPr>
              <a:cxnSpLocks/>
              <a:stCxn id="6" idx="3"/>
              <a:endCxn id="7" idx="7"/>
            </p:cNvCxnSpPr>
            <p:nvPr/>
          </p:nvCxnSpPr>
          <p:spPr>
            <a:xfrm flipH="1">
              <a:off x="4778311" y="3259380"/>
              <a:ext cx="1319311" cy="5236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3769978-E2E6-C543-4006-EFD7629B66F7}"/>
                </a:ext>
              </a:extLst>
            </p:cNvPr>
            <p:cNvCxnSpPr>
              <a:cxnSpLocks/>
              <a:stCxn id="6" idx="5"/>
              <a:endCxn id="8" idx="1"/>
            </p:cNvCxnSpPr>
            <p:nvPr/>
          </p:nvCxnSpPr>
          <p:spPr>
            <a:xfrm>
              <a:off x="6584165" y="3259380"/>
              <a:ext cx="1375101" cy="495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653713A-EB3B-E7B8-A0B4-48560F9BE3CE}"/>
                </a:ext>
              </a:extLst>
            </p:cNvPr>
            <p:cNvCxnSpPr>
              <a:stCxn id="10" idx="1"/>
              <a:endCxn id="7" idx="5"/>
            </p:cNvCxnSpPr>
            <p:nvPr/>
          </p:nvCxnSpPr>
          <p:spPr>
            <a:xfrm flipH="1" flipV="1">
              <a:off x="4778310" y="4269598"/>
              <a:ext cx="533662" cy="2565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17F5819-1CC3-EB41-1FFB-34B13CCEFBC1}"/>
                </a:ext>
              </a:extLst>
            </p:cNvPr>
            <p:cNvCxnSpPr>
              <a:stCxn id="9" idx="7"/>
              <a:endCxn id="7" idx="3"/>
            </p:cNvCxnSpPr>
            <p:nvPr/>
          </p:nvCxnSpPr>
          <p:spPr>
            <a:xfrm flipV="1">
              <a:off x="3787711" y="4269598"/>
              <a:ext cx="504057" cy="214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3B9071A-8BC7-66B8-2E17-2202CA6B0047}"/>
                </a:ext>
              </a:extLst>
            </p:cNvPr>
            <p:cNvCxnSpPr>
              <a:stCxn id="14" idx="0"/>
              <a:endCxn id="9" idx="5"/>
            </p:cNvCxnSpPr>
            <p:nvPr/>
          </p:nvCxnSpPr>
          <p:spPr>
            <a:xfrm flipH="1" flipV="1">
              <a:off x="3787711" y="4970813"/>
              <a:ext cx="290129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B7D0980-39AE-718B-21E2-93900C211F03}"/>
                </a:ext>
              </a:extLst>
            </p:cNvPr>
            <p:cNvCxnSpPr>
              <a:stCxn id="13" idx="0"/>
              <a:endCxn id="9" idx="3"/>
            </p:cNvCxnSpPr>
            <p:nvPr/>
          </p:nvCxnSpPr>
          <p:spPr>
            <a:xfrm flipV="1">
              <a:off x="2934839" y="4970813"/>
              <a:ext cx="366328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8A6BC9B-98E6-4549-68DC-74993F27E78E}"/>
                </a:ext>
              </a:extLst>
            </p:cNvPr>
            <p:cNvCxnSpPr>
              <a:stCxn id="11" idx="7"/>
              <a:endCxn id="8" idx="3"/>
            </p:cNvCxnSpPr>
            <p:nvPr/>
          </p:nvCxnSpPr>
          <p:spPr>
            <a:xfrm flipV="1">
              <a:off x="7521511" y="4241222"/>
              <a:ext cx="437755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0C276A-5518-CAF0-2255-23E1EA71F0C1}"/>
                </a:ext>
              </a:extLst>
            </p:cNvPr>
            <p:cNvCxnSpPr>
              <a:stCxn id="12" idx="1"/>
              <a:endCxn id="8" idx="5"/>
            </p:cNvCxnSpPr>
            <p:nvPr/>
          </p:nvCxnSpPr>
          <p:spPr>
            <a:xfrm flipH="1" flipV="1">
              <a:off x="8445808" y="4241222"/>
              <a:ext cx="491882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51D7BE4-7EA4-E083-F005-CE9963087A2B}"/>
                </a:ext>
              </a:extLst>
            </p:cNvPr>
            <p:cNvSpPr txBox="1"/>
            <p:nvPr/>
          </p:nvSpPr>
          <p:spPr>
            <a:xfrm>
              <a:off x="6190049" y="33712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6E1B287-9D58-24EC-9873-34BFBBB18C57}"/>
                </a:ext>
              </a:extLst>
            </p:cNvPr>
            <p:cNvSpPr txBox="1"/>
            <p:nvPr/>
          </p:nvSpPr>
          <p:spPr>
            <a:xfrm>
              <a:off x="4384195" y="437709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491371E-FDDF-D0C4-E6A0-11EDAAB30245}"/>
                </a:ext>
              </a:extLst>
            </p:cNvPr>
            <p:cNvSpPr txBox="1"/>
            <p:nvPr/>
          </p:nvSpPr>
          <p:spPr>
            <a:xfrm>
              <a:off x="8051693" y="431669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CA9699D-BA8A-95B9-A774-2888803EBC9F}"/>
                </a:ext>
              </a:extLst>
            </p:cNvPr>
            <p:cNvSpPr txBox="1"/>
            <p:nvPr/>
          </p:nvSpPr>
          <p:spPr>
            <a:xfrm>
              <a:off x="3352081" y="507158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FA574D4-083A-517E-4C86-1FEF9B1A6C08}"/>
                </a:ext>
              </a:extLst>
            </p:cNvPr>
            <p:cNvSpPr txBox="1"/>
            <p:nvPr/>
          </p:nvSpPr>
          <p:spPr>
            <a:xfrm>
              <a:off x="7122005" y="501267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AEFDE8B-297C-1A55-C4E3-B82E367B2752}"/>
                </a:ext>
              </a:extLst>
            </p:cNvPr>
            <p:cNvSpPr txBox="1"/>
            <p:nvPr/>
          </p:nvSpPr>
          <p:spPr>
            <a:xfrm>
              <a:off x="5404400" y="510890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843CF5E-C3F7-016F-5E48-33651CE0FF16}"/>
                </a:ext>
              </a:extLst>
            </p:cNvPr>
            <p:cNvSpPr txBox="1"/>
            <p:nvPr/>
          </p:nvSpPr>
          <p:spPr>
            <a:xfrm>
              <a:off x="9030118" y="503006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19256FD-7565-FC3E-4FDA-FCF03080D865}"/>
                </a:ext>
              </a:extLst>
            </p:cNvPr>
            <p:cNvSpPr txBox="1"/>
            <p:nvPr/>
          </p:nvSpPr>
          <p:spPr>
            <a:xfrm>
              <a:off x="2783996" y="596462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266614E-09F9-82F3-F526-EF3A6F76C787}"/>
                </a:ext>
              </a:extLst>
            </p:cNvPr>
            <p:cNvSpPr txBox="1"/>
            <p:nvPr/>
          </p:nvSpPr>
          <p:spPr>
            <a:xfrm>
              <a:off x="3920467" y="596462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1B1A065-9350-217A-B493-454658FE629D}"/>
              </a:ext>
            </a:extLst>
          </p:cNvPr>
          <p:cNvGrpSpPr/>
          <p:nvPr/>
        </p:nvGrpSpPr>
        <p:grpSpPr>
          <a:xfrm>
            <a:off x="5470854" y="754688"/>
            <a:ext cx="5875588" cy="945155"/>
            <a:chOff x="5470854" y="754688"/>
            <a:chExt cx="5875588" cy="945155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A40C5FE-FF71-4588-5DB9-DF23F0FDA931}"/>
                </a:ext>
              </a:extLst>
            </p:cNvPr>
            <p:cNvSpPr/>
            <p:nvPr/>
          </p:nvSpPr>
          <p:spPr>
            <a:xfrm>
              <a:off x="5470854" y="754688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2A2D341-FB1D-4333-7CED-54A40C9BB4E0}"/>
                </a:ext>
              </a:extLst>
            </p:cNvPr>
            <p:cNvSpPr/>
            <p:nvPr/>
          </p:nvSpPr>
          <p:spPr>
            <a:xfrm>
              <a:off x="6004254" y="754688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392EF2A-6098-94F4-6005-5D7250B81AB0}"/>
                </a:ext>
              </a:extLst>
            </p:cNvPr>
            <p:cNvSpPr/>
            <p:nvPr/>
          </p:nvSpPr>
          <p:spPr>
            <a:xfrm>
              <a:off x="65382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C86C3DC-CE40-8CB9-3473-5B7233F6DE0E}"/>
                </a:ext>
              </a:extLst>
            </p:cNvPr>
            <p:cNvSpPr/>
            <p:nvPr/>
          </p:nvSpPr>
          <p:spPr>
            <a:xfrm>
              <a:off x="70716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AF36252-F9A8-394F-F3CC-807624F242F6}"/>
                </a:ext>
              </a:extLst>
            </p:cNvPr>
            <p:cNvSpPr/>
            <p:nvPr/>
          </p:nvSpPr>
          <p:spPr>
            <a:xfrm>
              <a:off x="76050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B1F7E70-42FC-5380-8C7C-2146C94F1608}"/>
                </a:ext>
              </a:extLst>
            </p:cNvPr>
            <p:cNvSpPr/>
            <p:nvPr/>
          </p:nvSpPr>
          <p:spPr>
            <a:xfrm>
              <a:off x="81389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F47E445-8B00-89E8-4940-1CAC7A5093B8}"/>
                </a:ext>
              </a:extLst>
            </p:cNvPr>
            <p:cNvSpPr/>
            <p:nvPr/>
          </p:nvSpPr>
          <p:spPr>
            <a:xfrm>
              <a:off x="86723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7DE3360-978B-A3E9-697F-41E8CD20E2E1}"/>
                </a:ext>
              </a:extLst>
            </p:cNvPr>
            <p:cNvSpPr/>
            <p:nvPr/>
          </p:nvSpPr>
          <p:spPr>
            <a:xfrm>
              <a:off x="92057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68B70C2-AE66-8203-31E9-FED7E58E8459}"/>
                </a:ext>
              </a:extLst>
            </p:cNvPr>
            <p:cNvSpPr/>
            <p:nvPr/>
          </p:nvSpPr>
          <p:spPr>
            <a:xfrm>
              <a:off x="9739761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08599E5-5D1A-B619-4E19-AACF281B23A6}"/>
                </a:ext>
              </a:extLst>
            </p:cNvPr>
            <p:cNvSpPr/>
            <p:nvPr/>
          </p:nvSpPr>
          <p:spPr>
            <a:xfrm>
              <a:off x="10273161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D9CB592-07B7-04BF-FDFE-FFDBEC5ECDBC}"/>
                </a:ext>
              </a:extLst>
            </p:cNvPr>
            <p:cNvSpPr txBox="1"/>
            <p:nvPr/>
          </p:nvSpPr>
          <p:spPr>
            <a:xfrm>
              <a:off x="5586710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E4C5343-84DC-C3B4-5703-C1FF2273F7F5}"/>
                </a:ext>
              </a:extLst>
            </p:cNvPr>
            <p:cNvSpPr txBox="1"/>
            <p:nvPr/>
          </p:nvSpPr>
          <p:spPr>
            <a:xfrm>
              <a:off x="6120110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EA6E396-54AF-A03F-599B-9F83A1F40E9C}"/>
                </a:ext>
              </a:extLst>
            </p:cNvPr>
            <p:cNvSpPr txBox="1"/>
            <p:nvPr/>
          </p:nvSpPr>
          <p:spPr>
            <a:xfrm>
              <a:off x="6654079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5DAB305-7AB4-AD50-E5D2-42EDCC6C85E6}"/>
                </a:ext>
              </a:extLst>
            </p:cNvPr>
            <p:cNvSpPr txBox="1"/>
            <p:nvPr/>
          </p:nvSpPr>
          <p:spPr>
            <a:xfrm>
              <a:off x="7187479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AA6B46B-8F65-E3F3-9830-172821999172}"/>
                </a:ext>
              </a:extLst>
            </p:cNvPr>
            <p:cNvSpPr txBox="1"/>
            <p:nvPr/>
          </p:nvSpPr>
          <p:spPr>
            <a:xfrm>
              <a:off x="771846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316B99E-962F-FD7B-C9BE-33114FB14B10}"/>
                </a:ext>
              </a:extLst>
            </p:cNvPr>
            <p:cNvSpPr txBox="1"/>
            <p:nvPr/>
          </p:nvSpPr>
          <p:spPr>
            <a:xfrm>
              <a:off x="819649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80FC8E8-AD8A-D9BE-9027-BCCBE9FFB927}"/>
                </a:ext>
              </a:extLst>
            </p:cNvPr>
            <p:cNvSpPr txBox="1"/>
            <p:nvPr/>
          </p:nvSpPr>
          <p:spPr>
            <a:xfrm>
              <a:off x="8788248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67EDEA1-0EB4-92E9-59D5-91799BB4F256}"/>
                </a:ext>
              </a:extLst>
            </p:cNvPr>
            <p:cNvSpPr txBox="1"/>
            <p:nvPr/>
          </p:nvSpPr>
          <p:spPr>
            <a:xfrm>
              <a:off x="9321648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0015438-2400-B96A-D9A3-0A2A4D4BA19D}"/>
                </a:ext>
              </a:extLst>
            </p:cNvPr>
            <p:cNvSpPr txBox="1"/>
            <p:nvPr/>
          </p:nvSpPr>
          <p:spPr>
            <a:xfrm>
              <a:off x="985561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28FE685-0398-8AAD-2600-2C0F3F748DC9}"/>
                </a:ext>
              </a:extLst>
            </p:cNvPr>
            <p:cNvSpPr txBox="1"/>
            <p:nvPr/>
          </p:nvSpPr>
          <p:spPr>
            <a:xfrm>
              <a:off x="1038901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F433D48-F47F-C4D3-4EC9-18E5D40F42B4}"/>
                </a:ext>
              </a:extLst>
            </p:cNvPr>
            <p:cNvSpPr/>
            <p:nvPr/>
          </p:nvSpPr>
          <p:spPr>
            <a:xfrm>
              <a:off x="1081304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91D0DA6-82FF-840B-E23C-A34E92F6C00C}"/>
                </a:ext>
              </a:extLst>
            </p:cNvPr>
            <p:cNvSpPr txBox="1"/>
            <p:nvPr/>
          </p:nvSpPr>
          <p:spPr>
            <a:xfrm>
              <a:off x="10870777" y="133051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2579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B7BEE-83FC-6A92-8C72-922983C3E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extract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F168B-C22F-1B48-82E7-F81CD4DCA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079" y="245281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extract(){</a:t>
            </a:r>
          </a:p>
          <a:p>
            <a:pPr marL="0" indent="0">
              <a:buNone/>
            </a:pPr>
            <a:r>
              <a:rPr lang="en-US" dirty="0"/>
              <a:t>    min = </a:t>
            </a:r>
            <a:r>
              <a:rPr lang="en-US" dirty="0" err="1"/>
              <a:t>arr</a:t>
            </a:r>
            <a:r>
              <a:rPr lang="en-US" dirty="0"/>
              <a:t>[1];</a:t>
            </a:r>
          </a:p>
          <a:p>
            <a:pPr marL="0" indent="0">
              <a:buNone/>
            </a:pPr>
            <a:r>
              <a:rPr lang="en-US" dirty="0"/>
              <a:t>    last = </a:t>
            </a:r>
            <a:r>
              <a:rPr lang="en-US" dirty="0" err="1"/>
              <a:t>arr</a:t>
            </a:r>
            <a:r>
              <a:rPr lang="en-US" dirty="0"/>
              <a:t>[size--];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arr</a:t>
            </a:r>
            <a:r>
              <a:rPr lang="en-US" dirty="0"/>
              <a:t>[1] = last;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percolateDown</a:t>
            </a:r>
            <a:r>
              <a:rPr lang="en-US" dirty="0"/>
              <a:t>(1);</a:t>
            </a:r>
          </a:p>
          <a:p>
            <a:pPr marL="0" indent="0">
              <a:buNone/>
            </a:pPr>
            <a:r>
              <a:rPr lang="en-US" dirty="0"/>
              <a:t>    return min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5FEEAE4-5947-43BB-33F3-0E2F7A27D58C}"/>
              </a:ext>
            </a:extLst>
          </p:cNvPr>
          <p:cNvGrpSpPr/>
          <p:nvPr/>
        </p:nvGrpSpPr>
        <p:grpSpPr>
          <a:xfrm>
            <a:off x="5161281" y="73781"/>
            <a:ext cx="6934200" cy="3368751"/>
            <a:chOff x="2590801" y="2672070"/>
            <a:chExt cx="6934200" cy="3368751"/>
          </a:xfrm>
          <a:solidFill>
            <a:schemeClr val="bg1"/>
          </a:solidFill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33A0E13-4996-116D-FFBB-C9C47C84D55C}"/>
                </a:ext>
              </a:extLst>
            </p:cNvPr>
            <p:cNvSpPr/>
            <p:nvPr/>
          </p:nvSpPr>
          <p:spPr>
            <a:xfrm>
              <a:off x="5996855" y="2672070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C2A72B8-1FD3-516D-A021-E2075712D6CB}"/>
                </a:ext>
              </a:extLst>
            </p:cNvPr>
            <p:cNvSpPr/>
            <p:nvPr/>
          </p:nvSpPr>
          <p:spPr>
            <a:xfrm>
              <a:off x="4191001" y="3682289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1.5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92D9E01-B220-E093-6B95-A68C0266A5BC}"/>
                </a:ext>
              </a:extLst>
            </p:cNvPr>
            <p:cNvSpPr/>
            <p:nvPr/>
          </p:nvSpPr>
          <p:spPr>
            <a:xfrm>
              <a:off x="7858499" y="3653913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1620859-F5B3-EB2D-7626-028B1D551DC8}"/>
                </a:ext>
              </a:extLst>
            </p:cNvPr>
            <p:cNvSpPr/>
            <p:nvPr/>
          </p:nvSpPr>
          <p:spPr>
            <a:xfrm>
              <a:off x="3200401" y="4383504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DDB63C5-2978-A1A0-5B7C-21B3C85ED8F3}"/>
                </a:ext>
              </a:extLst>
            </p:cNvPr>
            <p:cNvSpPr/>
            <p:nvPr/>
          </p:nvSpPr>
          <p:spPr>
            <a:xfrm>
              <a:off x="5211206" y="4425368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246EA45-DB59-3189-5133-E09D0AC67BEF}"/>
                </a:ext>
              </a:extLst>
            </p:cNvPr>
            <p:cNvSpPr/>
            <p:nvPr/>
          </p:nvSpPr>
          <p:spPr>
            <a:xfrm>
              <a:off x="6934201" y="4341990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ACF96E3-806B-71A4-4206-D4D7C31A2F2D}"/>
                </a:ext>
              </a:extLst>
            </p:cNvPr>
            <p:cNvSpPr/>
            <p:nvPr/>
          </p:nvSpPr>
          <p:spPr>
            <a:xfrm>
              <a:off x="8836924" y="4341990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14F5CF9-E0BE-AD30-CAF0-6FB68446C0CD}"/>
                </a:ext>
              </a:extLst>
            </p:cNvPr>
            <p:cNvSpPr/>
            <p:nvPr/>
          </p:nvSpPr>
          <p:spPr>
            <a:xfrm>
              <a:off x="2590801" y="5352744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97C9AA5-DB9B-1AFC-012D-B3D8743427A8}"/>
                </a:ext>
              </a:extLst>
            </p:cNvPr>
            <p:cNvSpPr/>
            <p:nvPr/>
          </p:nvSpPr>
          <p:spPr>
            <a:xfrm>
              <a:off x="3733801" y="5352744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9925F6-573D-F6E3-2D20-9939C39C8CC4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4778311" y="3259380"/>
              <a:ext cx="1319311" cy="523676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690E6CF-81A5-AEED-23C1-2A785442C5F3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584165" y="3259380"/>
              <a:ext cx="1375101" cy="49530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918949D-E91F-514C-8942-A55A0B1C1B96}"/>
                </a:ext>
              </a:extLst>
            </p:cNvPr>
            <p:cNvCxnSpPr>
              <a:stCxn id="9" idx="1"/>
              <a:endCxn id="6" idx="5"/>
            </p:cNvCxnSpPr>
            <p:nvPr/>
          </p:nvCxnSpPr>
          <p:spPr>
            <a:xfrm flipH="1" flipV="1">
              <a:off x="4778310" y="4269598"/>
              <a:ext cx="533662" cy="256536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AEC8F07-B67E-32B1-8194-36206CBAE1C1}"/>
                </a:ext>
              </a:extLst>
            </p:cNvPr>
            <p:cNvCxnSpPr>
              <a:stCxn id="8" idx="7"/>
              <a:endCxn id="6" idx="3"/>
            </p:cNvCxnSpPr>
            <p:nvPr/>
          </p:nvCxnSpPr>
          <p:spPr>
            <a:xfrm flipV="1">
              <a:off x="3787711" y="4269598"/>
              <a:ext cx="504057" cy="214672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CB303E5-4C0F-E3C1-6C40-D63CB81862DA}"/>
                </a:ext>
              </a:extLst>
            </p:cNvPr>
            <p:cNvCxnSpPr>
              <a:stCxn id="13" idx="0"/>
              <a:endCxn id="8" idx="5"/>
            </p:cNvCxnSpPr>
            <p:nvPr/>
          </p:nvCxnSpPr>
          <p:spPr>
            <a:xfrm flipH="1" flipV="1">
              <a:off x="3787711" y="4970813"/>
              <a:ext cx="290129" cy="38193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F69F648-6942-5A93-5A23-499C2EB8C9E2}"/>
                </a:ext>
              </a:extLst>
            </p:cNvPr>
            <p:cNvCxnSpPr>
              <a:stCxn id="12" idx="0"/>
              <a:endCxn id="8" idx="3"/>
            </p:cNvCxnSpPr>
            <p:nvPr/>
          </p:nvCxnSpPr>
          <p:spPr>
            <a:xfrm flipV="1">
              <a:off x="2934839" y="4970813"/>
              <a:ext cx="366328" cy="38193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43FFFFF-CF30-2E14-4603-BCEC3E407EB6}"/>
                </a:ext>
              </a:extLst>
            </p:cNvPr>
            <p:cNvCxnSpPr>
              <a:stCxn id="10" idx="7"/>
              <a:endCxn id="7" idx="3"/>
            </p:cNvCxnSpPr>
            <p:nvPr/>
          </p:nvCxnSpPr>
          <p:spPr>
            <a:xfrm flipV="1">
              <a:off x="7521511" y="4241222"/>
              <a:ext cx="437755" cy="201534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DD9F7F4-FC58-103B-8500-D893D1F68143}"/>
                </a:ext>
              </a:extLst>
            </p:cNvPr>
            <p:cNvCxnSpPr>
              <a:stCxn id="11" idx="1"/>
              <a:endCxn id="7" idx="5"/>
            </p:cNvCxnSpPr>
            <p:nvPr/>
          </p:nvCxnSpPr>
          <p:spPr>
            <a:xfrm flipH="1" flipV="1">
              <a:off x="8445808" y="4241222"/>
              <a:ext cx="491882" cy="201534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BDE845EB-2C74-AFA6-612A-2B277A969486}"/>
              </a:ext>
            </a:extLst>
          </p:cNvPr>
          <p:cNvSpPr/>
          <p:nvPr/>
        </p:nvSpPr>
        <p:spPr>
          <a:xfrm>
            <a:off x="7332895" y="2754017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08EB998-8774-511E-D2B0-C8A8B01CF9C0}"/>
              </a:ext>
            </a:extLst>
          </p:cNvPr>
          <p:cNvCxnSpPr>
            <a:cxnSpLocks/>
            <a:stCxn id="24" idx="0"/>
            <a:endCxn id="9" idx="3"/>
          </p:cNvCxnSpPr>
          <p:nvPr/>
        </p:nvCxnSpPr>
        <p:spPr>
          <a:xfrm flipV="1">
            <a:off x="7676934" y="2414389"/>
            <a:ext cx="205519" cy="3396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5628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65775-ECF5-263D-D86C-2666D0E60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Percolate Up and Down (for a Min Heap)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00E82E-8B91-3DBC-BE69-2D72AD7E85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Goal: restore the “Heap Property”</a:t>
                </a:r>
              </a:p>
              <a:p>
                <a:r>
                  <a:rPr lang="en-US" dirty="0"/>
                  <a:t>Percolate Up:</a:t>
                </a:r>
              </a:p>
              <a:p>
                <a:pPr lvl="1"/>
                <a:r>
                  <a:rPr lang="en-US" dirty="0"/>
                  <a:t>Take a node that may be smaller than a parent, repeatedly swap with a parent until it is larger than its parent</a:t>
                </a:r>
              </a:p>
              <a:p>
                <a:r>
                  <a:rPr lang="en-US" dirty="0"/>
                  <a:t>Percolate Down:</a:t>
                </a:r>
              </a:p>
              <a:p>
                <a:pPr lvl="1"/>
                <a:r>
                  <a:rPr lang="en-US" dirty="0"/>
                  <a:t>Take a node that may be larger than one of its children, repeatedly swap with smallest child until both children are larger</a:t>
                </a:r>
              </a:p>
              <a:p>
                <a:r>
                  <a:rPr lang="en-US" dirty="0"/>
                  <a:t>Worst case running time of each: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00E82E-8B91-3DBC-BE69-2D72AD7E85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1582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F483F-F26E-8B20-8083-CCF4901F7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Percolate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5A154-B79D-608E-BDA4-B50687714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825625"/>
            <a:ext cx="118872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dirty="0" err="1"/>
              <a:t>percolateUp</a:t>
            </a:r>
            <a:r>
              <a:rPr lang="en-US" sz="2400" dirty="0"/>
              <a:t>(int </a:t>
            </a:r>
            <a:r>
              <a:rPr lang="en-US" sz="2400" dirty="0" err="1"/>
              <a:t>i</a:t>
            </a:r>
            <a:r>
              <a:rPr lang="en-US" sz="2400" dirty="0"/>
              <a:t>){</a:t>
            </a:r>
          </a:p>
          <a:p>
            <a:pPr marL="0" indent="0">
              <a:buNone/>
            </a:pPr>
            <a:r>
              <a:rPr lang="en-US" sz="2400" dirty="0"/>
              <a:t>    int parent = </a:t>
            </a:r>
            <a:r>
              <a:rPr lang="en-US" sz="2400" dirty="0" err="1"/>
              <a:t>i</a:t>
            </a:r>
            <a:r>
              <a:rPr lang="en-US" sz="2400" dirty="0"/>
              <a:t>/2;  </a:t>
            </a:r>
            <a:r>
              <a:rPr lang="en-US" sz="2400" dirty="0">
                <a:solidFill>
                  <a:srgbClr val="00B0F0"/>
                </a:solidFill>
              </a:rPr>
              <a:t>\\ index of parent</a:t>
            </a:r>
          </a:p>
          <a:p>
            <a:pPr marL="0" indent="0">
              <a:buNone/>
            </a:pPr>
            <a:r>
              <a:rPr lang="en-US" sz="2400" dirty="0"/>
              <a:t>    Item </a:t>
            </a:r>
            <a:r>
              <a:rPr lang="en-US" sz="2400" dirty="0" err="1"/>
              <a:t>val</a:t>
            </a:r>
            <a:r>
              <a:rPr lang="en-US" sz="2400" dirty="0"/>
              <a:t> = </a:t>
            </a:r>
            <a:r>
              <a:rPr lang="en-US" sz="2400" dirty="0" err="1"/>
              <a:t>arr</a:t>
            </a:r>
            <a:r>
              <a:rPr lang="en-US" sz="2400" dirty="0"/>
              <a:t>[</a:t>
            </a:r>
            <a:r>
              <a:rPr lang="en-US" sz="2400" dirty="0" err="1"/>
              <a:t>i</a:t>
            </a:r>
            <a:r>
              <a:rPr lang="en-US" sz="2400" dirty="0"/>
              <a:t>];  </a:t>
            </a:r>
            <a:r>
              <a:rPr lang="en-US" sz="2400" dirty="0">
                <a:solidFill>
                  <a:srgbClr val="00B0F0"/>
                </a:solidFill>
              </a:rPr>
              <a:t>\\ value at current location</a:t>
            </a:r>
          </a:p>
          <a:p>
            <a:pPr marL="0" indent="0">
              <a:buNone/>
            </a:pPr>
            <a:r>
              <a:rPr lang="en-US" sz="2400" dirty="0"/>
              <a:t>    while(</a:t>
            </a:r>
            <a:r>
              <a:rPr lang="en-US" sz="2400" dirty="0" err="1"/>
              <a:t>i</a:t>
            </a:r>
            <a:r>
              <a:rPr lang="en-US" sz="2400" dirty="0"/>
              <a:t> &gt; 1 &amp;&amp; </a:t>
            </a:r>
            <a:r>
              <a:rPr lang="en-US" sz="2400" dirty="0" err="1"/>
              <a:t>arr</a:t>
            </a:r>
            <a:r>
              <a:rPr lang="en-US" sz="2400" dirty="0"/>
              <a:t>[</a:t>
            </a:r>
            <a:r>
              <a:rPr lang="en-US" sz="2400" dirty="0" err="1"/>
              <a:t>i</a:t>
            </a:r>
            <a:r>
              <a:rPr lang="en-US" sz="2400" dirty="0"/>
              <a:t>].priority &lt; </a:t>
            </a:r>
            <a:r>
              <a:rPr lang="en-US" sz="2400" dirty="0" err="1"/>
              <a:t>arr</a:t>
            </a:r>
            <a:r>
              <a:rPr lang="en-US" sz="2400" dirty="0"/>
              <a:t>[parent].priority){  </a:t>
            </a:r>
            <a:r>
              <a:rPr lang="en-US" sz="2400" dirty="0">
                <a:solidFill>
                  <a:srgbClr val="00B0F0"/>
                </a:solidFill>
              </a:rPr>
              <a:t>\\ until location is root or heap property holds</a:t>
            </a:r>
          </a:p>
          <a:p>
            <a:pPr marL="0" indent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arr</a:t>
            </a:r>
            <a:r>
              <a:rPr lang="en-US" sz="2400" dirty="0"/>
              <a:t>[</a:t>
            </a:r>
            <a:r>
              <a:rPr lang="en-US" sz="2400" dirty="0" err="1"/>
              <a:t>i</a:t>
            </a:r>
            <a:r>
              <a:rPr lang="en-US" sz="2400" dirty="0"/>
              <a:t>] = </a:t>
            </a:r>
            <a:r>
              <a:rPr lang="en-US" sz="2400" dirty="0" err="1"/>
              <a:t>arr</a:t>
            </a:r>
            <a:r>
              <a:rPr lang="en-US" sz="2400" dirty="0"/>
              <a:t>[parent];  </a:t>
            </a:r>
            <a:r>
              <a:rPr lang="en-US" sz="2400" dirty="0">
                <a:solidFill>
                  <a:srgbClr val="00B0F0"/>
                </a:solidFill>
              </a:rPr>
              <a:t>\\ move parent value to this location</a:t>
            </a:r>
          </a:p>
          <a:p>
            <a:pPr marL="0" indent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arr</a:t>
            </a:r>
            <a:r>
              <a:rPr lang="en-US" sz="2400" dirty="0"/>
              <a:t>[parent] = </a:t>
            </a:r>
            <a:r>
              <a:rPr lang="en-US" sz="2400" dirty="0" err="1"/>
              <a:t>val</a:t>
            </a:r>
            <a:r>
              <a:rPr lang="en-US" sz="2400" dirty="0"/>
              <a:t>; </a:t>
            </a:r>
            <a:r>
              <a:rPr lang="en-US" sz="2400" dirty="0">
                <a:solidFill>
                  <a:srgbClr val="00B0F0"/>
                </a:solidFill>
              </a:rPr>
              <a:t>\\ put current value into parent’s location </a:t>
            </a:r>
          </a:p>
          <a:p>
            <a:pPr marL="0" indent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i</a:t>
            </a:r>
            <a:r>
              <a:rPr lang="en-US" sz="2400" dirty="0"/>
              <a:t> = parent;  </a:t>
            </a:r>
            <a:r>
              <a:rPr lang="en-US" sz="2400" dirty="0">
                <a:solidFill>
                  <a:srgbClr val="00B0F0"/>
                </a:solidFill>
              </a:rPr>
              <a:t>\\ make current location the parent</a:t>
            </a:r>
          </a:p>
          <a:p>
            <a:pPr marL="0" indent="0">
              <a:buNone/>
            </a:pPr>
            <a:r>
              <a:rPr lang="en-US" sz="2400" dirty="0"/>
              <a:t>        parent = </a:t>
            </a:r>
            <a:r>
              <a:rPr lang="en-US" sz="2400" dirty="0" err="1"/>
              <a:t>i</a:t>
            </a:r>
            <a:r>
              <a:rPr lang="en-US" sz="2400" dirty="0"/>
              <a:t>/2;  </a:t>
            </a:r>
            <a:r>
              <a:rPr lang="en-US" sz="2400" dirty="0">
                <a:solidFill>
                  <a:srgbClr val="00B0F0"/>
                </a:solidFill>
              </a:rPr>
              <a:t>\\ update new parent</a:t>
            </a:r>
          </a:p>
          <a:p>
            <a:pPr marL="0" indent="0">
              <a:buNone/>
            </a:pPr>
            <a:r>
              <a:rPr lang="en-US" sz="2400" dirty="0"/>
              <a:t>    }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76401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F483F-F26E-8B20-8083-CCF4901F7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5115"/>
            <a:ext cx="10515600" cy="1325563"/>
          </a:xfrm>
        </p:spPr>
        <p:txBody>
          <a:bodyPr/>
          <a:lstStyle/>
          <a:p>
            <a:r>
              <a:rPr lang="en-US" dirty="0"/>
              <a:t>Percolate 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5A154-B79D-608E-BDA4-B50687714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09600"/>
            <a:ext cx="11887200" cy="62484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err="1"/>
              <a:t>percolateDown</a:t>
            </a:r>
            <a:r>
              <a:rPr lang="en-US" dirty="0"/>
              <a:t>(int </a:t>
            </a:r>
            <a:r>
              <a:rPr lang="en-US" dirty="0" err="1"/>
              <a:t>i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    int left = </a:t>
            </a:r>
            <a:r>
              <a:rPr lang="en-US" dirty="0" err="1"/>
              <a:t>i</a:t>
            </a:r>
            <a:r>
              <a:rPr lang="en-US" dirty="0"/>
              <a:t>*2;  </a:t>
            </a:r>
            <a:r>
              <a:rPr lang="en-US" dirty="0">
                <a:solidFill>
                  <a:srgbClr val="00B0F0"/>
                </a:solidFill>
              </a:rPr>
              <a:t>\\ index of left child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    </a:t>
            </a:r>
            <a:r>
              <a:rPr lang="en-US" dirty="0"/>
              <a:t>int right = </a:t>
            </a:r>
            <a:r>
              <a:rPr lang="en-US" dirty="0" err="1"/>
              <a:t>i</a:t>
            </a:r>
            <a:r>
              <a:rPr lang="en-US" dirty="0"/>
              <a:t>*2+1;  </a:t>
            </a:r>
            <a:r>
              <a:rPr lang="en-US" dirty="0">
                <a:solidFill>
                  <a:srgbClr val="00B0F0"/>
                </a:solidFill>
              </a:rPr>
              <a:t>\\ index of right child</a:t>
            </a:r>
          </a:p>
          <a:p>
            <a:pPr marL="0" indent="0">
              <a:buNone/>
            </a:pPr>
            <a:r>
              <a:rPr lang="en-US" dirty="0"/>
              <a:t>    Item </a:t>
            </a:r>
            <a:r>
              <a:rPr lang="en-US" dirty="0" err="1"/>
              <a:t>val</a:t>
            </a:r>
            <a:r>
              <a:rPr lang="en-US" dirty="0"/>
              <a:t> =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  </a:t>
            </a:r>
            <a:r>
              <a:rPr lang="en-US" dirty="0">
                <a:solidFill>
                  <a:srgbClr val="00B0F0"/>
                </a:solidFill>
              </a:rPr>
              <a:t>\\ value at location</a:t>
            </a:r>
          </a:p>
          <a:p>
            <a:pPr marL="0" indent="0">
              <a:buNone/>
            </a:pPr>
            <a:r>
              <a:rPr lang="en-US" dirty="0"/>
              <a:t>    while(left &lt;= size){  </a:t>
            </a:r>
            <a:r>
              <a:rPr lang="en-US" dirty="0">
                <a:solidFill>
                  <a:srgbClr val="00B0F0"/>
                </a:solidFill>
              </a:rPr>
              <a:t>\\ until location is leaf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        </a:t>
            </a:r>
            <a:r>
              <a:rPr lang="en-US" dirty="0"/>
              <a:t>int </a:t>
            </a:r>
            <a:r>
              <a:rPr lang="en-US" dirty="0" err="1"/>
              <a:t>toSwap</a:t>
            </a:r>
            <a:r>
              <a:rPr lang="en-US" dirty="0"/>
              <a:t> = right;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        </a:t>
            </a:r>
            <a:r>
              <a:rPr lang="en-US" dirty="0"/>
              <a:t>if(right &gt; size || </a:t>
            </a:r>
            <a:r>
              <a:rPr lang="en-US" dirty="0" err="1"/>
              <a:t>arr</a:t>
            </a:r>
            <a:r>
              <a:rPr lang="en-US" dirty="0"/>
              <a:t>[left].priority &lt; </a:t>
            </a:r>
            <a:r>
              <a:rPr lang="en-US" dirty="0" err="1"/>
              <a:t>arr</a:t>
            </a:r>
            <a:r>
              <a:rPr lang="en-US" dirty="0"/>
              <a:t>[right] .priority){  </a:t>
            </a:r>
            <a:r>
              <a:rPr lang="en-US" dirty="0">
                <a:solidFill>
                  <a:srgbClr val="00B0F0"/>
                </a:solidFill>
              </a:rPr>
              <a:t>\\ if there is no right child or if left child is smaller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            </a:t>
            </a:r>
            <a:r>
              <a:rPr lang="en-US" dirty="0" err="1"/>
              <a:t>toSwap</a:t>
            </a:r>
            <a:r>
              <a:rPr lang="en-US" dirty="0"/>
              <a:t> = left;  </a:t>
            </a:r>
            <a:r>
              <a:rPr lang="en-US" dirty="0">
                <a:solidFill>
                  <a:srgbClr val="00B0F0"/>
                </a:solidFill>
              </a:rPr>
              <a:t>\\ swap with left</a:t>
            </a:r>
          </a:p>
          <a:p>
            <a:pPr marL="0" indent="0">
              <a:buNone/>
            </a:pPr>
            <a:r>
              <a:rPr lang="en-US" dirty="0"/>
              <a:t>        } </a:t>
            </a:r>
            <a:r>
              <a:rPr lang="en-US" dirty="0">
                <a:solidFill>
                  <a:srgbClr val="00B0F0"/>
                </a:solidFill>
              </a:rPr>
              <a:t>\\ now </a:t>
            </a:r>
            <a:r>
              <a:rPr lang="en-US" dirty="0" err="1">
                <a:solidFill>
                  <a:srgbClr val="00B0F0"/>
                </a:solidFill>
              </a:rPr>
              <a:t>toSwap</a:t>
            </a:r>
            <a:r>
              <a:rPr lang="en-US" dirty="0">
                <a:solidFill>
                  <a:srgbClr val="00B0F0"/>
                </a:solidFill>
              </a:rPr>
              <a:t> has the smaller of left/right, or left if right does not exist</a:t>
            </a:r>
          </a:p>
          <a:p>
            <a:pPr marL="0" indent="0">
              <a:buNone/>
            </a:pPr>
            <a:r>
              <a:rPr lang="en-US" dirty="0"/>
              <a:t>        if (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toSwap</a:t>
            </a:r>
            <a:r>
              <a:rPr lang="en-US" dirty="0"/>
              <a:t>] .priority &lt; </a:t>
            </a:r>
            <a:r>
              <a:rPr lang="en-US" dirty="0" err="1"/>
              <a:t>val.priority</a:t>
            </a:r>
            <a:r>
              <a:rPr lang="en-US" dirty="0"/>
              <a:t>){  </a:t>
            </a:r>
            <a:r>
              <a:rPr lang="en-US" dirty="0">
                <a:solidFill>
                  <a:srgbClr val="00B0F0"/>
                </a:solidFill>
              </a:rPr>
              <a:t>\\ if the smaller child is less than the current value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=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toSwap</a:t>
            </a:r>
            <a:r>
              <a:rPr lang="en-US" dirty="0"/>
              <a:t>];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toSwap</a:t>
            </a:r>
            <a:r>
              <a:rPr lang="en-US" dirty="0"/>
              <a:t>] = </a:t>
            </a:r>
            <a:r>
              <a:rPr lang="en-US" dirty="0" err="1"/>
              <a:t>val</a:t>
            </a:r>
            <a:r>
              <a:rPr lang="en-US" dirty="0"/>
              <a:t>; </a:t>
            </a:r>
            <a:r>
              <a:rPr lang="en-US" dirty="0">
                <a:solidFill>
                  <a:srgbClr val="00B0F0"/>
                </a:solidFill>
              </a:rPr>
              <a:t>\\ swap parent with smaller child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i</a:t>
            </a:r>
            <a:r>
              <a:rPr lang="en-US" dirty="0"/>
              <a:t> = </a:t>
            </a:r>
            <a:r>
              <a:rPr lang="en-US" dirty="0" err="1"/>
              <a:t>toSwap</a:t>
            </a:r>
            <a:r>
              <a:rPr lang="en-US" dirty="0"/>
              <a:t>; </a:t>
            </a:r>
            <a:r>
              <a:rPr lang="en-US" dirty="0">
                <a:solidFill>
                  <a:srgbClr val="00B0F0"/>
                </a:solidFill>
              </a:rPr>
              <a:t>\\ update current node to be smaller child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left = </a:t>
            </a:r>
            <a:r>
              <a:rPr lang="en-US" dirty="0" err="1"/>
              <a:t>i</a:t>
            </a:r>
            <a:r>
              <a:rPr lang="en-US" dirty="0"/>
              <a:t>*2;</a:t>
            </a:r>
          </a:p>
          <a:p>
            <a:pPr marL="0" indent="0">
              <a:buNone/>
            </a:pPr>
            <a:r>
              <a:rPr lang="en-US" dirty="0"/>
              <a:t>            right = </a:t>
            </a:r>
            <a:r>
              <a:rPr lang="en-US" dirty="0" err="1"/>
              <a:t>i</a:t>
            </a:r>
            <a:r>
              <a:rPr lang="en-US" dirty="0"/>
              <a:t>*2+1;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    else{ return;} </a:t>
            </a:r>
            <a:r>
              <a:rPr lang="en-US" dirty="0">
                <a:solidFill>
                  <a:srgbClr val="00B0F0"/>
                </a:solidFill>
              </a:rPr>
              <a:t>\\ if we don’t swap, then heap property holds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01833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B6229-ED81-992D-D556-83FFFB644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A08C9-D1CE-6668-4633-5375FE66C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Increase Key</a:t>
            </a:r>
          </a:p>
          <a:p>
            <a:pPr lvl="1"/>
            <a:r>
              <a:rPr lang="en-US" dirty="0"/>
              <a:t>Given the index of an item in the PQ, make its priority value larger</a:t>
            </a:r>
          </a:p>
          <a:p>
            <a:pPr lvl="2"/>
            <a:r>
              <a:rPr lang="en-US" dirty="0"/>
              <a:t>Min Heap: Then percolate down</a:t>
            </a:r>
          </a:p>
          <a:p>
            <a:pPr lvl="2"/>
            <a:r>
              <a:rPr lang="en-US" dirty="0"/>
              <a:t>Max Heap: Then percolate up</a:t>
            </a:r>
          </a:p>
          <a:p>
            <a:r>
              <a:rPr lang="en-US" dirty="0"/>
              <a:t>Decrease Key</a:t>
            </a:r>
          </a:p>
          <a:p>
            <a:pPr lvl="1"/>
            <a:r>
              <a:rPr lang="en-US" dirty="0"/>
              <a:t>Given the index of an item in the PQ, make its priority value smaller</a:t>
            </a:r>
          </a:p>
          <a:p>
            <a:pPr lvl="2"/>
            <a:r>
              <a:rPr lang="en-US" dirty="0"/>
              <a:t>Min Heap: Then percolate up</a:t>
            </a:r>
          </a:p>
          <a:p>
            <a:pPr lvl="2"/>
            <a:r>
              <a:rPr lang="en-US" dirty="0"/>
              <a:t>Max Heap: Then percolate down</a:t>
            </a:r>
          </a:p>
          <a:p>
            <a:r>
              <a:rPr lang="en-US" dirty="0"/>
              <a:t>Remove</a:t>
            </a:r>
          </a:p>
          <a:p>
            <a:pPr lvl="1"/>
            <a:r>
              <a:rPr lang="en-US" dirty="0"/>
              <a:t>Given the item at the given index from the PQ</a:t>
            </a:r>
          </a:p>
        </p:txBody>
      </p:sp>
    </p:spTree>
    <p:extLst>
      <p:ext uri="{BB962C8B-B14F-4D97-AF65-F5344CB8AC3E}">
        <p14:creationId xmlns:p14="http://schemas.microsoft.com/office/powerpoint/2010/main" val="3021073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F2A4A-E8D3-7F93-AD14-D6B2FD99D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Heap From “Scratch”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AF3C39-C718-C590-CB20-0AC3D97ADF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we had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items and wanted to “</a:t>
                </a:r>
                <a:r>
                  <a:rPr lang="en-US" dirty="0" err="1"/>
                  <a:t>heapify</a:t>
                </a:r>
                <a:r>
                  <a:rPr lang="en-US" dirty="0"/>
                  <a:t>” them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AF3C39-C718-C590-CB20-0AC3D97ADF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D2C070FD-E606-FE96-DBE1-D6B50F960BB6}"/>
              </a:ext>
            </a:extLst>
          </p:cNvPr>
          <p:cNvGrpSpPr/>
          <p:nvPr/>
        </p:nvGrpSpPr>
        <p:grpSpPr>
          <a:xfrm>
            <a:off x="5917894" y="2956422"/>
            <a:ext cx="5875588" cy="945155"/>
            <a:chOff x="5470854" y="754688"/>
            <a:chExt cx="5875588" cy="94515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82E85FD-4B9F-2A0B-306D-32BA73343EB3}"/>
                </a:ext>
              </a:extLst>
            </p:cNvPr>
            <p:cNvSpPr/>
            <p:nvPr/>
          </p:nvSpPr>
          <p:spPr>
            <a:xfrm>
              <a:off x="5470854" y="754688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33CD6EB-1593-D211-04E7-2CDD96133A79}"/>
                </a:ext>
              </a:extLst>
            </p:cNvPr>
            <p:cNvSpPr/>
            <p:nvPr/>
          </p:nvSpPr>
          <p:spPr>
            <a:xfrm>
              <a:off x="6004254" y="754688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6A20C82-14BA-14B7-33D2-B02F05244D80}"/>
                </a:ext>
              </a:extLst>
            </p:cNvPr>
            <p:cNvSpPr/>
            <p:nvPr/>
          </p:nvSpPr>
          <p:spPr>
            <a:xfrm>
              <a:off x="65382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6678D84-16F3-310C-AADC-7A181CCDF23C}"/>
                </a:ext>
              </a:extLst>
            </p:cNvPr>
            <p:cNvSpPr/>
            <p:nvPr/>
          </p:nvSpPr>
          <p:spPr>
            <a:xfrm>
              <a:off x="70716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BBF6A4D-F237-D175-3581-18514FECFB50}"/>
                </a:ext>
              </a:extLst>
            </p:cNvPr>
            <p:cNvSpPr/>
            <p:nvPr/>
          </p:nvSpPr>
          <p:spPr>
            <a:xfrm>
              <a:off x="76050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EA7CA55-613D-E569-F87A-36A82B8A4197}"/>
                </a:ext>
              </a:extLst>
            </p:cNvPr>
            <p:cNvSpPr/>
            <p:nvPr/>
          </p:nvSpPr>
          <p:spPr>
            <a:xfrm>
              <a:off x="81389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4DBAC75-85FF-A5C5-3308-0652E69855B9}"/>
                </a:ext>
              </a:extLst>
            </p:cNvPr>
            <p:cNvSpPr/>
            <p:nvPr/>
          </p:nvSpPr>
          <p:spPr>
            <a:xfrm>
              <a:off x="86723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AC49C1D-E65A-E283-D242-407C87FCEAD3}"/>
                </a:ext>
              </a:extLst>
            </p:cNvPr>
            <p:cNvSpPr/>
            <p:nvPr/>
          </p:nvSpPr>
          <p:spPr>
            <a:xfrm>
              <a:off x="92057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F643AEB-4040-07BB-03F1-A04A08EE1D6F}"/>
                </a:ext>
              </a:extLst>
            </p:cNvPr>
            <p:cNvSpPr/>
            <p:nvPr/>
          </p:nvSpPr>
          <p:spPr>
            <a:xfrm>
              <a:off x="9739761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8FEEA45-B71F-DF2F-C447-4203F387203B}"/>
                </a:ext>
              </a:extLst>
            </p:cNvPr>
            <p:cNvSpPr/>
            <p:nvPr/>
          </p:nvSpPr>
          <p:spPr>
            <a:xfrm>
              <a:off x="10273161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A6253EB-D23C-949B-D5E8-FECD830DEDBA}"/>
                </a:ext>
              </a:extLst>
            </p:cNvPr>
            <p:cNvSpPr txBox="1"/>
            <p:nvPr/>
          </p:nvSpPr>
          <p:spPr>
            <a:xfrm>
              <a:off x="5586710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8F8A93E-79B2-8F25-0DCC-1F3278F661BB}"/>
                </a:ext>
              </a:extLst>
            </p:cNvPr>
            <p:cNvSpPr txBox="1"/>
            <p:nvPr/>
          </p:nvSpPr>
          <p:spPr>
            <a:xfrm>
              <a:off x="6120110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2E633D5-64EB-6BAD-3A62-C08FF0C32E94}"/>
                </a:ext>
              </a:extLst>
            </p:cNvPr>
            <p:cNvSpPr txBox="1"/>
            <p:nvPr/>
          </p:nvSpPr>
          <p:spPr>
            <a:xfrm>
              <a:off x="6654079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4AC8395-5F6E-19CD-15DE-29D1887AD4A5}"/>
                </a:ext>
              </a:extLst>
            </p:cNvPr>
            <p:cNvSpPr txBox="1"/>
            <p:nvPr/>
          </p:nvSpPr>
          <p:spPr>
            <a:xfrm>
              <a:off x="7187479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19110CD-D76E-CFDF-A6D5-AB20E69C641D}"/>
                </a:ext>
              </a:extLst>
            </p:cNvPr>
            <p:cNvSpPr txBox="1"/>
            <p:nvPr/>
          </p:nvSpPr>
          <p:spPr>
            <a:xfrm>
              <a:off x="771846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C3B8112-0CF7-5516-F41D-84C801CEBEE1}"/>
                </a:ext>
              </a:extLst>
            </p:cNvPr>
            <p:cNvSpPr txBox="1"/>
            <p:nvPr/>
          </p:nvSpPr>
          <p:spPr>
            <a:xfrm>
              <a:off x="819649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8D6E652-F5FC-4920-F20E-32A2AA0FEAE2}"/>
                </a:ext>
              </a:extLst>
            </p:cNvPr>
            <p:cNvSpPr txBox="1"/>
            <p:nvPr/>
          </p:nvSpPr>
          <p:spPr>
            <a:xfrm>
              <a:off x="8788248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19347C4-D38D-06D5-33DF-2A348A5382FE}"/>
                </a:ext>
              </a:extLst>
            </p:cNvPr>
            <p:cNvSpPr txBox="1"/>
            <p:nvPr/>
          </p:nvSpPr>
          <p:spPr>
            <a:xfrm>
              <a:off x="9321648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60923D4-A058-7D06-904A-8CC0ECE807D7}"/>
                </a:ext>
              </a:extLst>
            </p:cNvPr>
            <p:cNvSpPr txBox="1"/>
            <p:nvPr/>
          </p:nvSpPr>
          <p:spPr>
            <a:xfrm>
              <a:off x="985561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0CFED6D-86F5-D958-E923-2CC18DA518C3}"/>
                </a:ext>
              </a:extLst>
            </p:cNvPr>
            <p:cNvSpPr txBox="1"/>
            <p:nvPr/>
          </p:nvSpPr>
          <p:spPr>
            <a:xfrm>
              <a:off x="1038901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FC2E6EC-062F-A161-9D0A-D10BDBA2450A}"/>
                </a:ext>
              </a:extLst>
            </p:cNvPr>
            <p:cNvSpPr/>
            <p:nvPr/>
          </p:nvSpPr>
          <p:spPr>
            <a:xfrm>
              <a:off x="1081304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5E124AE-511C-1167-F084-AF9166C40BF1}"/>
                </a:ext>
              </a:extLst>
            </p:cNvPr>
            <p:cNvSpPr txBox="1"/>
            <p:nvPr/>
          </p:nvSpPr>
          <p:spPr>
            <a:xfrm>
              <a:off x="10870777" y="133051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10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63756C4-FFEE-45CE-C290-81DC657DB3F1}"/>
              </a:ext>
            </a:extLst>
          </p:cNvPr>
          <p:cNvGrpSpPr/>
          <p:nvPr/>
        </p:nvGrpSpPr>
        <p:grpSpPr>
          <a:xfrm>
            <a:off x="201742" y="2956422"/>
            <a:ext cx="6934200" cy="3661882"/>
            <a:chOff x="201742" y="2956422"/>
            <a:chExt cx="6934200" cy="366188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87E5112-EE0A-A568-FB0C-800B49EAA828}"/>
                </a:ext>
              </a:extLst>
            </p:cNvPr>
            <p:cNvGrpSpPr/>
            <p:nvPr/>
          </p:nvGrpSpPr>
          <p:grpSpPr>
            <a:xfrm>
              <a:off x="201742" y="2956422"/>
              <a:ext cx="6934200" cy="3661882"/>
              <a:chOff x="2590801" y="2672070"/>
              <a:chExt cx="6934200" cy="3661882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3A30E535-E151-7B10-2482-D4C18A271CB8}"/>
                  </a:ext>
                </a:extLst>
              </p:cNvPr>
              <p:cNvSpPr/>
              <p:nvPr/>
            </p:nvSpPr>
            <p:spPr>
              <a:xfrm>
                <a:off x="5996855" y="2672070"/>
                <a:ext cx="688077" cy="68807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5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16155D8-6880-CAC9-337D-0F3B5F0C2BBB}"/>
                  </a:ext>
                </a:extLst>
              </p:cNvPr>
              <p:cNvSpPr/>
              <p:nvPr/>
            </p:nvSpPr>
            <p:spPr>
              <a:xfrm>
                <a:off x="4191001" y="3682289"/>
                <a:ext cx="688077" cy="68807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6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3701FD1-D85F-35B3-CE7C-6CFF8DCBAC09}"/>
                  </a:ext>
                </a:extLst>
              </p:cNvPr>
              <p:cNvSpPr/>
              <p:nvPr/>
            </p:nvSpPr>
            <p:spPr>
              <a:xfrm>
                <a:off x="7858499" y="3653913"/>
                <a:ext cx="688077" cy="68807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10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3A6BB66-2DDC-8C2E-6AB0-DA31FC02453E}"/>
                  </a:ext>
                </a:extLst>
              </p:cNvPr>
              <p:cNvSpPr/>
              <p:nvPr/>
            </p:nvSpPr>
            <p:spPr>
              <a:xfrm>
                <a:off x="3200401" y="4383504"/>
                <a:ext cx="688077" cy="68807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3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219BA91-50E2-9B4F-817E-664706C652CC}"/>
                  </a:ext>
                </a:extLst>
              </p:cNvPr>
              <p:cNvSpPr/>
              <p:nvPr/>
            </p:nvSpPr>
            <p:spPr>
              <a:xfrm>
                <a:off x="5211206" y="4425368"/>
                <a:ext cx="688077" cy="68807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15</a:t>
                </a: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3B38612-C965-1385-57E2-DB495D63D40C}"/>
                  </a:ext>
                </a:extLst>
              </p:cNvPr>
              <p:cNvSpPr/>
              <p:nvPr/>
            </p:nvSpPr>
            <p:spPr>
              <a:xfrm>
                <a:off x="6934201" y="434199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C32BE3EF-F957-D7BD-78A2-BE2188A515E4}"/>
                  </a:ext>
                </a:extLst>
              </p:cNvPr>
              <p:cNvSpPr/>
              <p:nvPr/>
            </p:nvSpPr>
            <p:spPr>
              <a:xfrm>
                <a:off x="8836924" y="434199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67A0923A-D958-A1BA-1015-3E54B06E39E1}"/>
                  </a:ext>
                </a:extLst>
              </p:cNvPr>
              <p:cNvSpPr/>
              <p:nvPr/>
            </p:nvSpPr>
            <p:spPr>
              <a:xfrm>
                <a:off x="2590801" y="535274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14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2B9709BB-64D4-3FBE-7884-D1B0484114A6}"/>
                  </a:ext>
                </a:extLst>
              </p:cNvPr>
              <p:cNvSpPr/>
              <p:nvPr/>
            </p:nvSpPr>
            <p:spPr>
              <a:xfrm>
                <a:off x="3733801" y="535274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A089308-EAB4-3DF6-2168-FA9078D82274}"/>
                  </a:ext>
                </a:extLst>
              </p:cNvPr>
              <p:cNvCxnSpPr>
                <a:cxnSpLocks/>
                <a:stCxn id="28" idx="3"/>
                <a:endCxn id="29" idx="7"/>
              </p:cNvCxnSpPr>
              <p:nvPr/>
            </p:nvCxnSpPr>
            <p:spPr>
              <a:xfrm flipH="1">
                <a:off x="4778311" y="3259380"/>
                <a:ext cx="1319311" cy="52367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483BDF66-84DB-ABCB-4020-11642646E088}"/>
                  </a:ext>
                </a:extLst>
              </p:cNvPr>
              <p:cNvCxnSpPr>
                <a:cxnSpLocks/>
                <a:stCxn id="28" idx="5"/>
                <a:endCxn id="30" idx="1"/>
              </p:cNvCxnSpPr>
              <p:nvPr/>
            </p:nvCxnSpPr>
            <p:spPr>
              <a:xfrm>
                <a:off x="6584165" y="3259380"/>
                <a:ext cx="1375101" cy="4953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220F70A-FDDC-7762-B33A-06720ADD3AF7}"/>
                  </a:ext>
                </a:extLst>
              </p:cNvPr>
              <p:cNvCxnSpPr>
                <a:stCxn id="32" idx="1"/>
                <a:endCxn id="29" idx="5"/>
              </p:cNvCxnSpPr>
              <p:nvPr/>
            </p:nvCxnSpPr>
            <p:spPr>
              <a:xfrm flipH="1" flipV="1">
                <a:off x="4778310" y="4269598"/>
                <a:ext cx="533662" cy="2565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56022E8-594C-5224-728B-F2FC6AA874BE}"/>
                  </a:ext>
                </a:extLst>
              </p:cNvPr>
              <p:cNvCxnSpPr>
                <a:stCxn id="31" idx="7"/>
                <a:endCxn id="29" idx="3"/>
              </p:cNvCxnSpPr>
              <p:nvPr/>
            </p:nvCxnSpPr>
            <p:spPr>
              <a:xfrm flipV="1">
                <a:off x="3787711" y="4269598"/>
                <a:ext cx="504057" cy="214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3D94FFD-BC02-5F5A-FF9E-9C49B907172F}"/>
                  </a:ext>
                </a:extLst>
              </p:cNvPr>
              <p:cNvCxnSpPr>
                <a:stCxn id="36" idx="0"/>
                <a:endCxn id="31" idx="5"/>
              </p:cNvCxnSpPr>
              <p:nvPr/>
            </p:nvCxnSpPr>
            <p:spPr>
              <a:xfrm flipH="1" flipV="1">
                <a:off x="3787711" y="4970813"/>
                <a:ext cx="290129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5735856-C128-C713-C639-DB1757598AE1}"/>
                  </a:ext>
                </a:extLst>
              </p:cNvPr>
              <p:cNvCxnSpPr>
                <a:stCxn id="35" idx="0"/>
                <a:endCxn id="31" idx="3"/>
              </p:cNvCxnSpPr>
              <p:nvPr/>
            </p:nvCxnSpPr>
            <p:spPr>
              <a:xfrm flipV="1">
                <a:off x="2934839" y="4970813"/>
                <a:ext cx="366328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A8E5DDDC-1F60-E1BD-ED97-8C6BDFE31483}"/>
                  </a:ext>
                </a:extLst>
              </p:cNvPr>
              <p:cNvCxnSpPr>
                <a:stCxn id="33" idx="7"/>
                <a:endCxn id="30" idx="3"/>
              </p:cNvCxnSpPr>
              <p:nvPr/>
            </p:nvCxnSpPr>
            <p:spPr>
              <a:xfrm flipV="1">
                <a:off x="7521511" y="4241222"/>
                <a:ext cx="437755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202118E8-FE37-1B94-60E7-FF8DC87A02DF}"/>
                  </a:ext>
                </a:extLst>
              </p:cNvPr>
              <p:cNvCxnSpPr>
                <a:stCxn id="34" idx="1"/>
                <a:endCxn id="30" idx="5"/>
              </p:cNvCxnSpPr>
              <p:nvPr/>
            </p:nvCxnSpPr>
            <p:spPr>
              <a:xfrm flipH="1" flipV="1">
                <a:off x="8445808" y="4241222"/>
                <a:ext cx="491882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3F51C00-7BE4-C71B-CEC9-78F3E393B278}"/>
                  </a:ext>
                </a:extLst>
              </p:cNvPr>
              <p:cNvSpPr txBox="1"/>
              <p:nvPr/>
            </p:nvSpPr>
            <p:spPr>
              <a:xfrm>
                <a:off x="6190049" y="337129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E00191F-101E-453F-E05F-F79326EF7FFB}"/>
                  </a:ext>
                </a:extLst>
              </p:cNvPr>
              <p:cNvSpPr txBox="1"/>
              <p:nvPr/>
            </p:nvSpPr>
            <p:spPr>
              <a:xfrm>
                <a:off x="4384195" y="4377091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2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B19AC53-E3AB-F92F-CA0A-7EC078433879}"/>
                  </a:ext>
                </a:extLst>
              </p:cNvPr>
              <p:cNvSpPr txBox="1"/>
              <p:nvPr/>
            </p:nvSpPr>
            <p:spPr>
              <a:xfrm>
                <a:off x="8051693" y="431669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3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A690ADD-9D72-5CFC-ABA4-CFD3482C08B4}"/>
                  </a:ext>
                </a:extLst>
              </p:cNvPr>
              <p:cNvSpPr txBox="1"/>
              <p:nvPr/>
            </p:nvSpPr>
            <p:spPr>
              <a:xfrm>
                <a:off x="3352081" y="507158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4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25CA634-CACD-54BE-4661-54DEF3A780C5}"/>
                  </a:ext>
                </a:extLst>
              </p:cNvPr>
              <p:cNvSpPr txBox="1"/>
              <p:nvPr/>
            </p:nvSpPr>
            <p:spPr>
              <a:xfrm>
                <a:off x="7122005" y="5012677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6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F6D568-E05C-26F2-EBD8-57839FC7687F}"/>
                  </a:ext>
                </a:extLst>
              </p:cNvPr>
              <p:cNvSpPr txBox="1"/>
              <p:nvPr/>
            </p:nvSpPr>
            <p:spPr>
              <a:xfrm>
                <a:off x="5404400" y="5108902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5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E1DFACA-646B-2F3B-1F0D-554B10C6DCB7}"/>
                  </a:ext>
                </a:extLst>
              </p:cNvPr>
              <p:cNvSpPr txBox="1"/>
              <p:nvPr/>
            </p:nvSpPr>
            <p:spPr>
              <a:xfrm>
                <a:off x="9030118" y="503006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7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96EE955-07B4-4EE0-219A-7BF193FD11F3}"/>
                  </a:ext>
                </a:extLst>
              </p:cNvPr>
              <p:cNvSpPr txBox="1"/>
              <p:nvPr/>
            </p:nvSpPr>
            <p:spPr>
              <a:xfrm>
                <a:off x="2783996" y="59646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8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AE0ABF5-B591-93A9-75F6-25B4A6AB23BE}"/>
                  </a:ext>
                </a:extLst>
              </p:cNvPr>
              <p:cNvSpPr txBox="1"/>
              <p:nvPr/>
            </p:nvSpPr>
            <p:spPr>
              <a:xfrm>
                <a:off x="3920467" y="59646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9</a:t>
                </a:r>
              </a:p>
            </p:txBody>
          </p:sp>
        </p:grp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76035EC9-3610-8FDE-B3D0-38593B0EF572}"/>
                </a:ext>
              </a:extLst>
            </p:cNvPr>
            <p:cNvSpPr/>
            <p:nvPr/>
          </p:nvSpPr>
          <p:spPr>
            <a:xfrm>
              <a:off x="2330369" y="5636036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001DADF-BD70-7B05-56C0-31B3799F72C0}"/>
                </a:ext>
              </a:extLst>
            </p:cNvPr>
            <p:cNvCxnSpPr>
              <a:cxnSpLocks/>
              <a:stCxn id="54" idx="0"/>
              <a:endCxn id="32" idx="3"/>
            </p:cNvCxnSpPr>
            <p:nvPr/>
          </p:nvCxnSpPr>
          <p:spPr>
            <a:xfrm flipV="1">
              <a:off x="2674408" y="5297030"/>
              <a:ext cx="248506" cy="3390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4CC9DA3-E3B4-4532-1F70-7E2BF83F9167}"/>
                </a:ext>
              </a:extLst>
            </p:cNvPr>
            <p:cNvSpPr txBox="1"/>
            <p:nvPr/>
          </p:nvSpPr>
          <p:spPr>
            <a:xfrm>
              <a:off x="2446730" y="6243373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10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B43941B0-86D8-D533-366D-B46802C30744}"/>
              </a:ext>
            </a:extLst>
          </p:cNvPr>
          <p:cNvSpPr txBox="1"/>
          <p:nvPr/>
        </p:nvSpPr>
        <p:spPr>
          <a:xfrm>
            <a:off x="737595" y="3266383"/>
            <a:ext cx="2376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Violate Heap Property!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9DE40CB-E466-39F7-D8B8-04BB5635AAE6}"/>
              </a:ext>
            </a:extLst>
          </p:cNvPr>
          <p:cNvSpPr txBox="1"/>
          <p:nvPr/>
        </p:nvSpPr>
        <p:spPr>
          <a:xfrm>
            <a:off x="7936205" y="5053758"/>
            <a:ext cx="31216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Two ways for “fix” the heap:</a:t>
            </a:r>
          </a:p>
          <a:p>
            <a:pPr marL="342900" indent="-342900">
              <a:buAutoNum type="arabicParenR"/>
            </a:pPr>
            <a:r>
              <a:rPr lang="en-US" sz="2000" dirty="0"/>
              <a:t>Percolate Up</a:t>
            </a:r>
          </a:p>
          <a:p>
            <a:pPr marL="342900" indent="-342900">
              <a:buAutoNum type="arabicParenR"/>
            </a:pPr>
            <a:r>
              <a:rPr lang="en-US" sz="2000" dirty="0"/>
              <a:t>Percolate Down</a:t>
            </a:r>
          </a:p>
        </p:txBody>
      </p:sp>
    </p:spTree>
    <p:extLst>
      <p:ext uri="{BB962C8B-B14F-4D97-AF65-F5344CB8AC3E}">
        <p14:creationId xmlns:p14="http://schemas.microsoft.com/office/powerpoint/2010/main" val="301808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41EFF-DC2E-DD10-0292-33AAADA21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Floyd’s </a:t>
            </a:r>
            <a:r>
              <a:rPr lang="en-US" dirty="0" err="1"/>
              <a:t>buildHeap</a:t>
            </a:r>
            <a:r>
              <a:rPr lang="en-US" dirty="0"/>
              <a:t>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D70E1-83BF-D071-92AA-72F7671FE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Working towards the root, one row at a time, percolate down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D2E5B4-7285-3ACB-0CCF-7D5C84D8A06C}"/>
              </a:ext>
            </a:extLst>
          </p:cNvPr>
          <p:cNvSpPr txBox="1"/>
          <p:nvPr/>
        </p:nvSpPr>
        <p:spPr>
          <a:xfrm>
            <a:off x="1188720" y="3262630"/>
            <a:ext cx="32637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buildHeap</a:t>
            </a:r>
            <a:r>
              <a:rPr lang="en-US" sz="2400" dirty="0"/>
              <a:t>(){</a:t>
            </a:r>
          </a:p>
          <a:p>
            <a:r>
              <a:rPr lang="en-US" sz="2400" dirty="0"/>
              <a:t>    for(int </a:t>
            </a:r>
            <a:r>
              <a:rPr lang="en-US" sz="2400" dirty="0" err="1"/>
              <a:t>i</a:t>
            </a:r>
            <a:r>
              <a:rPr lang="en-US" sz="2400" dirty="0"/>
              <a:t> = size; </a:t>
            </a:r>
            <a:r>
              <a:rPr lang="en-US" sz="2400" dirty="0" err="1"/>
              <a:t>i</a:t>
            </a:r>
            <a:r>
              <a:rPr lang="en-US" sz="2400" dirty="0"/>
              <a:t>&gt;0; </a:t>
            </a:r>
            <a:r>
              <a:rPr lang="en-US" sz="2400" dirty="0" err="1"/>
              <a:t>i</a:t>
            </a:r>
            <a:r>
              <a:rPr lang="en-US" sz="2400" dirty="0"/>
              <a:t>--){</a:t>
            </a:r>
          </a:p>
          <a:p>
            <a:r>
              <a:rPr lang="en-US" sz="2400" dirty="0"/>
              <a:t>        </a:t>
            </a:r>
            <a:r>
              <a:rPr lang="en-US" sz="2400" dirty="0" err="1"/>
              <a:t>percolateDown</a:t>
            </a:r>
            <a:r>
              <a:rPr lang="en-US" sz="2400" dirty="0"/>
              <a:t>(</a:t>
            </a:r>
            <a:r>
              <a:rPr lang="en-US" sz="2400" dirty="0" err="1"/>
              <a:t>i</a:t>
            </a:r>
            <a:r>
              <a:rPr lang="en-US" sz="2400" dirty="0"/>
              <a:t>);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759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F2A4A-E8D3-7F93-AD14-D6B2FD99D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Floyd’s </a:t>
            </a:r>
            <a:r>
              <a:rPr lang="en-US" dirty="0" err="1"/>
              <a:t>buildHeap</a:t>
            </a:r>
            <a:r>
              <a:rPr lang="en-US" dirty="0"/>
              <a:t>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AF3C39-C718-C590-CB20-0AC3D97ADF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we had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items and wanted to “</a:t>
                </a:r>
                <a:r>
                  <a:rPr lang="en-US" dirty="0" err="1"/>
                  <a:t>heapify</a:t>
                </a:r>
                <a:r>
                  <a:rPr lang="en-US" dirty="0"/>
                  <a:t>” them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AF3C39-C718-C590-CB20-0AC3D97ADF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D2C070FD-E606-FE96-DBE1-D6B50F960BB6}"/>
              </a:ext>
            </a:extLst>
          </p:cNvPr>
          <p:cNvGrpSpPr/>
          <p:nvPr/>
        </p:nvGrpSpPr>
        <p:grpSpPr>
          <a:xfrm>
            <a:off x="5917894" y="2956422"/>
            <a:ext cx="5875588" cy="945155"/>
            <a:chOff x="5470854" y="754688"/>
            <a:chExt cx="5875588" cy="94515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82E85FD-4B9F-2A0B-306D-32BA73343EB3}"/>
                </a:ext>
              </a:extLst>
            </p:cNvPr>
            <p:cNvSpPr/>
            <p:nvPr/>
          </p:nvSpPr>
          <p:spPr>
            <a:xfrm>
              <a:off x="5470854" y="754688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33CD6EB-1593-D211-04E7-2CDD96133A79}"/>
                </a:ext>
              </a:extLst>
            </p:cNvPr>
            <p:cNvSpPr/>
            <p:nvPr/>
          </p:nvSpPr>
          <p:spPr>
            <a:xfrm>
              <a:off x="6004254" y="754688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6A20C82-14BA-14B7-33D2-B02F05244D80}"/>
                </a:ext>
              </a:extLst>
            </p:cNvPr>
            <p:cNvSpPr/>
            <p:nvPr/>
          </p:nvSpPr>
          <p:spPr>
            <a:xfrm>
              <a:off x="65382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6678D84-16F3-310C-AADC-7A181CCDF23C}"/>
                </a:ext>
              </a:extLst>
            </p:cNvPr>
            <p:cNvSpPr/>
            <p:nvPr/>
          </p:nvSpPr>
          <p:spPr>
            <a:xfrm>
              <a:off x="70716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BBF6A4D-F237-D175-3581-18514FECFB50}"/>
                </a:ext>
              </a:extLst>
            </p:cNvPr>
            <p:cNvSpPr/>
            <p:nvPr/>
          </p:nvSpPr>
          <p:spPr>
            <a:xfrm>
              <a:off x="76050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EA7CA55-613D-E569-F87A-36A82B8A4197}"/>
                </a:ext>
              </a:extLst>
            </p:cNvPr>
            <p:cNvSpPr/>
            <p:nvPr/>
          </p:nvSpPr>
          <p:spPr>
            <a:xfrm>
              <a:off x="81389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4DBAC75-85FF-A5C5-3308-0652E69855B9}"/>
                </a:ext>
              </a:extLst>
            </p:cNvPr>
            <p:cNvSpPr/>
            <p:nvPr/>
          </p:nvSpPr>
          <p:spPr>
            <a:xfrm>
              <a:off x="86723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AC49C1D-E65A-E283-D242-407C87FCEAD3}"/>
                </a:ext>
              </a:extLst>
            </p:cNvPr>
            <p:cNvSpPr/>
            <p:nvPr/>
          </p:nvSpPr>
          <p:spPr>
            <a:xfrm>
              <a:off x="92057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F643AEB-4040-07BB-03F1-A04A08EE1D6F}"/>
                </a:ext>
              </a:extLst>
            </p:cNvPr>
            <p:cNvSpPr/>
            <p:nvPr/>
          </p:nvSpPr>
          <p:spPr>
            <a:xfrm>
              <a:off x="9739761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8FEEA45-B71F-DF2F-C447-4203F387203B}"/>
                </a:ext>
              </a:extLst>
            </p:cNvPr>
            <p:cNvSpPr/>
            <p:nvPr/>
          </p:nvSpPr>
          <p:spPr>
            <a:xfrm>
              <a:off x="10273161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A6253EB-D23C-949B-D5E8-FECD830DEDBA}"/>
                </a:ext>
              </a:extLst>
            </p:cNvPr>
            <p:cNvSpPr txBox="1"/>
            <p:nvPr/>
          </p:nvSpPr>
          <p:spPr>
            <a:xfrm>
              <a:off x="5586710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8F8A93E-79B2-8F25-0DCC-1F3278F661BB}"/>
                </a:ext>
              </a:extLst>
            </p:cNvPr>
            <p:cNvSpPr txBox="1"/>
            <p:nvPr/>
          </p:nvSpPr>
          <p:spPr>
            <a:xfrm>
              <a:off x="6120110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2E633D5-64EB-6BAD-3A62-C08FF0C32E94}"/>
                </a:ext>
              </a:extLst>
            </p:cNvPr>
            <p:cNvSpPr txBox="1"/>
            <p:nvPr/>
          </p:nvSpPr>
          <p:spPr>
            <a:xfrm>
              <a:off x="6654079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4AC8395-5F6E-19CD-15DE-29D1887AD4A5}"/>
                </a:ext>
              </a:extLst>
            </p:cNvPr>
            <p:cNvSpPr txBox="1"/>
            <p:nvPr/>
          </p:nvSpPr>
          <p:spPr>
            <a:xfrm>
              <a:off x="7187479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19110CD-D76E-CFDF-A6D5-AB20E69C641D}"/>
                </a:ext>
              </a:extLst>
            </p:cNvPr>
            <p:cNvSpPr txBox="1"/>
            <p:nvPr/>
          </p:nvSpPr>
          <p:spPr>
            <a:xfrm>
              <a:off x="771846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C3B8112-0CF7-5516-F41D-84C801CEBEE1}"/>
                </a:ext>
              </a:extLst>
            </p:cNvPr>
            <p:cNvSpPr txBox="1"/>
            <p:nvPr/>
          </p:nvSpPr>
          <p:spPr>
            <a:xfrm>
              <a:off x="819649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8D6E652-F5FC-4920-F20E-32A2AA0FEAE2}"/>
                </a:ext>
              </a:extLst>
            </p:cNvPr>
            <p:cNvSpPr txBox="1"/>
            <p:nvPr/>
          </p:nvSpPr>
          <p:spPr>
            <a:xfrm>
              <a:off x="8788248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19347C4-D38D-06D5-33DF-2A348A5382FE}"/>
                </a:ext>
              </a:extLst>
            </p:cNvPr>
            <p:cNvSpPr txBox="1"/>
            <p:nvPr/>
          </p:nvSpPr>
          <p:spPr>
            <a:xfrm>
              <a:off x="9321648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60923D4-A058-7D06-904A-8CC0ECE807D7}"/>
                </a:ext>
              </a:extLst>
            </p:cNvPr>
            <p:cNvSpPr txBox="1"/>
            <p:nvPr/>
          </p:nvSpPr>
          <p:spPr>
            <a:xfrm>
              <a:off x="985561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0CFED6D-86F5-D958-E923-2CC18DA518C3}"/>
                </a:ext>
              </a:extLst>
            </p:cNvPr>
            <p:cNvSpPr txBox="1"/>
            <p:nvPr/>
          </p:nvSpPr>
          <p:spPr>
            <a:xfrm>
              <a:off x="1038901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FC2E6EC-062F-A161-9D0A-D10BDBA2450A}"/>
                </a:ext>
              </a:extLst>
            </p:cNvPr>
            <p:cNvSpPr/>
            <p:nvPr/>
          </p:nvSpPr>
          <p:spPr>
            <a:xfrm>
              <a:off x="1081304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5E124AE-511C-1167-F084-AF9166C40BF1}"/>
                </a:ext>
              </a:extLst>
            </p:cNvPr>
            <p:cNvSpPr txBox="1"/>
            <p:nvPr/>
          </p:nvSpPr>
          <p:spPr>
            <a:xfrm>
              <a:off x="10870777" y="133051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10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63756C4-FFEE-45CE-C290-81DC657DB3F1}"/>
              </a:ext>
            </a:extLst>
          </p:cNvPr>
          <p:cNvGrpSpPr/>
          <p:nvPr/>
        </p:nvGrpSpPr>
        <p:grpSpPr>
          <a:xfrm>
            <a:off x="201742" y="2956422"/>
            <a:ext cx="6934200" cy="3661882"/>
            <a:chOff x="201742" y="2956422"/>
            <a:chExt cx="6934200" cy="366188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87E5112-EE0A-A568-FB0C-800B49EAA828}"/>
                </a:ext>
              </a:extLst>
            </p:cNvPr>
            <p:cNvGrpSpPr/>
            <p:nvPr/>
          </p:nvGrpSpPr>
          <p:grpSpPr>
            <a:xfrm>
              <a:off x="201742" y="2956422"/>
              <a:ext cx="6934200" cy="3661882"/>
              <a:chOff x="2590801" y="2672070"/>
              <a:chExt cx="6934200" cy="3661882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3A30E535-E151-7B10-2482-D4C18A271CB8}"/>
                  </a:ext>
                </a:extLst>
              </p:cNvPr>
              <p:cNvSpPr/>
              <p:nvPr/>
            </p:nvSpPr>
            <p:spPr>
              <a:xfrm>
                <a:off x="5996855" y="267207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16155D8-6880-CAC9-337D-0F3B5F0C2BBB}"/>
                  </a:ext>
                </a:extLst>
              </p:cNvPr>
              <p:cNvSpPr/>
              <p:nvPr/>
            </p:nvSpPr>
            <p:spPr>
              <a:xfrm>
                <a:off x="4191001" y="3682289"/>
                <a:ext cx="688077" cy="68807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6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3701FD1-D85F-35B3-CE7C-6CFF8DCBAC09}"/>
                  </a:ext>
                </a:extLst>
              </p:cNvPr>
              <p:cNvSpPr/>
              <p:nvPr/>
            </p:nvSpPr>
            <p:spPr>
              <a:xfrm>
                <a:off x="7858499" y="3653913"/>
                <a:ext cx="688077" cy="68807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10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3A6BB66-2DDC-8C2E-6AB0-DA31FC02453E}"/>
                  </a:ext>
                </a:extLst>
              </p:cNvPr>
              <p:cNvSpPr/>
              <p:nvPr/>
            </p:nvSpPr>
            <p:spPr>
              <a:xfrm>
                <a:off x="3200401" y="4383504"/>
                <a:ext cx="688077" cy="68807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3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219BA91-50E2-9B4F-817E-664706C652CC}"/>
                  </a:ext>
                </a:extLst>
              </p:cNvPr>
              <p:cNvSpPr/>
              <p:nvPr/>
            </p:nvSpPr>
            <p:spPr>
              <a:xfrm>
                <a:off x="5211206" y="4425368"/>
                <a:ext cx="688077" cy="68807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15</a:t>
                </a: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3B38612-C965-1385-57E2-DB495D63D40C}"/>
                  </a:ext>
                </a:extLst>
              </p:cNvPr>
              <p:cNvSpPr/>
              <p:nvPr/>
            </p:nvSpPr>
            <p:spPr>
              <a:xfrm>
                <a:off x="6934201" y="434199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C32BE3EF-F957-D7BD-78A2-BE2188A515E4}"/>
                  </a:ext>
                </a:extLst>
              </p:cNvPr>
              <p:cNvSpPr/>
              <p:nvPr/>
            </p:nvSpPr>
            <p:spPr>
              <a:xfrm>
                <a:off x="8836924" y="434199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67A0923A-D958-A1BA-1015-3E54B06E39E1}"/>
                  </a:ext>
                </a:extLst>
              </p:cNvPr>
              <p:cNvSpPr/>
              <p:nvPr/>
            </p:nvSpPr>
            <p:spPr>
              <a:xfrm>
                <a:off x="2590801" y="535274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14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2B9709BB-64D4-3FBE-7884-D1B0484114A6}"/>
                  </a:ext>
                </a:extLst>
              </p:cNvPr>
              <p:cNvSpPr/>
              <p:nvPr/>
            </p:nvSpPr>
            <p:spPr>
              <a:xfrm>
                <a:off x="3733801" y="535274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A089308-EAB4-3DF6-2168-FA9078D82274}"/>
                  </a:ext>
                </a:extLst>
              </p:cNvPr>
              <p:cNvCxnSpPr>
                <a:cxnSpLocks/>
                <a:stCxn id="28" idx="3"/>
                <a:endCxn id="29" idx="7"/>
              </p:cNvCxnSpPr>
              <p:nvPr/>
            </p:nvCxnSpPr>
            <p:spPr>
              <a:xfrm flipH="1">
                <a:off x="4778311" y="3259380"/>
                <a:ext cx="1319311" cy="52367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483BDF66-84DB-ABCB-4020-11642646E088}"/>
                  </a:ext>
                </a:extLst>
              </p:cNvPr>
              <p:cNvCxnSpPr>
                <a:cxnSpLocks/>
                <a:stCxn id="28" idx="5"/>
                <a:endCxn id="30" idx="1"/>
              </p:cNvCxnSpPr>
              <p:nvPr/>
            </p:nvCxnSpPr>
            <p:spPr>
              <a:xfrm>
                <a:off x="6584165" y="3259380"/>
                <a:ext cx="1375101" cy="4953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220F70A-FDDC-7762-B33A-06720ADD3AF7}"/>
                  </a:ext>
                </a:extLst>
              </p:cNvPr>
              <p:cNvCxnSpPr>
                <a:stCxn id="32" idx="1"/>
                <a:endCxn id="29" idx="5"/>
              </p:cNvCxnSpPr>
              <p:nvPr/>
            </p:nvCxnSpPr>
            <p:spPr>
              <a:xfrm flipH="1" flipV="1">
                <a:off x="4778310" y="4269598"/>
                <a:ext cx="533662" cy="2565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56022E8-594C-5224-728B-F2FC6AA874BE}"/>
                  </a:ext>
                </a:extLst>
              </p:cNvPr>
              <p:cNvCxnSpPr>
                <a:stCxn id="31" idx="7"/>
                <a:endCxn id="29" idx="3"/>
              </p:cNvCxnSpPr>
              <p:nvPr/>
            </p:nvCxnSpPr>
            <p:spPr>
              <a:xfrm flipV="1">
                <a:off x="3787711" y="4269598"/>
                <a:ext cx="504057" cy="214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3D94FFD-BC02-5F5A-FF9E-9C49B907172F}"/>
                  </a:ext>
                </a:extLst>
              </p:cNvPr>
              <p:cNvCxnSpPr>
                <a:stCxn id="36" idx="0"/>
                <a:endCxn id="31" idx="5"/>
              </p:cNvCxnSpPr>
              <p:nvPr/>
            </p:nvCxnSpPr>
            <p:spPr>
              <a:xfrm flipH="1" flipV="1">
                <a:off x="3787711" y="4970813"/>
                <a:ext cx="290129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5735856-C128-C713-C639-DB1757598AE1}"/>
                  </a:ext>
                </a:extLst>
              </p:cNvPr>
              <p:cNvCxnSpPr>
                <a:stCxn id="35" idx="0"/>
                <a:endCxn id="31" idx="3"/>
              </p:cNvCxnSpPr>
              <p:nvPr/>
            </p:nvCxnSpPr>
            <p:spPr>
              <a:xfrm flipV="1">
                <a:off x="2934839" y="4970813"/>
                <a:ext cx="366328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A8E5DDDC-1F60-E1BD-ED97-8C6BDFE31483}"/>
                  </a:ext>
                </a:extLst>
              </p:cNvPr>
              <p:cNvCxnSpPr>
                <a:stCxn id="33" idx="7"/>
                <a:endCxn id="30" idx="3"/>
              </p:cNvCxnSpPr>
              <p:nvPr/>
            </p:nvCxnSpPr>
            <p:spPr>
              <a:xfrm flipV="1">
                <a:off x="7521511" y="4241222"/>
                <a:ext cx="437755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202118E8-FE37-1B94-60E7-FF8DC87A02DF}"/>
                  </a:ext>
                </a:extLst>
              </p:cNvPr>
              <p:cNvCxnSpPr>
                <a:stCxn id="34" idx="1"/>
                <a:endCxn id="30" idx="5"/>
              </p:cNvCxnSpPr>
              <p:nvPr/>
            </p:nvCxnSpPr>
            <p:spPr>
              <a:xfrm flipH="1" flipV="1">
                <a:off x="8445808" y="4241222"/>
                <a:ext cx="491882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3F51C00-7BE4-C71B-CEC9-78F3E393B278}"/>
                  </a:ext>
                </a:extLst>
              </p:cNvPr>
              <p:cNvSpPr txBox="1"/>
              <p:nvPr/>
            </p:nvSpPr>
            <p:spPr>
              <a:xfrm>
                <a:off x="6190049" y="337129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E00191F-101E-453F-E05F-F79326EF7FFB}"/>
                  </a:ext>
                </a:extLst>
              </p:cNvPr>
              <p:cNvSpPr txBox="1"/>
              <p:nvPr/>
            </p:nvSpPr>
            <p:spPr>
              <a:xfrm>
                <a:off x="4384195" y="4377091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2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B19AC53-E3AB-F92F-CA0A-7EC078433879}"/>
                  </a:ext>
                </a:extLst>
              </p:cNvPr>
              <p:cNvSpPr txBox="1"/>
              <p:nvPr/>
            </p:nvSpPr>
            <p:spPr>
              <a:xfrm>
                <a:off x="8051693" y="431669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3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A690ADD-9D72-5CFC-ABA4-CFD3482C08B4}"/>
                  </a:ext>
                </a:extLst>
              </p:cNvPr>
              <p:cNvSpPr txBox="1"/>
              <p:nvPr/>
            </p:nvSpPr>
            <p:spPr>
              <a:xfrm>
                <a:off x="3352081" y="507158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4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25CA634-CACD-54BE-4661-54DEF3A780C5}"/>
                  </a:ext>
                </a:extLst>
              </p:cNvPr>
              <p:cNvSpPr txBox="1"/>
              <p:nvPr/>
            </p:nvSpPr>
            <p:spPr>
              <a:xfrm>
                <a:off x="7122005" y="5012677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6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F6D568-E05C-26F2-EBD8-57839FC7687F}"/>
                  </a:ext>
                </a:extLst>
              </p:cNvPr>
              <p:cNvSpPr txBox="1"/>
              <p:nvPr/>
            </p:nvSpPr>
            <p:spPr>
              <a:xfrm>
                <a:off x="5404400" y="5108902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5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E1DFACA-646B-2F3B-1F0D-554B10C6DCB7}"/>
                  </a:ext>
                </a:extLst>
              </p:cNvPr>
              <p:cNvSpPr txBox="1"/>
              <p:nvPr/>
            </p:nvSpPr>
            <p:spPr>
              <a:xfrm>
                <a:off x="9030118" y="503006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7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96EE955-07B4-4EE0-219A-7BF193FD11F3}"/>
                  </a:ext>
                </a:extLst>
              </p:cNvPr>
              <p:cNvSpPr txBox="1"/>
              <p:nvPr/>
            </p:nvSpPr>
            <p:spPr>
              <a:xfrm>
                <a:off x="2783996" y="59646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8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AE0ABF5-B591-93A9-75F6-25B4A6AB23BE}"/>
                  </a:ext>
                </a:extLst>
              </p:cNvPr>
              <p:cNvSpPr txBox="1"/>
              <p:nvPr/>
            </p:nvSpPr>
            <p:spPr>
              <a:xfrm>
                <a:off x="3920467" y="59646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9</a:t>
                </a:r>
              </a:p>
            </p:txBody>
          </p:sp>
        </p:grp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76035EC9-3610-8FDE-B3D0-38593B0EF572}"/>
                </a:ext>
              </a:extLst>
            </p:cNvPr>
            <p:cNvSpPr/>
            <p:nvPr/>
          </p:nvSpPr>
          <p:spPr>
            <a:xfrm>
              <a:off x="2330369" y="5636036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001DADF-BD70-7B05-56C0-31B3799F72C0}"/>
                </a:ext>
              </a:extLst>
            </p:cNvPr>
            <p:cNvCxnSpPr>
              <a:cxnSpLocks/>
              <a:stCxn id="54" idx="0"/>
              <a:endCxn id="32" idx="3"/>
            </p:cNvCxnSpPr>
            <p:nvPr/>
          </p:nvCxnSpPr>
          <p:spPr>
            <a:xfrm flipV="1">
              <a:off x="2674408" y="5297030"/>
              <a:ext cx="248506" cy="3390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4CC9DA3-E3B4-4532-1F70-7E2BF83F9167}"/>
                </a:ext>
              </a:extLst>
            </p:cNvPr>
            <p:cNvSpPr txBox="1"/>
            <p:nvPr/>
          </p:nvSpPr>
          <p:spPr>
            <a:xfrm>
              <a:off x="2446730" y="6243373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10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B43941B0-86D8-D533-366D-B46802C30744}"/>
              </a:ext>
            </a:extLst>
          </p:cNvPr>
          <p:cNvSpPr txBox="1"/>
          <p:nvPr/>
        </p:nvSpPr>
        <p:spPr>
          <a:xfrm>
            <a:off x="301792" y="2977294"/>
            <a:ext cx="25717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Violate Heap Property!</a:t>
            </a:r>
          </a:p>
          <a:p>
            <a:r>
              <a:rPr lang="en-US" dirty="0">
                <a:solidFill>
                  <a:srgbClr val="FF0000"/>
                </a:solidFill>
              </a:rPr>
              <a:t>Nodes bigger than a child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4902B8-F5AB-50D9-18C4-FF07B8E03412}"/>
              </a:ext>
            </a:extLst>
          </p:cNvPr>
          <p:cNvSpPr txBox="1"/>
          <p:nvPr/>
        </p:nvSpPr>
        <p:spPr>
          <a:xfrm>
            <a:off x="8434060" y="4571102"/>
            <a:ext cx="32637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buildHeap</a:t>
            </a:r>
            <a:r>
              <a:rPr lang="en-US" sz="2400" dirty="0"/>
              <a:t>(){</a:t>
            </a:r>
          </a:p>
          <a:p>
            <a:r>
              <a:rPr lang="en-US" sz="2400" dirty="0"/>
              <a:t>    for(int </a:t>
            </a:r>
            <a:r>
              <a:rPr lang="en-US" sz="2400" dirty="0" err="1"/>
              <a:t>i</a:t>
            </a:r>
            <a:r>
              <a:rPr lang="en-US" sz="2400" dirty="0"/>
              <a:t> = size; </a:t>
            </a:r>
            <a:r>
              <a:rPr lang="en-US" sz="2400" dirty="0" err="1"/>
              <a:t>i</a:t>
            </a:r>
            <a:r>
              <a:rPr lang="en-US" sz="2400" dirty="0"/>
              <a:t>&gt;0; </a:t>
            </a:r>
            <a:r>
              <a:rPr lang="en-US" sz="2400" dirty="0" err="1"/>
              <a:t>i</a:t>
            </a:r>
            <a:r>
              <a:rPr lang="en-US" sz="2400" dirty="0"/>
              <a:t>--){</a:t>
            </a:r>
          </a:p>
          <a:p>
            <a:r>
              <a:rPr lang="en-US" sz="2400" dirty="0"/>
              <a:t>        </a:t>
            </a:r>
            <a:r>
              <a:rPr lang="en-US" sz="2400" dirty="0" err="1"/>
              <a:t>percolateDown</a:t>
            </a:r>
            <a:r>
              <a:rPr lang="en-US" sz="2400" dirty="0"/>
              <a:t>(</a:t>
            </a:r>
            <a:r>
              <a:rPr lang="en-US" sz="2400" dirty="0" err="1"/>
              <a:t>i</a:t>
            </a:r>
            <a:r>
              <a:rPr lang="en-US" sz="2400" dirty="0"/>
              <a:t>);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16099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F2A4A-E8D3-7F93-AD14-D6B2FD99D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Floyd’s </a:t>
            </a:r>
            <a:r>
              <a:rPr lang="en-US" dirty="0" err="1"/>
              <a:t>buildHeap</a:t>
            </a:r>
            <a:r>
              <a:rPr lang="en-US" dirty="0"/>
              <a:t>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AF3C39-C718-C590-CB20-0AC3D97ADF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we had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items and wanted to “</a:t>
                </a:r>
                <a:r>
                  <a:rPr lang="en-US" dirty="0" err="1"/>
                  <a:t>heapify</a:t>
                </a:r>
                <a:r>
                  <a:rPr lang="en-US" dirty="0"/>
                  <a:t>” them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AF3C39-C718-C590-CB20-0AC3D97ADF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D2C070FD-E606-FE96-DBE1-D6B50F960BB6}"/>
              </a:ext>
            </a:extLst>
          </p:cNvPr>
          <p:cNvGrpSpPr/>
          <p:nvPr/>
        </p:nvGrpSpPr>
        <p:grpSpPr>
          <a:xfrm>
            <a:off x="5917894" y="2956422"/>
            <a:ext cx="5875588" cy="945155"/>
            <a:chOff x="5470854" y="754688"/>
            <a:chExt cx="5875588" cy="94515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82E85FD-4B9F-2A0B-306D-32BA73343EB3}"/>
                </a:ext>
              </a:extLst>
            </p:cNvPr>
            <p:cNvSpPr/>
            <p:nvPr/>
          </p:nvSpPr>
          <p:spPr>
            <a:xfrm>
              <a:off x="5470854" y="754688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33CD6EB-1593-D211-04E7-2CDD96133A79}"/>
                </a:ext>
              </a:extLst>
            </p:cNvPr>
            <p:cNvSpPr/>
            <p:nvPr/>
          </p:nvSpPr>
          <p:spPr>
            <a:xfrm>
              <a:off x="6004254" y="754688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6A20C82-14BA-14B7-33D2-B02F05244D80}"/>
                </a:ext>
              </a:extLst>
            </p:cNvPr>
            <p:cNvSpPr/>
            <p:nvPr/>
          </p:nvSpPr>
          <p:spPr>
            <a:xfrm>
              <a:off x="65382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6678D84-16F3-310C-AADC-7A181CCDF23C}"/>
                </a:ext>
              </a:extLst>
            </p:cNvPr>
            <p:cNvSpPr/>
            <p:nvPr/>
          </p:nvSpPr>
          <p:spPr>
            <a:xfrm>
              <a:off x="70716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BBF6A4D-F237-D175-3581-18514FECFB50}"/>
                </a:ext>
              </a:extLst>
            </p:cNvPr>
            <p:cNvSpPr/>
            <p:nvPr/>
          </p:nvSpPr>
          <p:spPr>
            <a:xfrm>
              <a:off x="76050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EA7CA55-613D-E569-F87A-36A82B8A4197}"/>
                </a:ext>
              </a:extLst>
            </p:cNvPr>
            <p:cNvSpPr/>
            <p:nvPr/>
          </p:nvSpPr>
          <p:spPr>
            <a:xfrm>
              <a:off x="81389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4DBAC75-85FF-A5C5-3308-0652E69855B9}"/>
                </a:ext>
              </a:extLst>
            </p:cNvPr>
            <p:cNvSpPr/>
            <p:nvPr/>
          </p:nvSpPr>
          <p:spPr>
            <a:xfrm>
              <a:off x="86723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AC49C1D-E65A-E283-D242-407C87FCEAD3}"/>
                </a:ext>
              </a:extLst>
            </p:cNvPr>
            <p:cNvSpPr/>
            <p:nvPr/>
          </p:nvSpPr>
          <p:spPr>
            <a:xfrm>
              <a:off x="92057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F643AEB-4040-07BB-03F1-A04A08EE1D6F}"/>
                </a:ext>
              </a:extLst>
            </p:cNvPr>
            <p:cNvSpPr/>
            <p:nvPr/>
          </p:nvSpPr>
          <p:spPr>
            <a:xfrm>
              <a:off x="9739761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8FEEA45-B71F-DF2F-C447-4203F387203B}"/>
                </a:ext>
              </a:extLst>
            </p:cNvPr>
            <p:cNvSpPr/>
            <p:nvPr/>
          </p:nvSpPr>
          <p:spPr>
            <a:xfrm>
              <a:off x="10273161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A6253EB-D23C-949B-D5E8-FECD830DEDBA}"/>
                </a:ext>
              </a:extLst>
            </p:cNvPr>
            <p:cNvSpPr txBox="1"/>
            <p:nvPr/>
          </p:nvSpPr>
          <p:spPr>
            <a:xfrm>
              <a:off x="5586710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8F8A93E-79B2-8F25-0DCC-1F3278F661BB}"/>
                </a:ext>
              </a:extLst>
            </p:cNvPr>
            <p:cNvSpPr txBox="1"/>
            <p:nvPr/>
          </p:nvSpPr>
          <p:spPr>
            <a:xfrm>
              <a:off x="6120110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2E633D5-64EB-6BAD-3A62-C08FF0C32E94}"/>
                </a:ext>
              </a:extLst>
            </p:cNvPr>
            <p:cNvSpPr txBox="1"/>
            <p:nvPr/>
          </p:nvSpPr>
          <p:spPr>
            <a:xfrm>
              <a:off x="6654079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4AC8395-5F6E-19CD-15DE-29D1887AD4A5}"/>
                </a:ext>
              </a:extLst>
            </p:cNvPr>
            <p:cNvSpPr txBox="1"/>
            <p:nvPr/>
          </p:nvSpPr>
          <p:spPr>
            <a:xfrm>
              <a:off x="7187479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19110CD-D76E-CFDF-A6D5-AB20E69C641D}"/>
                </a:ext>
              </a:extLst>
            </p:cNvPr>
            <p:cNvSpPr txBox="1"/>
            <p:nvPr/>
          </p:nvSpPr>
          <p:spPr>
            <a:xfrm>
              <a:off x="771846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C3B8112-0CF7-5516-F41D-84C801CEBEE1}"/>
                </a:ext>
              </a:extLst>
            </p:cNvPr>
            <p:cNvSpPr txBox="1"/>
            <p:nvPr/>
          </p:nvSpPr>
          <p:spPr>
            <a:xfrm>
              <a:off x="819649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8D6E652-F5FC-4920-F20E-32A2AA0FEAE2}"/>
                </a:ext>
              </a:extLst>
            </p:cNvPr>
            <p:cNvSpPr txBox="1"/>
            <p:nvPr/>
          </p:nvSpPr>
          <p:spPr>
            <a:xfrm>
              <a:off x="8788248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19347C4-D38D-06D5-33DF-2A348A5382FE}"/>
                </a:ext>
              </a:extLst>
            </p:cNvPr>
            <p:cNvSpPr txBox="1"/>
            <p:nvPr/>
          </p:nvSpPr>
          <p:spPr>
            <a:xfrm>
              <a:off x="9321648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60923D4-A058-7D06-904A-8CC0ECE807D7}"/>
                </a:ext>
              </a:extLst>
            </p:cNvPr>
            <p:cNvSpPr txBox="1"/>
            <p:nvPr/>
          </p:nvSpPr>
          <p:spPr>
            <a:xfrm>
              <a:off x="985561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0CFED6D-86F5-D958-E923-2CC18DA518C3}"/>
                </a:ext>
              </a:extLst>
            </p:cNvPr>
            <p:cNvSpPr txBox="1"/>
            <p:nvPr/>
          </p:nvSpPr>
          <p:spPr>
            <a:xfrm>
              <a:off x="1038901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FC2E6EC-062F-A161-9D0A-D10BDBA2450A}"/>
                </a:ext>
              </a:extLst>
            </p:cNvPr>
            <p:cNvSpPr/>
            <p:nvPr/>
          </p:nvSpPr>
          <p:spPr>
            <a:xfrm>
              <a:off x="1081304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5E124AE-511C-1167-F084-AF9166C40BF1}"/>
                </a:ext>
              </a:extLst>
            </p:cNvPr>
            <p:cNvSpPr txBox="1"/>
            <p:nvPr/>
          </p:nvSpPr>
          <p:spPr>
            <a:xfrm>
              <a:off x="10870777" y="133051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10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63756C4-FFEE-45CE-C290-81DC657DB3F1}"/>
              </a:ext>
            </a:extLst>
          </p:cNvPr>
          <p:cNvGrpSpPr/>
          <p:nvPr/>
        </p:nvGrpSpPr>
        <p:grpSpPr>
          <a:xfrm>
            <a:off x="201742" y="2956422"/>
            <a:ext cx="6934200" cy="3661882"/>
            <a:chOff x="201742" y="2956422"/>
            <a:chExt cx="6934200" cy="366188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87E5112-EE0A-A568-FB0C-800B49EAA828}"/>
                </a:ext>
              </a:extLst>
            </p:cNvPr>
            <p:cNvGrpSpPr/>
            <p:nvPr/>
          </p:nvGrpSpPr>
          <p:grpSpPr>
            <a:xfrm>
              <a:off x="201742" y="2956422"/>
              <a:ext cx="6934200" cy="3661882"/>
              <a:chOff x="2590801" y="2672070"/>
              <a:chExt cx="6934200" cy="3661882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3A30E535-E151-7B10-2482-D4C18A271CB8}"/>
                  </a:ext>
                </a:extLst>
              </p:cNvPr>
              <p:cNvSpPr/>
              <p:nvPr/>
            </p:nvSpPr>
            <p:spPr>
              <a:xfrm>
                <a:off x="5996855" y="267207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16155D8-6880-CAC9-337D-0F3B5F0C2BBB}"/>
                  </a:ext>
                </a:extLst>
              </p:cNvPr>
              <p:cNvSpPr/>
              <p:nvPr/>
            </p:nvSpPr>
            <p:spPr>
              <a:xfrm>
                <a:off x="4191001" y="3682289"/>
                <a:ext cx="688077" cy="68807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6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3701FD1-D85F-35B3-CE7C-6CFF8DCBAC09}"/>
                  </a:ext>
                </a:extLst>
              </p:cNvPr>
              <p:cNvSpPr/>
              <p:nvPr/>
            </p:nvSpPr>
            <p:spPr>
              <a:xfrm>
                <a:off x="7858499" y="3653913"/>
                <a:ext cx="688077" cy="68807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10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3A6BB66-2DDC-8C2E-6AB0-DA31FC02453E}"/>
                  </a:ext>
                </a:extLst>
              </p:cNvPr>
              <p:cNvSpPr/>
              <p:nvPr/>
            </p:nvSpPr>
            <p:spPr>
              <a:xfrm>
                <a:off x="3200401" y="4383504"/>
                <a:ext cx="688077" cy="68807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3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219BA91-50E2-9B4F-817E-664706C652CC}"/>
                  </a:ext>
                </a:extLst>
              </p:cNvPr>
              <p:cNvSpPr/>
              <p:nvPr/>
            </p:nvSpPr>
            <p:spPr>
              <a:xfrm>
                <a:off x="5211206" y="4425368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3B38612-C965-1385-57E2-DB495D63D40C}"/>
                  </a:ext>
                </a:extLst>
              </p:cNvPr>
              <p:cNvSpPr/>
              <p:nvPr/>
            </p:nvSpPr>
            <p:spPr>
              <a:xfrm>
                <a:off x="6934201" y="434199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C32BE3EF-F957-D7BD-78A2-BE2188A515E4}"/>
                  </a:ext>
                </a:extLst>
              </p:cNvPr>
              <p:cNvSpPr/>
              <p:nvPr/>
            </p:nvSpPr>
            <p:spPr>
              <a:xfrm>
                <a:off x="8836924" y="434199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67A0923A-D958-A1BA-1015-3E54B06E39E1}"/>
                  </a:ext>
                </a:extLst>
              </p:cNvPr>
              <p:cNvSpPr/>
              <p:nvPr/>
            </p:nvSpPr>
            <p:spPr>
              <a:xfrm>
                <a:off x="2590801" y="535274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14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2B9709BB-64D4-3FBE-7884-D1B0484114A6}"/>
                  </a:ext>
                </a:extLst>
              </p:cNvPr>
              <p:cNvSpPr/>
              <p:nvPr/>
            </p:nvSpPr>
            <p:spPr>
              <a:xfrm>
                <a:off x="3733801" y="535274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A089308-EAB4-3DF6-2168-FA9078D82274}"/>
                  </a:ext>
                </a:extLst>
              </p:cNvPr>
              <p:cNvCxnSpPr>
                <a:cxnSpLocks/>
                <a:stCxn id="28" idx="3"/>
                <a:endCxn id="29" idx="7"/>
              </p:cNvCxnSpPr>
              <p:nvPr/>
            </p:nvCxnSpPr>
            <p:spPr>
              <a:xfrm flipH="1">
                <a:off x="4778311" y="3259380"/>
                <a:ext cx="1319311" cy="52367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483BDF66-84DB-ABCB-4020-11642646E088}"/>
                  </a:ext>
                </a:extLst>
              </p:cNvPr>
              <p:cNvCxnSpPr>
                <a:cxnSpLocks/>
                <a:stCxn id="28" idx="5"/>
                <a:endCxn id="30" idx="1"/>
              </p:cNvCxnSpPr>
              <p:nvPr/>
            </p:nvCxnSpPr>
            <p:spPr>
              <a:xfrm>
                <a:off x="6584165" y="3259380"/>
                <a:ext cx="1375101" cy="4953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220F70A-FDDC-7762-B33A-06720ADD3AF7}"/>
                  </a:ext>
                </a:extLst>
              </p:cNvPr>
              <p:cNvCxnSpPr>
                <a:stCxn id="32" idx="1"/>
                <a:endCxn id="29" idx="5"/>
              </p:cNvCxnSpPr>
              <p:nvPr/>
            </p:nvCxnSpPr>
            <p:spPr>
              <a:xfrm flipH="1" flipV="1">
                <a:off x="4778310" y="4269598"/>
                <a:ext cx="533662" cy="2565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56022E8-594C-5224-728B-F2FC6AA874BE}"/>
                  </a:ext>
                </a:extLst>
              </p:cNvPr>
              <p:cNvCxnSpPr>
                <a:stCxn id="31" idx="7"/>
                <a:endCxn id="29" idx="3"/>
              </p:cNvCxnSpPr>
              <p:nvPr/>
            </p:nvCxnSpPr>
            <p:spPr>
              <a:xfrm flipV="1">
                <a:off x="3787711" y="4269598"/>
                <a:ext cx="504057" cy="214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3D94FFD-BC02-5F5A-FF9E-9C49B907172F}"/>
                  </a:ext>
                </a:extLst>
              </p:cNvPr>
              <p:cNvCxnSpPr>
                <a:stCxn id="36" idx="0"/>
                <a:endCxn id="31" idx="5"/>
              </p:cNvCxnSpPr>
              <p:nvPr/>
            </p:nvCxnSpPr>
            <p:spPr>
              <a:xfrm flipH="1" flipV="1">
                <a:off x="3787711" y="4970813"/>
                <a:ext cx="290129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5735856-C128-C713-C639-DB1757598AE1}"/>
                  </a:ext>
                </a:extLst>
              </p:cNvPr>
              <p:cNvCxnSpPr>
                <a:stCxn id="35" idx="0"/>
                <a:endCxn id="31" idx="3"/>
              </p:cNvCxnSpPr>
              <p:nvPr/>
            </p:nvCxnSpPr>
            <p:spPr>
              <a:xfrm flipV="1">
                <a:off x="2934839" y="4970813"/>
                <a:ext cx="366328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A8E5DDDC-1F60-E1BD-ED97-8C6BDFE31483}"/>
                  </a:ext>
                </a:extLst>
              </p:cNvPr>
              <p:cNvCxnSpPr>
                <a:stCxn id="33" idx="7"/>
                <a:endCxn id="30" idx="3"/>
              </p:cNvCxnSpPr>
              <p:nvPr/>
            </p:nvCxnSpPr>
            <p:spPr>
              <a:xfrm flipV="1">
                <a:off x="7521511" y="4241222"/>
                <a:ext cx="437755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202118E8-FE37-1B94-60E7-FF8DC87A02DF}"/>
                  </a:ext>
                </a:extLst>
              </p:cNvPr>
              <p:cNvCxnSpPr>
                <a:stCxn id="34" idx="1"/>
                <a:endCxn id="30" idx="5"/>
              </p:cNvCxnSpPr>
              <p:nvPr/>
            </p:nvCxnSpPr>
            <p:spPr>
              <a:xfrm flipH="1" flipV="1">
                <a:off x="8445808" y="4241222"/>
                <a:ext cx="491882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3F51C00-7BE4-C71B-CEC9-78F3E393B278}"/>
                  </a:ext>
                </a:extLst>
              </p:cNvPr>
              <p:cNvSpPr txBox="1"/>
              <p:nvPr/>
            </p:nvSpPr>
            <p:spPr>
              <a:xfrm>
                <a:off x="6190049" y="337129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E00191F-101E-453F-E05F-F79326EF7FFB}"/>
                  </a:ext>
                </a:extLst>
              </p:cNvPr>
              <p:cNvSpPr txBox="1"/>
              <p:nvPr/>
            </p:nvSpPr>
            <p:spPr>
              <a:xfrm>
                <a:off x="4384195" y="4377091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2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B19AC53-E3AB-F92F-CA0A-7EC078433879}"/>
                  </a:ext>
                </a:extLst>
              </p:cNvPr>
              <p:cNvSpPr txBox="1"/>
              <p:nvPr/>
            </p:nvSpPr>
            <p:spPr>
              <a:xfrm>
                <a:off x="8051693" y="431669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3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A690ADD-9D72-5CFC-ABA4-CFD3482C08B4}"/>
                  </a:ext>
                </a:extLst>
              </p:cNvPr>
              <p:cNvSpPr txBox="1"/>
              <p:nvPr/>
            </p:nvSpPr>
            <p:spPr>
              <a:xfrm>
                <a:off x="3352081" y="507158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4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25CA634-CACD-54BE-4661-54DEF3A780C5}"/>
                  </a:ext>
                </a:extLst>
              </p:cNvPr>
              <p:cNvSpPr txBox="1"/>
              <p:nvPr/>
            </p:nvSpPr>
            <p:spPr>
              <a:xfrm>
                <a:off x="7122005" y="5012677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6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F6D568-E05C-26F2-EBD8-57839FC7687F}"/>
                  </a:ext>
                </a:extLst>
              </p:cNvPr>
              <p:cNvSpPr txBox="1"/>
              <p:nvPr/>
            </p:nvSpPr>
            <p:spPr>
              <a:xfrm>
                <a:off x="5404400" y="5108902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5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E1DFACA-646B-2F3B-1F0D-554B10C6DCB7}"/>
                  </a:ext>
                </a:extLst>
              </p:cNvPr>
              <p:cNvSpPr txBox="1"/>
              <p:nvPr/>
            </p:nvSpPr>
            <p:spPr>
              <a:xfrm>
                <a:off x="9030118" y="503006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7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96EE955-07B4-4EE0-219A-7BF193FD11F3}"/>
                  </a:ext>
                </a:extLst>
              </p:cNvPr>
              <p:cNvSpPr txBox="1"/>
              <p:nvPr/>
            </p:nvSpPr>
            <p:spPr>
              <a:xfrm>
                <a:off x="2783996" y="59646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8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AE0ABF5-B591-93A9-75F6-25B4A6AB23BE}"/>
                  </a:ext>
                </a:extLst>
              </p:cNvPr>
              <p:cNvSpPr txBox="1"/>
              <p:nvPr/>
            </p:nvSpPr>
            <p:spPr>
              <a:xfrm>
                <a:off x="3920467" y="59646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9</a:t>
                </a:r>
              </a:p>
            </p:txBody>
          </p:sp>
        </p:grp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76035EC9-3610-8FDE-B3D0-38593B0EF572}"/>
                </a:ext>
              </a:extLst>
            </p:cNvPr>
            <p:cNvSpPr/>
            <p:nvPr/>
          </p:nvSpPr>
          <p:spPr>
            <a:xfrm>
              <a:off x="2330369" y="5636036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001DADF-BD70-7B05-56C0-31B3799F72C0}"/>
                </a:ext>
              </a:extLst>
            </p:cNvPr>
            <p:cNvCxnSpPr>
              <a:cxnSpLocks/>
              <a:stCxn id="54" idx="0"/>
              <a:endCxn id="32" idx="3"/>
            </p:cNvCxnSpPr>
            <p:nvPr/>
          </p:nvCxnSpPr>
          <p:spPr>
            <a:xfrm flipV="1">
              <a:off x="2674408" y="5297030"/>
              <a:ext cx="248506" cy="3390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4CC9DA3-E3B4-4532-1F70-7E2BF83F9167}"/>
                </a:ext>
              </a:extLst>
            </p:cNvPr>
            <p:cNvSpPr txBox="1"/>
            <p:nvPr/>
          </p:nvSpPr>
          <p:spPr>
            <a:xfrm>
              <a:off x="2446730" y="6243373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10</a:t>
              </a: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ED4902B8-F5AB-50D9-18C4-FF07B8E03412}"/>
              </a:ext>
            </a:extLst>
          </p:cNvPr>
          <p:cNvSpPr txBox="1"/>
          <p:nvPr/>
        </p:nvSpPr>
        <p:spPr>
          <a:xfrm>
            <a:off x="8434060" y="4571102"/>
            <a:ext cx="32637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buildHeap</a:t>
            </a:r>
            <a:r>
              <a:rPr lang="en-US" sz="2400" dirty="0"/>
              <a:t>(){</a:t>
            </a:r>
          </a:p>
          <a:p>
            <a:r>
              <a:rPr lang="en-US" sz="2400" dirty="0"/>
              <a:t>    for(int </a:t>
            </a:r>
            <a:r>
              <a:rPr lang="en-US" sz="2400" dirty="0" err="1"/>
              <a:t>i</a:t>
            </a:r>
            <a:r>
              <a:rPr lang="en-US" sz="2400" dirty="0"/>
              <a:t> = size; </a:t>
            </a:r>
            <a:r>
              <a:rPr lang="en-US" sz="2400" dirty="0" err="1"/>
              <a:t>i</a:t>
            </a:r>
            <a:r>
              <a:rPr lang="en-US" sz="2400" dirty="0"/>
              <a:t>&gt;0; </a:t>
            </a:r>
            <a:r>
              <a:rPr lang="en-US" sz="2400" dirty="0" err="1"/>
              <a:t>i</a:t>
            </a:r>
            <a:r>
              <a:rPr lang="en-US" sz="2400" dirty="0"/>
              <a:t>--){</a:t>
            </a:r>
          </a:p>
          <a:p>
            <a:r>
              <a:rPr lang="en-US" sz="2400" dirty="0"/>
              <a:t>        </a:t>
            </a:r>
            <a:r>
              <a:rPr lang="en-US" sz="2400" dirty="0" err="1"/>
              <a:t>percolateDown</a:t>
            </a:r>
            <a:r>
              <a:rPr lang="en-US" sz="2400" dirty="0"/>
              <a:t>(</a:t>
            </a:r>
            <a:r>
              <a:rPr lang="en-US" sz="2400" dirty="0" err="1"/>
              <a:t>i</a:t>
            </a:r>
            <a:r>
              <a:rPr lang="en-US" sz="2400" dirty="0"/>
              <a:t>);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}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8440DB-C25F-EEF0-74F8-E305D893D7FF}"/>
              </a:ext>
            </a:extLst>
          </p:cNvPr>
          <p:cNvSpPr txBox="1"/>
          <p:nvPr/>
        </p:nvSpPr>
        <p:spPr>
          <a:xfrm>
            <a:off x="301792" y="2977294"/>
            <a:ext cx="25717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Violate Heap Property!</a:t>
            </a:r>
          </a:p>
          <a:p>
            <a:r>
              <a:rPr lang="en-US" dirty="0">
                <a:solidFill>
                  <a:srgbClr val="FF0000"/>
                </a:solidFill>
              </a:rPr>
              <a:t>Nodes bigger than a child</a:t>
            </a:r>
          </a:p>
        </p:txBody>
      </p:sp>
    </p:spTree>
    <p:extLst>
      <p:ext uri="{BB962C8B-B14F-4D97-AF65-F5344CB8AC3E}">
        <p14:creationId xmlns:p14="http://schemas.microsoft.com/office/powerpoint/2010/main" val="2008296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F2A4A-E8D3-7F93-AD14-D6B2FD99D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Floyd’s </a:t>
            </a:r>
            <a:r>
              <a:rPr lang="en-US" dirty="0" err="1"/>
              <a:t>buildHeap</a:t>
            </a:r>
            <a:r>
              <a:rPr lang="en-US" dirty="0"/>
              <a:t>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AF3C39-C718-C590-CB20-0AC3D97ADF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we had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items and wanted to “</a:t>
                </a:r>
                <a:r>
                  <a:rPr lang="en-US" dirty="0" err="1"/>
                  <a:t>heapify</a:t>
                </a:r>
                <a:r>
                  <a:rPr lang="en-US" dirty="0"/>
                  <a:t>” them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AF3C39-C718-C590-CB20-0AC3D97ADF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D2C070FD-E606-FE96-DBE1-D6B50F960BB6}"/>
              </a:ext>
            </a:extLst>
          </p:cNvPr>
          <p:cNvGrpSpPr/>
          <p:nvPr/>
        </p:nvGrpSpPr>
        <p:grpSpPr>
          <a:xfrm>
            <a:off x="5917894" y="2956422"/>
            <a:ext cx="5875588" cy="945155"/>
            <a:chOff x="5470854" y="754688"/>
            <a:chExt cx="5875588" cy="94515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82E85FD-4B9F-2A0B-306D-32BA73343EB3}"/>
                </a:ext>
              </a:extLst>
            </p:cNvPr>
            <p:cNvSpPr/>
            <p:nvPr/>
          </p:nvSpPr>
          <p:spPr>
            <a:xfrm>
              <a:off x="5470854" y="754688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33CD6EB-1593-D211-04E7-2CDD96133A79}"/>
                </a:ext>
              </a:extLst>
            </p:cNvPr>
            <p:cNvSpPr/>
            <p:nvPr/>
          </p:nvSpPr>
          <p:spPr>
            <a:xfrm>
              <a:off x="6004254" y="754688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6A20C82-14BA-14B7-33D2-B02F05244D80}"/>
                </a:ext>
              </a:extLst>
            </p:cNvPr>
            <p:cNvSpPr/>
            <p:nvPr/>
          </p:nvSpPr>
          <p:spPr>
            <a:xfrm>
              <a:off x="65382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6678D84-16F3-310C-AADC-7A181CCDF23C}"/>
                </a:ext>
              </a:extLst>
            </p:cNvPr>
            <p:cNvSpPr/>
            <p:nvPr/>
          </p:nvSpPr>
          <p:spPr>
            <a:xfrm>
              <a:off x="70716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BBF6A4D-F237-D175-3581-18514FECFB50}"/>
                </a:ext>
              </a:extLst>
            </p:cNvPr>
            <p:cNvSpPr/>
            <p:nvPr/>
          </p:nvSpPr>
          <p:spPr>
            <a:xfrm>
              <a:off x="76050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EA7CA55-613D-E569-F87A-36A82B8A4197}"/>
                </a:ext>
              </a:extLst>
            </p:cNvPr>
            <p:cNvSpPr/>
            <p:nvPr/>
          </p:nvSpPr>
          <p:spPr>
            <a:xfrm>
              <a:off x="81389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4DBAC75-85FF-A5C5-3308-0652E69855B9}"/>
                </a:ext>
              </a:extLst>
            </p:cNvPr>
            <p:cNvSpPr/>
            <p:nvPr/>
          </p:nvSpPr>
          <p:spPr>
            <a:xfrm>
              <a:off x="86723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AC49C1D-E65A-E283-D242-407C87FCEAD3}"/>
                </a:ext>
              </a:extLst>
            </p:cNvPr>
            <p:cNvSpPr/>
            <p:nvPr/>
          </p:nvSpPr>
          <p:spPr>
            <a:xfrm>
              <a:off x="92057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F643AEB-4040-07BB-03F1-A04A08EE1D6F}"/>
                </a:ext>
              </a:extLst>
            </p:cNvPr>
            <p:cNvSpPr/>
            <p:nvPr/>
          </p:nvSpPr>
          <p:spPr>
            <a:xfrm>
              <a:off x="9739761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8FEEA45-B71F-DF2F-C447-4203F387203B}"/>
                </a:ext>
              </a:extLst>
            </p:cNvPr>
            <p:cNvSpPr/>
            <p:nvPr/>
          </p:nvSpPr>
          <p:spPr>
            <a:xfrm>
              <a:off x="10273161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A6253EB-D23C-949B-D5E8-FECD830DEDBA}"/>
                </a:ext>
              </a:extLst>
            </p:cNvPr>
            <p:cNvSpPr txBox="1"/>
            <p:nvPr/>
          </p:nvSpPr>
          <p:spPr>
            <a:xfrm>
              <a:off x="5586710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8F8A93E-79B2-8F25-0DCC-1F3278F661BB}"/>
                </a:ext>
              </a:extLst>
            </p:cNvPr>
            <p:cNvSpPr txBox="1"/>
            <p:nvPr/>
          </p:nvSpPr>
          <p:spPr>
            <a:xfrm>
              <a:off x="6120110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2E633D5-64EB-6BAD-3A62-C08FF0C32E94}"/>
                </a:ext>
              </a:extLst>
            </p:cNvPr>
            <p:cNvSpPr txBox="1"/>
            <p:nvPr/>
          </p:nvSpPr>
          <p:spPr>
            <a:xfrm>
              <a:off x="6654079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4AC8395-5F6E-19CD-15DE-29D1887AD4A5}"/>
                </a:ext>
              </a:extLst>
            </p:cNvPr>
            <p:cNvSpPr txBox="1"/>
            <p:nvPr/>
          </p:nvSpPr>
          <p:spPr>
            <a:xfrm>
              <a:off x="7187479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19110CD-D76E-CFDF-A6D5-AB20E69C641D}"/>
                </a:ext>
              </a:extLst>
            </p:cNvPr>
            <p:cNvSpPr txBox="1"/>
            <p:nvPr/>
          </p:nvSpPr>
          <p:spPr>
            <a:xfrm>
              <a:off x="771846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C3B8112-0CF7-5516-F41D-84C801CEBEE1}"/>
                </a:ext>
              </a:extLst>
            </p:cNvPr>
            <p:cNvSpPr txBox="1"/>
            <p:nvPr/>
          </p:nvSpPr>
          <p:spPr>
            <a:xfrm>
              <a:off x="819649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8D6E652-F5FC-4920-F20E-32A2AA0FEAE2}"/>
                </a:ext>
              </a:extLst>
            </p:cNvPr>
            <p:cNvSpPr txBox="1"/>
            <p:nvPr/>
          </p:nvSpPr>
          <p:spPr>
            <a:xfrm>
              <a:off x="8788248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19347C4-D38D-06D5-33DF-2A348A5382FE}"/>
                </a:ext>
              </a:extLst>
            </p:cNvPr>
            <p:cNvSpPr txBox="1"/>
            <p:nvPr/>
          </p:nvSpPr>
          <p:spPr>
            <a:xfrm>
              <a:off x="9321648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60923D4-A058-7D06-904A-8CC0ECE807D7}"/>
                </a:ext>
              </a:extLst>
            </p:cNvPr>
            <p:cNvSpPr txBox="1"/>
            <p:nvPr/>
          </p:nvSpPr>
          <p:spPr>
            <a:xfrm>
              <a:off x="985561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0CFED6D-86F5-D958-E923-2CC18DA518C3}"/>
                </a:ext>
              </a:extLst>
            </p:cNvPr>
            <p:cNvSpPr txBox="1"/>
            <p:nvPr/>
          </p:nvSpPr>
          <p:spPr>
            <a:xfrm>
              <a:off x="1038901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FC2E6EC-062F-A161-9D0A-D10BDBA2450A}"/>
                </a:ext>
              </a:extLst>
            </p:cNvPr>
            <p:cNvSpPr/>
            <p:nvPr/>
          </p:nvSpPr>
          <p:spPr>
            <a:xfrm>
              <a:off x="1081304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5E124AE-511C-1167-F084-AF9166C40BF1}"/>
                </a:ext>
              </a:extLst>
            </p:cNvPr>
            <p:cNvSpPr txBox="1"/>
            <p:nvPr/>
          </p:nvSpPr>
          <p:spPr>
            <a:xfrm>
              <a:off x="10870777" y="133051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10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63756C4-FFEE-45CE-C290-81DC657DB3F1}"/>
              </a:ext>
            </a:extLst>
          </p:cNvPr>
          <p:cNvGrpSpPr/>
          <p:nvPr/>
        </p:nvGrpSpPr>
        <p:grpSpPr>
          <a:xfrm>
            <a:off x="201742" y="2956422"/>
            <a:ext cx="6934200" cy="3661882"/>
            <a:chOff x="201742" y="2956422"/>
            <a:chExt cx="6934200" cy="366188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87E5112-EE0A-A568-FB0C-800B49EAA828}"/>
                </a:ext>
              </a:extLst>
            </p:cNvPr>
            <p:cNvGrpSpPr/>
            <p:nvPr/>
          </p:nvGrpSpPr>
          <p:grpSpPr>
            <a:xfrm>
              <a:off x="201742" y="2956422"/>
              <a:ext cx="6934200" cy="3661882"/>
              <a:chOff x="2590801" y="2672070"/>
              <a:chExt cx="6934200" cy="3661882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3A30E535-E151-7B10-2482-D4C18A271CB8}"/>
                  </a:ext>
                </a:extLst>
              </p:cNvPr>
              <p:cNvSpPr/>
              <p:nvPr/>
            </p:nvSpPr>
            <p:spPr>
              <a:xfrm>
                <a:off x="5996855" y="267207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16155D8-6880-CAC9-337D-0F3B5F0C2BBB}"/>
                  </a:ext>
                </a:extLst>
              </p:cNvPr>
              <p:cNvSpPr/>
              <p:nvPr/>
            </p:nvSpPr>
            <p:spPr>
              <a:xfrm>
                <a:off x="4191001" y="3682289"/>
                <a:ext cx="688077" cy="68807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6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3701FD1-D85F-35B3-CE7C-6CFF8DCBAC09}"/>
                  </a:ext>
                </a:extLst>
              </p:cNvPr>
              <p:cNvSpPr/>
              <p:nvPr/>
            </p:nvSpPr>
            <p:spPr>
              <a:xfrm>
                <a:off x="7858499" y="3653913"/>
                <a:ext cx="688077" cy="68807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10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3A6BB66-2DDC-8C2E-6AB0-DA31FC02453E}"/>
                  </a:ext>
                </a:extLst>
              </p:cNvPr>
              <p:cNvSpPr/>
              <p:nvPr/>
            </p:nvSpPr>
            <p:spPr>
              <a:xfrm>
                <a:off x="3200401" y="438350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219BA91-50E2-9B4F-817E-664706C652CC}"/>
                  </a:ext>
                </a:extLst>
              </p:cNvPr>
              <p:cNvSpPr/>
              <p:nvPr/>
            </p:nvSpPr>
            <p:spPr>
              <a:xfrm>
                <a:off x="5211206" y="4425368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3B38612-C965-1385-57E2-DB495D63D40C}"/>
                  </a:ext>
                </a:extLst>
              </p:cNvPr>
              <p:cNvSpPr/>
              <p:nvPr/>
            </p:nvSpPr>
            <p:spPr>
              <a:xfrm>
                <a:off x="6934201" y="434199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C32BE3EF-F957-D7BD-78A2-BE2188A515E4}"/>
                  </a:ext>
                </a:extLst>
              </p:cNvPr>
              <p:cNvSpPr/>
              <p:nvPr/>
            </p:nvSpPr>
            <p:spPr>
              <a:xfrm>
                <a:off x="8836924" y="434199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67A0923A-D958-A1BA-1015-3E54B06E39E1}"/>
                  </a:ext>
                </a:extLst>
              </p:cNvPr>
              <p:cNvSpPr/>
              <p:nvPr/>
            </p:nvSpPr>
            <p:spPr>
              <a:xfrm>
                <a:off x="2590801" y="535274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14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2B9709BB-64D4-3FBE-7884-D1B0484114A6}"/>
                  </a:ext>
                </a:extLst>
              </p:cNvPr>
              <p:cNvSpPr/>
              <p:nvPr/>
            </p:nvSpPr>
            <p:spPr>
              <a:xfrm>
                <a:off x="3733801" y="535274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A089308-EAB4-3DF6-2168-FA9078D82274}"/>
                  </a:ext>
                </a:extLst>
              </p:cNvPr>
              <p:cNvCxnSpPr>
                <a:cxnSpLocks/>
                <a:stCxn id="28" idx="3"/>
                <a:endCxn id="29" idx="7"/>
              </p:cNvCxnSpPr>
              <p:nvPr/>
            </p:nvCxnSpPr>
            <p:spPr>
              <a:xfrm flipH="1">
                <a:off x="4778311" y="3259380"/>
                <a:ext cx="1319311" cy="52367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483BDF66-84DB-ABCB-4020-11642646E088}"/>
                  </a:ext>
                </a:extLst>
              </p:cNvPr>
              <p:cNvCxnSpPr>
                <a:cxnSpLocks/>
                <a:stCxn id="28" idx="5"/>
                <a:endCxn id="30" idx="1"/>
              </p:cNvCxnSpPr>
              <p:nvPr/>
            </p:nvCxnSpPr>
            <p:spPr>
              <a:xfrm>
                <a:off x="6584165" y="3259380"/>
                <a:ext cx="1375101" cy="4953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220F70A-FDDC-7762-B33A-06720ADD3AF7}"/>
                  </a:ext>
                </a:extLst>
              </p:cNvPr>
              <p:cNvCxnSpPr>
                <a:stCxn id="32" idx="1"/>
                <a:endCxn id="29" idx="5"/>
              </p:cNvCxnSpPr>
              <p:nvPr/>
            </p:nvCxnSpPr>
            <p:spPr>
              <a:xfrm flipH="1" flipV="1">
                <a:off x="4778310" y="4269598"/>
                <a:ext cx="533662" cy="2565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56022E8-594C-5224-728B-F2FC6AA874BE}"/>
                  </a:ext>
                </a:extLst>
              </p:cNvPr>
              <p:cNvCxnSpPr>
                <a:stCxn id="31" idx="7"/>
                <a:endCxn id="29" idx="3"/>
              </p:cNvCxnSpPr>
              <p:nvPr/>
            </p:nvCxnSpPr>
            <p:spPr>
              <a:xfrm flipV="1">
                <a:off x="3787711" y="4269598"/>
                <a:ext cx="504057" cy="214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3D94FFD-BC02-5F5A-FF9E-9C49B907172F}"/>
                  </a:ext>
                </a:extLst>
              </p:cNvPr>
              <p:cNvCxnSpPr>
                <a:stCxn id="36" idx="0"/>
                <a:endCxn id="31" idx="5"/>
              </p:cNvCxnSpPr>
              <p:nvPr/>
            </p:nvCxnSpPr>
            <p:spPr>
              <a:xfrm flipH="1" flipV="1">
                <a:off x="3787711" y="4970813"/>
                <a:ext cx="290129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5735856-C128-C713-C639-DB1757598AE1}"/>
                  </a:ext>
                </a:extLst>
              </p:cNvPr>
              <p:cNvCxnSpPr>
                <a:stCxn id="35" idx="0"/>
                <a:endCxn id="31" idx="3"/>
              </p:cNvCxnSpPr>
              <p:nvPr/>
            </p:nvCxnSpPr>
            <p:spPr>
              <a:xfrm flipV="1">
                <a:off x="2934839" y="4970813"/>
                <a:ext cx="366328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A8E5DDDC-1F60-E1BD-ED97-8C6BDFE31483}"/>
                  </a:ext>
                </a:extLst>
              </p:cNvPr>
              <p:cNvCxnSpPr>
                <a:stCxn id="33" idx="7"/>
                <a:endCxn id="30" idx="3"/>
              </p:cNvCxnSpPr>
              <p:nvPr/>
            </p:nvCxnSpPr>
            <p:spPr>
              <a:xfrm flipV="1">
                <a:off x="7521511" y="4241222"/>
                <a:ext cx="437755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202118E8-FE37-1B94-60E7-FF8DC87A02DF}"/>
                  </a:ext>
                </a:extLst>
              </p:cNvPr>
              <p:cNvCxnSpPr>
                <a:stCxn id="34" idx="1"/>
                <a:endCxn id="30" idx="5"/>
              </p:cNvCxnSpPr>
              <p:nvPr/>
            </p:nvCxnSpPr>
            <p:spPr>
              <a:xfrm flipH="1" flipV="1">
                <a:off x="8445808" y="4241222"/>
                <a:ext cx="491882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3F51C00-7BE4-C71B-CEC9-78F3E393B278}"/>
                  </a:ext>
                </a:extLst>
              </p:cNvPr>
              <p:cNvSpPr txBox="1"/>
              <p:nvPr/>
            </p:nvSpPr>
            <p:spPr>
              <a:xfrm>
                <a:off x="6190049" y="337129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E00191F-101E-453F-E05F-F79326EF7FFB}"/>
                  </a:ext>
                </a:extLst>
              </p:cNvPr>
              <p:cNvSpPr txBox="1"/>
              <p:nvPr/>
            </p:nvSpPr>
            <p:spPr>
              <a:xfrm>
                <a:off x="4384195" y="4377091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2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B19AC53-E3AB-F92F-CA0A-7EC078433879}"/>
                  </a:ext>
                </a:extLst>
              </p:cNvPr>
              <p:cNvSpPr txBox="1"/>
              <p:nvPr/>
            </p:nvSpPr>
            <p:spPr>
              <a:xfrm>
                <a:off x="8051693" y="431669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3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A690ADD-9D72-5CFC-ABA4-CFD3482C08B4}"/>
                  </a:ext>
                </a:extLst>
              </p:cNvPr>
              <p:cNvSpPr txBox="1"/>
              <p:nvPr/>
            </p:nvSpPr>
            <p:spPr>
              <a:xfrm>
                <a:off x="3352081" y="507158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4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25CA634-CACD-54BE-4661-54DEF3A780C5}"/>
                  </a:ext>
                </a:extLst>
              </p:cNvPr>
              <p:cNvSpPr txBox="1"/>
              <p:nvPr/>
            </p:nvSpPr>
            <p:spPr>
              <a:xfrm>
                <a:off x="7122005" y="5012677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6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F6D568-E05C-26F2-EBD8-57839FC7687F}"/>
                  </a:ext>
                </a:extLst>
              </p:cNvPr>
              <p:cNvSpPr txBox="1"/>
              <p:nvPr/>
            </p:nvSpPr>
            <p:spPr>
              <a:xfrm>
                <a:off x="5404400" y="5108902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5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E1DFACA-646B-2F3B-1F0D-554B10C6DCB7}"/>
                  </a:ext>
                </a:extLst>
              </p:cNvPr>
              <p:cNvSpPr txBox="1"/>
              <p:nvPr/>
            </p:nvSpPr>
            <p:spPr>
              <a:xfrm>
                <a:off x="9030118" y="503006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7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96EE955-07B4-4EE0-219A-7BF193FD11F3}"/>
                  </a:ext>
                </a:extLst>
              </p:cNvPr>
              <p:cNvSpPr txBox="1"/>
              <p:nvPr/>
            </p:nvSpPr>
            <p:spPr>
              <a:xfrm>
                <a:off x="2783996" y="59646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8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AE0ABF5-B591-93A9-75F6-25B4A6AB23BE}"/>
                  </a:ext>
                </a:extLst>
              </p:cNvPr>
              <p:cNvSpPr txBox="1"/>
              <p:nvPr/>
            </p:nvSpPr>
            <p:spPr>
              <a:xfrm>
                <a:off x="3920467" y="59646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9</a:t>
                </a:r>
              </a:p>
            </p:txBody>
          </p:sp>
        </p:grp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76035EC9-3610-8FDE-B3D0-38593B0EF572}"/>
                </a:ext>
              </a:extLst>
            </p:cNvPr>
            <p:cNvSpPr/>
            <p:nvPr/>
          </p:nvSpPr>
          <p:spPr>
            <a:xfrm>
              <a:off x="2330369" y="5636036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001DADF-BD70-7B05-56C0-31B3799F72C0}"/>
                </a:ext>
              </a:extLst>
            </p:cNvPr>
            <p:cNvCxnSpPr>
              <a:cxnSpLocks/>
              <a:stCxn id="54" idx="0"/>
              <a:endCxn id="32" idx="3"/>
            </p:cNvCxnSpPr>
            <p:nvPr/>
          </p:nvCxnSpPr>
          <p:spPr>
            <a:xfrm flipV="1">
              <a:off x="2674408" y="5297030"/>
              <a:ext cx="248506" cy="3390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4CC9DA3-E3B4-4532-1F70-7E2BF83F9167}"/>
                </a:ext>
              </a:extLst>
            </p:cNvPr>
            <p:cNvSpPr txBox="1"/>
            <p:nvPr/>
          </p:nvSpPr>
          <p:spPr>
            <a:xfrm>
              <a:off x="2446730" y="6243373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10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B43941B0-86D8-D533-366D-B46802C30744}"/>
              </a:ext>
            </a:extLst>
          </p:cNvPr>
          <p:cNvSpPr txBox="1"/>
          <p:nvPr/>
        </p:nvSpPr>
        <p:spPr>
          <a:xfrm>
            <a:off x="737595" y="3266383"/>
            <a:ext cx="2376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Violate Heap Property!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4902B8-F5AB-50D9-18C4-FF07B8E03412}"/>
              </a:ext>
            </a:extLst>
          </p:cNvPr>
          <p:cNvSpPr txBox="1"/>
          <p:nvPr/>
        </p:nvSpPr>
        <p:spPr>
          <a:xfrm>
            <a:off x="8434060" y="4571102"/>
            <a:ext cx="32637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buildHeap</a:t>
            </a:r>
            <a:r>
              <a:rPr lang="en-US" sz="2400" dirty="0"/>
              <a:t>(){</a:t>
            </a:r>
          </a:p>
          <a:p>
            <a:r>
              <a:rPr lang="en-US" sz="2400" dirty="0"/>
              <a:t>    for(int </a:t>
            </a:r>
            <a:r>
              <a:rPr lang="en-US" sz="2400" dirty="0" err="1"/>
              <a:t>i</a:t>
            </a:r>
            <a:r>
              <a:rPr lang="en-US" sz="2400" dirty="0"/>
              <a:t> = size; </a:t>
            </a:r>
            <a:r>
              <a:rPr lang="en-US" sz="2400" dirty="0" err="1"/>
              <a:t>i</a:t>
            </a:r>
            <a:r>
              <a:rPr lang="en-US" sz="2400" dirty="0"/>
              <a:t>&gt;0; </a:t>
            </a:r>
            <a:r>
              <a:rPr lang="en-US" sz="2400" dirty="0" err="1"/>
              <a:t>i</a:t>
            </a:r>
            <a:r>
              <a:rPr lang="en-US" sz="2400" dirty="0"/>
              <a:t>--){</a:t>
            </a:r>
          </a:p>
          <a:p>
            <a:r>
              <a:rPr lang="en-US" sz="2400" dirty="0"/>
              <a:t>        </a:t>
            </a:r>
            <a:r>
              <a:rPr lang="en-US" sz="2400" dirty="0" err="1"/>
              <a:t>percolateDown</a:t>
            </a:r>
            <a:r>
              <a:rPr lang="en-US" sz="2400" dirty="0"/>
              <a:t>(</a:t>
            </a:r>
            <a:r>
              <a:rPr lang="en-US" sz="2400" dirty="0" err="1"/>
              <a:t>i</a:t>
            </a:r>
            <a:r>
              <a:rPr lang="en-US" sz="2400" dirty="0"/>
              <a:t>);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84400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F2A4A-E8D3-7F93-AD14-D6B2FD99D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Floyd’s </a:t>
            </a:r>
            <a:r>
              <a:rPr lang="en-US" dirty="0" err="1"/>
              <a:t>buildHeap</a:t>
            </a:r>
            <a:r>
              <a:rPr lang="en-US" dirty="0"/>
              <a:t>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AF3C39-C718-C590-CB20-0AC3D97ADF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we had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items and wanted to “</a:t>
                </a:r>
                <a:r>
                  <a:rPr lang="en-US" dirty="0" err="1"/>
                  <a:t>heapify</a:t>
                </a:r>
                <a:r>
                  <a:rPr lang="en-US" dirty="0"/>
                  <a:t>” them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AF3C39-C718-C590-CB20-0AC3D97ADF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D2C070FD-E606-FE96-DBE1-D6B50F960BB6}"/>
              </a:ext>
            </a:extLst>
          </p:cNvPr>
          <p:cNvGrpSpPr/>
          <p:nvPr/>
        </p:nvGrpSpPr>
        <p:grpSpPr>
          <a:xfrm>
            <a:off x="5917894" y="2956422"/>
            <a:ext cx="5875588" cy="945155"/>
            <a:chOff x="5470854" y="754688"/>
            <a:chExt cx="5875588" cy="94515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82E85FD-4B9F-2A0B-306D-32BA73343EB3}"/>
                </a:ext>
              </a:extLst>
            </p:cNvPr>
            <p:cNvSpPr/>
            <p:nvPr/>
          </p:nvSpPr>
          <p:spPr>
            <a:xfrm>
              <a:off x="5470854" y="754688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33CD6EB-1593-D211-04E7-2CDD96133A79}"/>
                </a:ext>
              </a:extLst>
            </p:cNvPr>
            <p:cNvSpPr/>
            <p:nvPr/>
          </p:nvSpPr>
          <p:spPr>
            <a:xfrm>
              <a:off x="6004254" y="754688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6A20C82-14BA-14B7-33D2-B02F05244D80}"/>
                </a:ext>
              </a:extLst>
            </p:cNvPr>
            <p:cNvSpPr/>
            <p:nvPr/>
          </p:nvSpPr>
          <p:spPr>
            <a:xfrm>
              <a:off x="65382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6678D84-16F3-310C-AADC-7A181CCDF23C}"/>
                </a:ext>
              </a:extLst>
            </p:cNvPr>
            <p:cNvSpPr/>
            <p:nvPr/>
          </p:nvSpPr>
          <p:spPr>
            <a:xfrm>
              <a:off x="70716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BBF6A4D-F237-D175-3581-18514FECFB50}"/>
                </a:ext>
              </a:extLst>
            </p:cNvPr>
            <p:cNvSpPr/>
            <p:nvPr/>
          </p:nvSpPr>
          <p:spPr>
            <a:xfrm>
              <a:off x="76050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EA7CA55-613D-E569-F87A-36A82B8A4197}"/>
                </a:ext>
              </a:extLst>
            </p:cNvPr>
            <p:cNvSpPr/>
            <p:nvPr/>
          </p:nvSpPr>
          <p:spPr>
            <a:xfrm>
              <a:off x="81389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4DBAC75-85FF-A5C5-3308-0652E69855B9}"/>
                </a:ext>
              </a:extLst>
            </p:cNvPr>
            <p:cNvSpPr/>
            <p:nvPr/>
          </p:nvSpPr>
          <p:spPr>
            <a:xfrm>
              <a:off x="86723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AC49C1D-E65A-E283-D242-407C87FCEAD3}"/>
                </a:ext>
              </a:extLst>
            </p:cNvPr>
            <p:cNvSpPr/>
            <p:nvPr/>
          </p:nvSpPr>
          <p:spPr>
            <a:xfrm>
              <a:off x="92057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F643AEB-4040-07BB-03F1-A04A08EE1D6F}"/>
                </a:ext>
              </a:extLst>
            </p:cNvPr>
            <p:cNvSpPr/>
            <p:nvPr/>
          </p:nvSpPr>
          <p:spPr>
            <a:xfrm>
              <a:off x="9739761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8FEEA45-B71F-DF2F-C447-4203F387203B}"/>
                </a:ext>
              </a:extLst>
            </p:cNvPr>
            <p:cNvSpPr/>
            <p:nvPr/>
          </p:nvSpPr>
          <p:spPr>
            <a:xfrm>
              <a:off x="10273161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A6253EB-D23C-949B-D5E8-FECD830DEDBA}"/>
                </a:ext>
              </a:extLst>
            </p:cNvPr>
            <p:cNvSpPr txBox="1"/>
            <p:nvPr/>
          </p:nvSpPr>
          <p:spPr>
            <a:xfrm>
              <a:off x="5586710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8F8A93E-79B2-8F25-0DCC-1F3278F661BB}"/>
                </a:ext>
              </a:extLst>
            </p:cNvPr>
            <p:cNvSpPr txBox="1"/>
            <p:nvPr/>
          </p:nvSpPr>
          <p:spPr>
            <a:xfrm>
              <a:off x="6120110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2E633D5-64EB-6BAD-3A62-C08FF0C32E94}"/>
                </a:ext>
              </a:extLst>
            </p:cNvPr>
            <p:cNvSpPr txBox="1"/>
            <p:nvPr/>
          </p:nvSpPr>
          <p:spPr>
            <a:xfrm>
              <a:off x="6654079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4AC8395-5F6E-19CD-15DE-29D1887AD4A5}"/>
                </a:ext>
              </a:extLst>
            </p:cNvPr>
            <p:cNvSpPr txBox="1"/>
            <p:nvPr/>
          </p:nvSpPr>
          <p:spPr>
            <a:xfrm>
              <a:off x="7187479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19110CD-D76E-CFDF-A6D5-AB20E69C641D}"/>
                </a:ext>
              </a:extLst>
            </p:cNvPr>
            <p:cNvSpPr txBox="1"/>
            <p:nvPr/>
          </p:nvSpPr>
          <p:spPr>
            <a:xfrm>
              <a:off x="771846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C3B8112-0CF7-5516-F41D-84C801CEBEE1}"/>
                </a:ext>
              </a:extLst>
            </p:cNvPr>
            <p:cNvSpPr txBox="1"/>
            <p:nvPr/>
          </p:nvSpPr>
          <p:spPr>
            <a:xfrm>
              <a:off x="819649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8D6E652-F5FC-4920-F20E-32A2AA0FEAE2}"/>
                </a:ext>
              </a:extLst>
            </p:cNvPr>
            <p:cNvSpPr txBox="1"/>
            <p:nvPr/>
          </p:nvSpPr>
          <p:spPr>
            <a:xfrm>
              <a:off x="8788248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19347C4-D38D-06D5-33DF-2A348A5382FE}"/>
                </a:ext>
              </a:extLst>
            </p:cNvPr>
            <p:cNvSpPr txBox="1"/>
            <p:nvPr/>
          </p:nvSpPr>
          <p:spPr>
            <a:xfrm>
              <a:off x="9321648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60923D4-A058-7D06-904A-8CC0ECE807D7}"/>
                </a:ext>
              </a:extLst>
            </p:cNvPr>
            <p:cNvSpPr txBox="1"/>
            <p:nvPr/>
          </p:nvSpPr>
          <p:spPr>
            <a:xfrm>
              <a:off x="985561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0CFED6D-86F5-D958-E923-2CC18DA518C3}"/>
                </a:ext>
              </a:extLst>
            </p:cNvPr>
            <p:cNvSpPr txBox="1"/>
            <p:nvPr/>
          </p:nvSpPr>
          <p:spPr>
            <a:xfrm>
              <a:off x="1038901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FC2E6EC-062F-A161-9D0A-D10BDBA2450A}"/>
                </a:ext>
              </a:extLst>
            </p:cNvPr>
            <p:cNvSpPr/>
            <p:nvPr/>
          </p:nvSpPr>
          <p:spPr>
            <a:xfrm>
              <a:off x="1081304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5E124AE-511C-1167-F084-AF9166C40BF1}"/>
                </a:ext>
              </a:extLst>
            </p:cNvPr>
            <p:cNvSpPr txBox="1"/>
            <p:nvPr/>
          </p:nvSpPr>
          <p:spPr>
            <a:xfrm>
              <a:off x="10870777" y="133051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10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63756C4-FFEE-45CE-C290-81DC657DB3F1}"/>
              </a:ext>
            </a:extLst>
          </p:cNvPr>
          <p:cNvGrpSpPr/>
          <p:nvPr/>
        </p:nvGrpSpPr>
        <p:grpSpPr>
          <a:xfrm>
            <a:off x="201742" y="2956422"/>
            <a:ext cx="6934200" cy="3661882"/>
            <a:chOff x="201742" y="2956422"/>
            <a:chExt cx="6934200" cy="366188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87E5112-EE0A-A568-FB0C-800B49EAA828}"/>
                </a:ext>
              </a:extLst>
            </p:cNvPr>
            <p:cNvGrpSpPr/>
            <p:nvPr/>
          </p:nvGrpSpPr>
          <p:grpSpPr>
            <a:xfrm>
              <a:off x="201742" y="2956422"/>
              <a:ext cx="6934200" cy="3661882"/>
              <a:chOff x="2590801" y="2672070"/>
              <a:chExt cx="6934200" cy="3661882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3A30E535-E151-7B10-2482-D4C18A271CB8}"/>
                  </a:ext>
                </a:extLst>
              </p:cNvPr>
              <p:cNvSpPr/>
              <p:nvPr/>
            </p:nvSpPr>
            <p:spPr>
              <a:xfrm>
                <a:off x="5996855" y="267207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16155D8-6880-CAC9-337D-0F3B5F0C2BBB}"/>
                  </a:ext>
                </a:extLst>
              </p:cNvPr>
              <p:cNvSpPr/>
              <p:nvPr/>
            </p:nvSpPr>
            <p:spPr>
              <a:xfrm>
                <a:off x="4191001" y="3682289"/>
                <a:ext cx="688077" cy="68807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6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3701FD1-D85F-35B3-CE7C-6CFF8DCBAC09}"/>
                  </a:ext>
                </a:extLst>
              </p:cNvPr>
              <p:cNvSpPr/>
              <p:nvPr/>
            </p:nvSpPr>
            <p:spPr>
              <a:xfrm>
                <a:off x="7858499" y="3653913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3A6BB66-2DDC-8C2E-6AB0-DA31FC02453E}"/>
                  </a:ext>
                </a:extLst>
              </p:cNvPr>
              <p:cNvSpPr/>
              <p:nvPr/>
            </p:nvSpPr>
            <p:spPr>
              <a:xfrm>
                <a:off x="3200401" y="438350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219BA91-50E2-9B4F-817E-664706C652CC}"/>
                  </a:ext>
                </a:extLst>
              </p:cNvPr>
              <p:cNvSpPr/>
              <p:nvPr/>
            </p:nvSpPr>
            <p:spPr>
              <a:xfrm>
                <a:off x="5211206" y="4425368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3B38612-C965-1385-57E2-DB495D63D40C}"/>
                  </a:ext>
                </a:extLst>
              </p:cNvPr>
              <p:cNvSpPr/>
              <p:nvPr/>
            </p:nvSpPr>
            <p:spPr>
              <a:xfrm>
                <a:off x="6934201" y="434199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C32BE3EF-F957-D7BD-78A2-BE2188A515E4}"/>
                  </a:ext>
                </a:extLst>
              </p:cNvPr>
              <p:cNvSpPr/>
              <p:nvPr/>
            </p:nvSpPr>
            <p:spPr>
              <a:xfrm>
                <a:off x="8836924" y="434199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67A0923A-D958-A1BA-1015-3E54B06E39E1}"/>
                  </a:ext>
                </a:extLst>
              </p:cNvPr>
              <p:cNvSpPr/>
              <p:nvPr/>
            </p:nvSpPr>
            <p:spPr>
              <a:xfrm>
                <a:off x="2590801" y="535274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14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2B9709BB-64D4-3FBE-7884-D1B0484114A6}"/>
                  </a:ext>
                </a:extLst>
              </p:cNvPr>
              <p:cNvSpPr/>
              <p:nvPr/>
            </p:nvSpPr>
            <p:spPr>
              <a:xfrm>
                <a:off x="3733801" y="535274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A089308-EAB4-3DF6-2168-FA9078D82274}"/>
                  </a:ext>
                </a:extLst>
              </p:cNvPr>
              <p:cNvCxnSpPr>
                <a:cxnSpLocks/>
                <a:stCxn id="28" idx="3"/>
                <a:endCxn id="29" idx="7"/>
              </p:cNvCxnSpPr>
              <p:nvPr/>
            </p:nvCxnSpPr>
            <p:spPr>
              <a:xfrm flipH="1">
                <a:off x="4778311" y="3259380"/>
                <a:ext cx="1319311" cy="52367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483BDF66-84DB-ABCB-4020-11642646E088}"/>
                  </a:ext>
                </a:extLst>
              </p:cNvPr>
              <p:cNvCxnSpPr>
                <a:cxnSpLocks/>
                <a:stCxn id="28" idx="5"/>
                <a:endCxn id="30" idx="1"/>
              </p:cNvCxnSpPr>
              <p:nvPr/>
            </p:nvCxnSpPr>
            <p:spPr>
              <a:xfrm>
                <a:off x="6584165" y="3259380"/>
                <a:ext cx="1375101" cy="4953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220F70A-FDDC-7762-B33A-06720ADD3AF7}"/>
                  </a:ext>
                </a:extLst>
              </p:cNvPr>
              <p:cNvCxnSpPr>
                <a:stCxn id="32" idx="1"/>
                <a:endCxn id="29" idx="5"/>
              </p:cNvCxnSpPr>
              <p:nvPr/>
            </p:nvCxnSpPr>
            <p:spPr>
              <a:xfrm flipH="1" flipV="1">
                <a:off x="4778310" y="4269598"/>
                <a:ext cx="533662" cy="2565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56022E8-594C-5224-728B-F2FC6AA874BE}"/>
                  </a:ext>
                </a:extLst>
              </p:cNvPr>
              <p:cNvCxnSpPr>
                <a:stCxn id="31" idx="7"/>
                <a:endCxn id="29" idx="3"/>
              </p:cNvCxnSpPr>
              <p:nvPr/>
            </p:nvCxnSpPr>
            <p:spPr>
              <a:xfrm flipV="1">
                <a:off x="3787711" y="4269598"/>
                <a:ext cx="504057" cy="214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3D94FFD-BC02-5F5A-FF9E-9C49B907172F}"/>
                  </a:ext>
                </a:extLst>
              </p:cNvPr>
              <p:cNvCxnSpPr>
                <a:stCxn id="36" idx="0"/>
                <a:endCxn id="31" idx="5"/>
              </p:cNvCxnSpPr>
              <p:nvPr/>
            </p:nvCxnSpPr>
            <p:spPr>
              <a:xfrm flipH="1" flipV="1">
                <a:off x="3787711" y="4970813"/>
                <a:ext cx="290129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5735856-C128-C713-C639-DB1757598AE1}"/>
                  </a:ext>
                </a:extLst>
              </p:cNvPr>
              <p:cNvCxnSpPr>
                <a:stCxn id="35" idx="0"/>
                <a:endCxn id="31" idx="3"/>
              </p:cNvCxnSpPr>
              <p:nvPr/>
            </p:nvCxnSpPr>
            <p:spPr>
              <a:xfrm flipV="1">
                <a:off x="2934839" y="4970813"/>
                <a:ext cx="366328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A8E5DDDC-1F60-E1BD-ED97-8C6BDFE31483}"/>
                  </a:ext>
                </a:extLst>
              </p:cNvPr>
              <p:cNvCxnSpPr>
                <a:stCxn id="33" idx="7"/>
                <a:endCxn id="30" idx="3"/>
              </p:cNvCxnSpPr>
              <p:nvPr/>
            </p:nvCxnSpPr>
            <p:spPr>
              <a:xfrm flipV="1">
                <a:off x="7521511" y="4241222"/>
                <a:ext cx="437755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202118E8-FE37-1B94-60E7-FF8DC87A02DF}"/>
                  </a:ext>
                </a:extLst>
              </p:cNvPr>
              <p:cNvCxnSpPr>
                <a:stCxn id="34" idx="1"/>
                <a:endCxn id="30" idx="5"/>
              </p:cNvCxnSpPr>
              <p:nvPr/>
            </p:nvCxnSpPr>
            <p:spPr>
              <a:xfrm flipH="1" flipV="1">
                <a:off x="8445808" y="4241222"/>
                <a:ext cx="491882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3F51C00-7BE4-C71B-CEC9-78F3E393B278}"/>
                  </a:ext>
                </a:extLst>
              </p:cNvPr>
              <p:cNvSpPr txBox="1"/>
              <p:nvPr/>
            </p:nvSpPr>
            <p:spPr>
              <a:xfrm>
                <a:off x="6190049" y="337129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E00191F-101E-453F-E05F-F79326EF7FFB}"/>
                  </a:ext>
                </a:extLst>
              </p:cNvPr>
              <p:cNvSpPr txBox="1"/>
              <p:nvPr/>
            </p:nvSpPr>
            <p:spPr>
              <a:xfrm>
                <a:off x="4384195" y="4377091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2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B19AC53-E3AB-F92F-CA0A-7EC078433879}"/>
                  </a:ext>
                </a:extLst>
              </p:cNvPr>
              <p:cNvSpPr txBox="1"/>
              <p:nvPr/>
            </p:nvSpPr>
            <p:spPr>
              <a:xfrm>
                <a:off x="8051693" y="431669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3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A690ADD-9D72-5CFC-ABA4-CFD3482C08B4}"/>
                  </a:ext>
                </a:extLst>
              </p:cNvPr>
              <p:cNvSpPr txBox="1"/>
              <p:nvPr/>
            </p:nvSpPr>
            <p:spPr>
              <a:xfrm>
                <a:off x="3352081" y="507158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4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25CA634-CACD-54BE-4661-54DEF3A780C5}"/>
                  </a:ext>
                </a:extLst>
              </p:cNvPr>
              <p:cNvSpPr txBox="1"/>
              <p:nvPr/>
            </p:nvSpPr>
            <p:spPr>
              <a:xfrm>
                <a:off x="7122005" y="5012677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6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F6D568-E05C-26F2-EBD8-57839FC7687F}"/>
                  </a:ext>
                </a:extLst>
              </p:cNvPr>
              <p:cNvSpPr txBox="1"/>
              <p:nvPr/>
            </p:nvSpPr>
            <p:spPr>
              <a:xfrm>
                <a:off x="5404400" y="5108902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5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E1DFACA-646B-2F3B-1F0D-554B10C6DCB7}"/>
                  </a:ext>
                </a:extLst>
              </p:cNvPr>
              <p:cNvSpPr txBox="1"/>
              <p:nvPr/>
            </p:nvSpPr>
            <p:spPr>
              <a:xfrm>
                <a:off x="9030118" y="503006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7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96EE955-07B4-4EE0-219A-7BF193FD11F3}"/>
                  </a:ext>
                </a:extLst>
              </p:cNvPr>
              <p:cNvSpPr txBox="1"/>
              <p:nvPr/>
            </p:nvSpPr>
            <p:spPr>
              <a:xfrm>
                <a:off x="2783996" y="59646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8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AE0ABF5-B591-93A9-75F6-25B4A6AB23BE}"/>
                  </a:ext>
                </a:extLst>
              </p:cNvPr>
              <p:cNvSpPr txBox="1"/>
              <p:nvPr/>
            </p:nvSpPr>
            <p:spPr>
              <a:xfrm>
                <a:off x="3920467" y="59646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9</a:t>
                </a:r>
              </a:p>
            </p:txBody>
          </p:sp>
        </p:grp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76035EC9-3610-8FDE-B3D0-38593B0EF572}"/>
                </a:ext>
              </a:extLst>
            </p:cNvPr>
            <p:cNvSpPr/>
            <p:nvPr/>
          </p:nvSpPr>
          <p:spPr>
            <a:xfrm>
              <a:off x="2330369" y="5636036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001DADF-BD70-7B05-56C0-31B3799F72C0}"/>
                </a:ext>
              </a:extLst>
            </p:cNvPr>
            <p:cNvCxnSpPr>
              <a:cxnSpLocks/>
              <a:stCxn id="54" idx="0"/>
              <a:endCxn id="32" idx="3"/>
            </p:cNvCxnSpPr>
            <p:nvPr/>
          </p:nvCxnSpPr>
          <p:spPr>
            <a:xfrm flipV="1">
              <a:off x="2674408" y="5297030"/>
              <a:ext cx="248506" cy="3390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4CC9DA3-E3B4-4532-1F70-7E2BF83F9167}"/>
                </a:ext>
              </a:extLst>
            </p:cNvPr>
            <p:cNvSpPr txBox="1"/>
            <p:nvPr/>
          </p:nvSpPr>
          <p:spPr>
            <a:xfrm>
              <a:off x="2446730" y="6243373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10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B43941B0-86D8-D533-366D-B46802C30744}"/>
              </a:ext>
            </a:extLst>
          </p:cNvPr>
          <p:cNvSpPr txBox="1"/>
          <p:nvPr/>
        </p:nvSpPr>
        <p:spPr>
          <a:xfrm>
            <a:off x="737595" y="3266383"/>
            <a:ext cx="2376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Violate Heap Property!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4902B8-F5AB-50D9-18C4-FF07B8E03412}"/>
              </a:ext>
            </a:extLst>
          </p:cNvPr>
          <p:cNvSpPr txBox="1"/>
          <p:nvPr/>
        </p:nvSpPr>
        <p:spPr>
          <a:xfrm>
            <a:off x="8434060" y="4571102"/>
            <a:ext cx="32637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buildHeap</a:t>
            </a:r>
            <a:r>
              <a:rPr lang="en-US" sz="2400" dirty="0"/>
              <a:t>(){</a:t>
            </a:r>
          </a:p>
          <a:p>
            <a:r>
              <a:rPr lang="en-US" sz="2400" dirty="0"/>
              <a:t>    for(int </a:t>
            </a:r>
            <a:r>
              <a:rPr lang="en-US" sz="2400" dirty="0" err="1"/>
              <a:t>i</a:t>
            </a:r>
            <a:r>
              <a:rPr lang="en-US" sz="2400" dirty="0"/>
              <a:t> = size; </a:t>
            </a:r>
            <a:r>
              <a:rPr lang="en-US" sz="2400" dirty="0" err="1"/>
              <a:t>i</a:t>
            </a:r>
            <a:r>
              <a:rPr lang="en-US" sz="2400" dirty="0"/>
              <a:t>&gt;0; </a:t>
            </a:r>
            <a:r>
              <a:rPr lang="en-US" sz="2400" dirty="0" err="1"/>
              <a:t>i</a:t>
            </a:r>
            <a:r>
              <a:rPr lang="en-US" sz="2400" dirty="0"/>
              <a:t>--){</a:t>
            </a:r>
          </a:p>
          <a:p>
            <a:r>
              <a:rPr lang="en-US" sz="2400" dirty="0"/>
              <a:t>        </a:t>
            </a:r>
            <a:r>
              <a:rPr lang="en-US" sz="2400" dirty="0" err="1"/>
              <a:t>percolateDown</a:t>
            </a:r>
            <a:r>
              <a:rPr lang="en-US" sz="2400" dirty="0"/>
              <a:t>(</a:t>
            </a:r>
            <a:r>
              <a:rPr lang="en-US" sz="2400" dirty="0" err="1"/>
              <a:t>i</a:t>
            </a:r>
            <a:r>
              <a:rPr lang="en-US" sz="2400" dirty="0"/>
              <a:t>);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149931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F2A4A-E8D3-7F93-AD14-D6B2FD99D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Floyd’s </a:t>
            </a:r>
            <a:r>
              <a:rPr lang="en-US" dirty="0" err="1"/>
              <a:t>buildHeap</a:t>
            </a:r>
            <a:r>
              <a:rPr lang="en-US" dirty="0"/>
              <a:t>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AF3C39-C718-C590-CB20-0AC3D97ADF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we had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items and wanted to “</a:t>
                </a:r>
                <a:r>
                  <a:rPr lang="en-US" dirty="0" err="1"/>
                  <a:t>heapify</a:t>
                </a:r>
                <a:r>
                  <a:rPr lang="en-US" dirty="0"/>
                  <a:t>” them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AF3C39-C718-C590-CB20-0AC3D97ADF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D2C070FD-E606-FE96-DBE1-D6B50F960BB6}"/>
              </a:ext>
            </a:extLst>
          </p:cNvPr>
          <p:cNvGrpSpPr/>
          <p:nvPr/>
        </p:nvGrpSpPr>
        <p:grpSpPr>
          <a:xfrm>
            <a:off x="5917894" y="2956422"/>
            <a:ext cx="5875588" cy="945155"/>
            <a:chOff x="5470854" y="754688"/>
            <a:chExt cx="5875588" cy="94515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82E85FD-4B9F-2A0B-306D-32BA73343EB3}"/>
                </a:ext>
              </a:extLst>
            </p:cNvPr>
            <p:cNvSpPr/>
            <p:nvPr/>
          </p:nvSpPr>
          <p:spPr>
            <a:xfrm>
              <a:off x="5470854" y="754688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33CD6EB-1593-D211-04E7-2CDD96133A79}"/>
                </a:ext>
              </a:extLst>
            </p:cNvPr>
            <p:cNvSpPr/>
            <p:nvPr/>
          </p:nvSpPr>
          <p:spPr>
            <a:xfrm>
              <a:off x="6004254" y="754688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6A20C82-14BA-14B7-33D2-B02F05244D80}"/>
                </a:ext>
              </a:extLst>
            </p:cNvPr>
            <p:cNvSpPr/>
            <p:nvPr/>
          </p:nvSpPr>
          <p:spPr>
            <a:xfrm>
              <a:off x="65382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6678D84-16F3-310C-AADC-7A181CCDF23C}"/>
                </a:ext>
              </a:extLst>
            </p:cNvPr>
            <p:cNvSpPr/>
            <p:nvPr/>
          </p:nvSpPr>
          <p:spPr>
            <a:xfrm>
              <a:off x="70716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BBF6A4D-F237-D175-3581-18514FECFB50}"/>
                </a:ext>
              </a:extLst>
            </p:cNvPr>
            <p:cNvSpPr/>
            <p:nvPr/>
          </p:nvSpPr>
          <p:spPr>
            <a:xfrm>
              <a:off x="76050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EA7CA55-613D-E569-F87A-36A82B8A4197}"/>
                </a:ext>
              </a:extLst>
            </p:cNvPr>
            <p:cNvSpPr/>
            <p:nvPr/>
          </p:nvSpPr>
          <p:spPr>
            <a:xfrm>
              <a:off x="81389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4DBAC75-85FF-A5C5-3308-0652E69855B9}"/>
                </a:ext>
              </a:extLst>
            </p:cNvPr>
            <p:cNvSpPr/>
            <p:nvPr/>
          </p:nvSpPr>
          <p:spPr>
            <a:xfrm>
              <a:off x="86723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AC49C1D-E65A-E283-D242-407C87FCEAD3}"/>
                </a:ext>
              </a:extLst>
            </p:cNvPr>
            <p:cNvSpPr/>
            <p:nvPr/>
          </p:nvSpPr>
          <p:spPr>
            <a:xfrm>
              <a:off x="92057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F643AEB-4040-07BB-03F1-A04A08EE1D6F}"/>
                </a:ext>
              </a:extLst>
            </p:cNvPr>
            <p:cNvSpPr/>
            <p:nvPr/>
          </p:nvSpPr>
          <p:spPr>
            <a:xfrm>
              <a:off x="9739761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8FEEA45-B71F-DF2F-C447-4203F387203B}"/>
                </a:ext>
              </a:extLst>
            </p:cNvPr>
            <p:cNvSpPr/>
            <p:nvPr/>
          </p:nvSpPr>
          <p:spPr>
            <a:xfrm>
              <a:off x="10273161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A6253EB-D23C-949B-D5E8-FECD830DEDBA}"/>
                </a:ext>
              </a:extLst>
            </p:cNvPr>
            <p:cNvSpPr txBox="1"/>
            <p:nvPr/>
          </p:nvSpPr>
          <p:spPr>
            <a:xfrm>
              <a:off x="5586710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8F8A93E-79B2-8F25-0DCC-1F3278F661BB}"/>
                </a:ext>
              </a:extLst>
            </p:cNvPr>
            <p:cNvSpPr txBox="1"/>
            <p:nvPr/>
          </p:nvSpPr>
          <p:spPr>
            <a:xfrm>
              <a:off x="6120110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2E633D5-64EB-6BAD-3A62-C08FF0C32E94}"/>
                </a:ext>
              </a:extLst>
            </p:cNvPr>
            <p:cNvSpPr txBox="1"/>
            <p:nvPr/>
          </p:nvSpPr>
          <p:spPr>
            <a:xfrm>
              <a:off x="6654079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4AC8395-5F6E-19CD-15DE-29D1887AD4A5}"/>
                </a:ext>
              </a:extLst>
            </p:cNvPr>
            <p:cNvSpPr txBox="1"/>
            <p:nvPr/>
          </p:nvSpPr>
          <p:spPr>
            <a:xfrm>
              <a:off x="7187479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19110CD-D76E-CFDF-A6D5-AB20E69C641D}"/>
                </a:ext>
              </a:extLst>
            </p:cNvPr>
            <p:cNvSpPr txBox="1"/>
            <p:nvPr/>
          </p:nvSpPr>
          <p:spPr>
            <a:xfrm>
              <a:off x="771846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C3B8112-0CF7-5516-F41D-84C801CEBEE1}"/>
                </a:ext>
              </a:extLst>
            </p:cNvPr>
            <p:cNvSpPr txBox="1"/>
            <p:nvPr/>
          </p:nvSpPr>
          <p:spPr>
            <a:xfrm>
              <a:off x="819649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8D6E652-F5FC-4920-F20E-32A2AA0FEAE2}"/>
                </a:ext>
              </a:extLst>
            </p:cNvPr>
            <p:cNvSpPr txBox="1"/>
            <p:nvPr/>
          </p:nvSpPr>
          <p:spPr>
            <a:xfrm>
              <a:off x="8788248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19347C4-D38D-06D5-33DF-2A348A5382FE}"/>
                </a:ext>
              </a:extLst>
            </p:cNvPr>
            <p:cNvSpPr txBox="1"/>
            <p:nvPr/>
          </p:nvSpPr>
          <p:spPr>
            <a:xfrm>
              <a:off x="9321648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60923D4-A058-7D06-904A-8CC0ECE807D7}"/>
                </a:ext>
              </a:extLst>
            </p:cNvPr>
            <p:cNvSpPr txBox="1"/>
            <p:nvPr/>
          </p:nvSpPr>
          <p:spPr>
            <a:xfrm>
              <a:off x="985561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0CFED6D-86F5-D958-E923-2CC18DA518C3}"/>
                </a:ext>
              </a:extLst>
            </p:cNvPr>
            <p:cNvSpPr txBox="1"/>
            <p:nvPr/>
          </p:nvSpPr>
          <p:spPr>
            <a:xfrm>
              <a:off x="1038901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FC2E6EC-062F-A161-9D0A-D10BDBA2450A}"/>
                </a:ext>
              </a:extLst>
            </p:cNvPr>
            <p:cNvSpPr/>
            <p:nvPr/>
          </p:nvSpPr>
          <p:spPr>
            <a:xfrm>
              <a:off x="1081304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5E124AE-511C-1167-F084-AF9166C40BF1}"/>
                </a:ext>
              </a:extLst>
            </p:cNvPr>
            <p:cNvSpPr txBox="1"/>
            <p:nvPr/>
          </p:nvSpPr>
          <p:spPr>
            <a:xfrm>
              <a:off x="10870777" y="133051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10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63756C4-FFEE-45CE-C290-81DC657DB3F1}"/>
              </a:ext>
            </a:extLst>
          </p:cNvPr>
          <p:cNvGrpSpPr/>
          <p:nvPr/>
        </p:nvGrpSpPr>
        <p:grpSpPr>
          <a:xfrm>
            <a:off x="201742" y="2956422"/>
            <a:ext cx="6934200" cy="3661882"/>
            <a:chOff x="201742" y="2956422"/>
            <a:chExt cx="6934200" cy="366188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87E5112-EE0A-A568-FB0C-800B49EAA828}"/>
                </a:ext>
              </a:extLst>
            </p:cNvPr>
            <p:cNvGrpSpPr/>
            <p:nvPr/>
          </p:nvGrpSpPr>
          <p:grpSpPr>
            <a:xfrm>
              <a:off x="201742" y="2956422"/>
              <a:ext cx="6934200" cy="3661882"/>
              <a:chOff x="2590801" y="2672070"/>
              <a:chExt cx="6934200" cy="3661882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3A30E535-E151-7B10-2482-D4C18A271CB8}"/>
                  </a:ext>
                </a:extLst>
              </p:cNvPr>
              <p:cNvSpPr/>
              <p:nvPr/>
            </p:nvSpPr>
            <p:spPr>
              <a:xfrm>
                <a:off x="5996855" y="2672070"/>
                <a:ext cx="688077" cy="68807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5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16155D8-6880-CAC9-337D-0F3B5F0C2BBB}"/>
                  </a:ext>
                </a:extLst>
              </p:cNvPr>
              <p:cNvSpPr/>
              <p:nvPr/>
            </p:nvSpPr>
            <p:spPr>
              <a:xfrm>
                <a:off x="4191001" y="3682289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3701FD1-D85F-35B3-CE7C-6CFF8DCBAC09}"/>
                  </a:ext>
                </a:extLst>
              </p:cNvPr>
              <p:cNvSpPr/>
              <p:nvPr/>
            </p:nvSpPr>
            <p:spPr>
              <a:xfrm>
                <a:off x="7858499" y="3653913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3A6BB66-2DDC-8C2E-6AB0-DA31FC02453E}"/>
                  </a:ext>
                </a:extLst>
              </p:cNvPr>
              <p:cNvSpPr/>
              <p:nvPr/>
            </p:nvSpPr>
            <p:spPr>
              <a:xfrm>
                <a:off x="3200401" y="438350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219BA91-50E2-9B4F-817E-664706C652CC}"/>
                  </a:ext>
                </a:extLst>
              </p:cNvPr>
              <p:cNvSpPr/>
              <p:nvPr/>
            </p:nvSpPr>
            <p:spPr>
              <a:xfrm>
                <a:off x="5211206" y="4425368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3B38612-C965-1385-57E2-DB495D63D40C}"/>
                  </a:ext>
                </a:extLst>
              </p:cNvPr>
              <p:cNvSpPr/>
              <p:nvPr/>
            </p:nvSpPr>
            <p:spPr>
              <a:xfrm>
                <a:off x="6934201" y="434199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C32BE3EF-F957-D7BD-78A2-BE2188A515E4}"/>
                  </a:ext>
                </a:extLst>
              </p:cNvPr>
              <p:cNvSpPr/>
              <p:nvPr/>
            </p:nvSpPr>
            <p:spPr>
              <a:xfrm>
                <a:off x="8836924" y="434199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67A0923A-D958-A1BA-1015-3E54B06E39E1}"/>
                  </a:ext>
                </a:extLst>
              </p:cNvPr>
              <p:cNvSpPr/>
              <p:nvPr/>
            </p:nvSpPr>
            <p:spPr>
              <a:xfrm>
                <a:off x="2590801" y="535274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14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2B9709BB-64D4-3FBE-7884-D1B0484114A6}"/>
                  </a:ext>
                </a:extLst>
              </p:cNvPr>
              <p:cNvSpPr/>
              <p:nvPr/>
            </p:nvSpPr>
            <p:spPr>
              <a:xfrm>
                <a:off x="3733801" y="535274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A089308-EAB4-3DF6-2168-FA9078D82274}"/>
                  </a:ext>
                </a:extLst>
              </p:cNvPr>
              <p:cNvCxnSpPr>
                <a:cxnSpLocks/>
                <a:stCxn id="28" idx="3"/>
                <a:endCxn id="29" idx="7"/>
              </p:cNvCxnSpPr>
              <p:nvPr/>
            </p:nvCxnSpPr>
            <p:spPr>
              <a:xfrm flipH="1">
                <a:off x="4778311" y="3259380"/>
                <a:ext cx="1319311" cy="52367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483BDF66-84DB-ABCB-4020-11642646E088}"/>
                  </a:ext>
                </a:extLst>
              </p:cNvPr>
              <p:cNvCxnSpPr>
                <a:cxnSpLocks/>
                <a:stCxn id="28" idx="5"/>
                <a:endCxn id="30" idx="1"/>
              </p:cNvCxnSpPr>
              <p:nvPr/>
            </p:nvCxnSpPr>
            <p:spPr>
              <a:xfrm>
                <a:off x="6584165" y="3259380"/>
                <a:ext cx="1375101" cy="4953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220F70A-FDDC-7762-B33A-06720ADD3AF7}"/>
                  </a:ext>
                </a:extLst>
              </p:cNvPr>
              <p:cNvCxnSpPr>
                <a:stCxn id="32" idx="1"/>
                <a:endCxn id="29" idx="5"/>
              </p:cNvCxnSpPr>
              <p:nvPr/>
            </p:nvCxnSpPr>
            <p:spPr>
              <a:xfrm flipH="1" flipV="1">
                <a:off x="4778310" y="4269598"/>
                <a:ext cx="533662" cy="2565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56022E8-594C-5224-728B-F2FC6AA874BE}"/>
                  </a:ext>
                </a:extLst>
              </p:cNvPr>
              <p:cNvCxnSpPr>
                <a:stCxn id="31" idx="7"/>
                <a:endCxn id="29" idx="3"/>
              </p:cNvCxnSpPr>
              <p:nvPr/>
            </p:nvCxnSpPr>
            <p:spPr>
              <a:xfrm flipV="1">
                <a:off x="3787711" y="4269598"/>
                <a:ext cx="504057" cy="214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3D94FFD-BC02-5F5A-FF9E-9C49B907172F}"/>
                  </a:ext>
                </a:extLst>
              </p:cNvPr>
              <p:cNvCxnSpPr>
                <a:stCxn id="36" idx="0"/>
                <a:endCxn id="31" idx="5"/>
              </p:cNvCxnSpPr>
              <p:nvPr/>
            </p:nvCxnSpPr>
            <p:spPr>
              <a:xfrm flipH="1" flipV="1">
                <a:off x="3787711" y="4970813"/>
                <a:ext cx="290129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5735856-C128-C713-C639-DB1757598AE1}"/>
                  </a:ext>
                </a:extLst>
              </p:cNvPr>
              <p:cNvCxnSpPr>
                <a:stCxn id="35" idx="0"/>
                <a:endCxn id="31" idx="3"/>
              </p:cNvCxnSpPr>
              <p:nvPr/>
            </p:nvCxnSpPr>
            <p:spPr>
              <a:xfrm flipV="1">
                <a:off x="2934839" y="4970813"/>
                <a:ext cx="366328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A8E5DDDC-1F60-E1BD-ED97-8C6BDFE31483}"/>
                  </a:ext>
                </a:extLst>
              </p:cNvPr>
              <p:cNvCxnSpPr>
                <a:stCxn id="33" idx="7"/>
                <a:endCxn id="30" idx="3"/>
              </p:cNvCxnSpPr>
              <p:nvPr/>
            </p:nvCxnSpPr>
            <p:spPr>
              <a:xfrm flipV="1">
                <a:off x="7521511" y="4241222"/>
                <a:ext cx="437755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202118E8-FE37-1B94-60E7-FF8DC87A02DF}"/>
                  </a:ext>
                </a:extLst>
              </p:cNvPr>
              <p:cNvCxnSpPr>
                <a:stCxn id="34" idx="1"/>
                <a:endCxn id="30" idx="5"/>
              </p:cNvCxnSpPr>
              <p:nvPr/>
            </p:nvCxnSpPr>
            <p:spPr>
              <a:xfrm flipH="1" flipV="1">
                <a:off x="8445808" y="4241222"/>
                <a:ext cx="491882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3F51C00-7BE4-C71B-CEC9-78F3E393B278}"/>
                  </a:ext>
                </a:extLst>
              </p:cNvPr>
              <p:cNvSpPr txBox="1"/>
              <p:nvPr/>
            </p:nvSpPr>
            <p:spPr>
              <a:xfrm>
                <a:off x="6190049" y="337129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E00191F-101E-453F-E05F-F79326EF7FFB}"/>
                  </a:ext>
                </a:extLst>
              </p:cNvPr>
              <p:cNvSpPr txBox="1"/>
              <p:nvPr/>
            </p:nvSpPr>
            <p:spPr>
              <a:xfrm>
                <a:off x="4384195" y="4377091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2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B19AC53-E3AB-F92F-CA0A-7EC078433879}"/>
                  </a:ext>
                </a:extLst>
              </p:cNvPr>
              <p:cNvSpPr txBox="1"/>
              <p:nvPr/>
            </p:nvSpPr>
            <p:spPr>
              <a:xfrm>
                <a:off x="8051693" y="431669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3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A690ADD-9D72-5CFC-ABA4-CFD3482C08B4}"/>
                  </a:ext>
                </a:extLst>
              </p:cNvPr>
              <p:cNvSpPr txBox="1"/>
              <p:nvPr/>
            </p:nvSpPr>
            <p:spPr>
              <a:xfrm>
                <a:off x="3352081" y="507158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4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25CA634-CACD-54BE-4661-54DEF3A780C5}"/>
                  </a:ext>
                </a:extLst>
              </p:cNvPr>
              <p:cNvSpPr txBox="1"/>
              <p:nvPr/>
            </p:nvSpPr>
            <p:spPr>
              <a:xfrm>
                <a:off x="7122005" y="5012677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6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F6D568-E05C-26F2-EBD8-57839FC7687F}"/>
                  </a:ext>
                </a:extLst>
              </p:cNvPr>
              <p:cNvSpPr txBox="1"/>
              <p:nvPr/>
            </p:nvSpPr>
            <p:spPr>
              <a:xfrm>
                <a:off x="5404400" y="5108902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5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E1DFACA-646B-2F3B-1F0D-554B10C6DCB7}"/>
                  </a:ext>
                </a:extLst>
              </p:cNvPr>
              <p:cNvSpPr txBox="1"/>
              <p:nvPr/>
            </p:nvSpPr>
            <p:spPr>
              <a:xfrm>
                <a:off x="9030118" y="503006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7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96EE955-07B4-4EE0-219A-7BF193FD11F3}"/>
                  </a:ext>
                </a:extLst>
              </p:cNvPr>
              <p:cNvSpPr txBox="1"/>
              <p:nvPr/>
            </p:nvSpPr>
            <p:spPr>
              <a:xfrm>
                <a:off x="2783996" y="59646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8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AE0ABF5-B591-93A9-75F6-25B4A6AB23BE}"/>
                  </a:ext>
                </a:extLst>
              </p:cNvPr>
              <p:cNvSpPr txBox="1"/>
              <p:nvPr/>
            </p:nvSpPr>
            <p:spPr>
              <a:xfrm>
                <a:off x="3920467" y="59646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9</a:t>
                </a:r>
              </a:p>
            </p:txBody>
          </p:sp>
        </p:grp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76035EC9-3610-8FDE-B3D0-38593B0EF572}"/>
                </a:ext>
              </a:extLst>
            </p:cNvPr>
            <p:cNvSpPr/>
            <p:nvPr/>
          </p:nvSpPr>
          <p:spPr>
            <a:xfrm>
              <a:off x="2330369" y="5636036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001DADF-BD70-7B05-56C0-31B3799F72C0}"/>
                </a:ext>
              </a:extLst>
            </p:cNvPr>
            <p:cNvCxnSpPr>
              <a:cxnSpLocks/>
              <a:stCxn id="54" idx="0"/>
              <a:endCxn id="32" idx="3"/>
            </p:cNvCxnSpPr>
            <p:nvPr/>
          </p:nvCxnSpPr>
          <p:spPr>
            <a:xfrm flipV="1">
              <a:off x="2674408" y="5297030"/>
              <a:ext cx="248506" cy="3390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4CC9DA3-E3B4-4532-1F70-7E2BF83F9167}"/>
                </a:ext>
              </a:extLst>
            </p:cNvPr>
            <p:cNvSpPr txBox="1"/>
            <p:nvPr/>
          </p:nvSpPr>
          <p:spPr>
            <a:xfrm>
              <a:off x="2446730" y="6243373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10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B43941B0-86D8-D533-366D-B46802C30744}"/>
              </a:ext>
            </a:extLst>
          </p:cNvPr>
          <p:cNvSpPr txBox="1"/>
          <p:nvPr/>
        </p:nvSpPr>
        <p:spPr>
          <a:xfrm>
            <a:off x="737595" y="3266383"/>
            <a:ext cx="2376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Violate Heap Property!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4902B8-F5AB-50D9-18C4-FF07B8E03412}"/>
              </a:ext>
            </a:extLst>
          </p:cNvPr>
          <p:cNvSpPr txBox="1"/>
          <p:nvPr/>
        </p:nvSpPr>
        <p:spPr>
          <a:xfrm>
            <a:off x="8434060" y="4571102"/>
            <a:ext cx="32637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buildHeap</a:t>
            </a:r>
            <a:r>
              <a:rPr lang="en-US" sz="2400" dirty="0"/>
              <a:t>(){</a:t>
            </a:r>
          </a:p>
          <a:p>
            <a:r>
              <a:rPr lang="en-US" sz="2400" dirty="0"/>
              <a:t>    for(int </a:t>
            </a:r>
            <a:r>
              <a:rPr lang="en-US" sz="2400" dirty="0" err="1"/>
              <a:t>i</a:t>
            </a:r>
            <a:r>
              <a:rPr lang="en-US" sz="2400" dirty="0"/>
              <a:t> = size; </a:t>
            </a:r>
            <a:r>
              <a:rPr lang="en-US" sz="2400" dirty="0" err="1"/>
              <a:t>i</a:t>
            </a:r>
            <a:r>
              <a:rPr lang="en-US" sz="2400" dirty="0"/>
              <a:t>&gt;0; </a:t>
            </a:r>
            <a:r>
              <a:rPr lang="en-US" sz="2400" dirty="0" err="1"/>
              <a:t>i</a:t>
            </a:r>
            <a:r>
              <a:rPr lang="en-US" sz="2400" dirty="0"/>
              <a:t>--){</a:t>
            </a:r>
          </a:p>
          <a:p>
            <a:r>
              <a:rPr lang="en-US" sz="2400" dirty="0"/>
              <a:t>        </a:t>
            </a:r>
            <a:r>
              <a:rPr lang="en-US" sz="2400" dirty="0" err="1"/>
              <a:t>percolateDown</a:t>
            </a:r>
            <a:r>
              <a:rPr lang="en-US" sz="2400" dirty="0"/>
              <a:t>(</a:t>
            </a:r>
            <a:r>
              <a:rPr lang="en-US" sz="2400" dirty="0" err="1"/>
              <a:t>i</a:t>
            </a:r>
            <a:r>
              <a:rPr lang="en-US" sz="2400" dirty="0"/>
              <a:t>);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96153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F2A4A-E8D3-7F93-AD14-D6B2FD99D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Floyd’s </a:t>
            </a:r>
            <a:r>
              <a:rPr lang="en-US" dirty="0" err="1"/>
              <a:t>buildHeap</a:t>
            </a:r>
            <a:r>
              <a:rPr lang="en-US" dirty="0"/>
              <a:t>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AF3C39-C718-C590-CB20-0AC3D97ADF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we had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items and wanted to “</a:t>
                </a:r>
                <a:r>
                  <a:rPr lang="en-US" dirty="0" err="1"/>
                  <a:t>heapify</a:t>
                </a:r>
                <a:r>
                  <a:rPr lang="en-US" dirty="0"/>
                  <a:t>” them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AF3C39-C718-C590-CB20-0AC3D97ADF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D2C070FD-E606-FE96-DBE1-D6B50F960BB6}"/>
              </a:ext>
            </a:extLst>
          </p:cNvPr>
          <p:cNvGrpSpPr/>
          <p:nvPr/>
        </p:nvGrpSpPr>
        <p:grpSpPr>
          <a:xfrm>
            <a:off x="5917894" y="2956422"/>
            <a:ext cx="5875588" cy="945155"/>
            <a:chOff x="5470854" y="754688"/>
            <a:chExt cx="5875588" cy="94515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82E85FD-4B9F-2A0B-306D-32BA73343EB3}"/>
                </a:ext>
              </a:extLst>
            </p:cNvPr>
            <p:cNvSpPr/>
            <p:nvPr/>
          </p:nvSpPr>
          <p:spPr>
            <a:xfrm>
              <a:off x="5470854" y="754688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33CD6EB-1593-D211-04E7-2CDD96133A79}"/>
                </a:ext>
              </a:extLst>
            </p:cNvPr>
            <p:cNvSpPr/>
            <p:nvPr/>
          </p:nvSpPr>
          <p:spPr>
            <a:xfrm>
              <a:off x="6004254" y="754688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6A20C82-14BA-14B7-33D2-B02F05244D80}"/>
                </a:ext>
              </a:extLst>
            </p:cNvPr>
            <p:cNvSpPr/>
            <p:nvPr/>
          </p:nvSpPr>
          <p:spPr>
            <a:xfrm>
              <a:off x="65382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6678D84-16F3-310C-AADC-7A181CCDF23C}"/>
                </a:ext>
              </a:extLst>
            </p:cNvPr>
            <p:cNvSpPr/>
            <p:nvPr/>
          </p:nvSpPr>
          <p:spPr>
            <a:xfrm>
              <a:off x="70716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BBF6A4D-F237-D175-3581-18514FECFB50}"/>
                </a:ext>
              </a:extLst>
            </p:cNvPr>
            <p:cNvSpPr/>
            <p:nvPr/>
          </p:nvSpPr>
          <p:spPr>
            <a:xfrm>
              <a:off x="76050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EA7CA55-613D-E569-F87A-36A82B8A4197}"/>
                </a:ext>
              </a:extLst>
            </p:cNvPr>
            <p:cNvSpPr/>
            <p:nvPr/>
          </p:nvSpPr>
          <p:spPr>
            <a:xfrm>
              <a:off x="81389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4DBAC75-85FF-A5C5-3308-0652E69855B9}"/>
                </a:ext>
              </a:extLst>
            </p:cNvPr>
            <p:cNvSpPr/>
            <p:nvPr/>
          </p:nvSpPr>
          <p:spPr>
            <a:xfrm>
              <a:off x="86723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AC49C1D-E65A-E283-D242-407C87FCEAD3}"/>
                </a:ext>
              </a:extLst>
            </p:cNvPr>
            <p:cNvSpPr/>
            <p:nvPr/>
          </p:nvSpPr>
          <p:spPr>
            <a:xfrm>
              <a:off x="92057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F643AEB-4040-07BB-03F1-A04A08EE1D6F}"/>
                </a:ext>
              </a:extLst>
            </p:cNvPr>
            <p:cNvSpPr/>
            <p:nvPr/>
          </p:nvSpPr>
          <p:spPr>
            <a:xfrm>
              <a:off x="9739761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8FEEA45-B71F-DF2F-C447-4203F387203B}"/>
                </a:ext>
              </a:extLst>
            </p:cNvPr>
            <p:cNvSpPr/>
            <p:nvPr/>
          </p:nvSpPr>
          <p:spPr>
            <a:xfrm>
              <a:off x="10273161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A6253EB-D23C-949B-D5E8-FECD830DEDBA}"/>
                </a:ext>
              </a:extLst>
            </p:cNvPr>
            <p:cNvSpPr txBox="1"/>
            <p:nvPr/>
          </p:nvSpPr>
          <p:spPr>
            <a:xfrm>
              <a:off x="5586710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8F8A93E-79B2-8F25-0DCC-1F3278F661BB}"/>
                </a:ext>
              </a:extLst>
            </p:cNvPr>
            <p:cNvSpPr txBox="1"/>
            <p:nvPr/>
          </p:nvSpPr>
          <p:spPr>
            <a:xfrm>
              <a:off x="6120110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2E633D5-64EB-6BAD-3A62-C08FF0C32E94}"/>
                </a:ext>
              </a:extLst>
            </p:cNvPr>
            <p:cNvSpPr txBox="1"/>
            <p:nvPr/>
          </p:nvSpPr>
          <p:spPr>
            <a:xfrm>
              <a:off x="6654079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4AC8395-5F6E-19CD-15DE-29D1887AD4A5}"/>
                </a:ext>
              </a:extLst>
            </p:cNvPr>
            <p:cNvSpPr txBox="1"/>
            <p:nvPr/>
          </p:nvSpPr>
          <p:spPr>
            <a:xfrm>
              <a:off x="7187479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19110CD-D76E-CFDF-A6D5-AB20E69C641D}"/>
                </a:ext>
              </a:extLst>
            </p:cNvPr>
            <p:cNvSpPr txBox="1"/>
            <p:nvPr/>
          </p:nvSpPr>
          <p:spPr>
            <a:xfrm>
              <a:off x="771846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C3B8112-0CF7-5516-F41D-84C801CEBEE1}"/>
                </a:ext>
              </a:extLst>
            </p:cNvPr>
            <p:cNvSpPr txBox="1"/>
            <p:nvPr/>
          </p:nvSpPr>
          <p:spPr>
            <a:xfrm>
              <a:off x="819649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8D6E652-F5FC-4920-F20E-32A2AA0FEAE2}"/>
                </a:ext>
              </a:extLst>
            </p:cNvPr>
            <p:cNvSpPr txBox="1"/>
            <p:nvPr/>
          </p:nvSpPr>
          <p:spPr>
            <a:xfrm>
              <a:off x="8788248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19347C4-D38D-06D5-33DF-2A348A5382FE}"/>
                </a:ext>
              </a:extLst>
            </p:cNvPr>
            <p:cNvSpPr txBox="1"/>
            <p:nvPr/>
          </p:nvSpPr>
          <p:spPr>
            <a:xfrm>
              <a:off x="9321648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60923D4-A058-7D06-904A-8CC0ECE807D7}"/>
                </a:ext>
              </a:extLst>
            </p:cNvPr>
            <p:cNvSpPr txBox="1"/>
            <p:nvPr/>
          </p:nvSpPr>
          <p:spPr>
            <a:xfrm>
              <a:off x="985561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0CFED6D-86F5-D958-E923-2CC18DA518C3}"/>
                </a:ext>
              </a:extLst>
            </p:cNvPr>
            <p:cNvSpPr txBox="1"/>
            <p:nvPr/>
          </p:nvSpPr>
          <p:spPr>
            <a:xfrm>
              <a:off x="1038901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FC2E6EC-062F-A161-9D0A-D10BDBA2450A}"/>
                </a:ext>
              </a:extLst>
            </p:cNvPr>
            <p:cNvSpPr/>
            <p:nvPr/>
          </p:nvSpPr>
          <p:spPr>
            <a:xfrm>
              <a:off x="1081304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5E124AE-511C-1167-F084-AF9166C40BF1}"/>
                </a:ext>
              </a:extLst>
            </p:cNvPr>
            <p:cNvSpPr txBox="1"/>
            <p:nvPr/>
          </p:nvSpPr>
          <p:spPr>
            <a:xfrm>
              <a:off x="10870777" y="133051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10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63756C4-FFEE-45CE-C290-81DC657DB3F1}"/>
              </a:ext>
            </a:extLst>
          </p:cNvPr>
          <p:cNvGrpSpPr/>
          <p:nvPr/>
        </p:nvGrpSpPr>
        <p:grpSpPr>
          <a:xfrm>
            <a:off x="201742" y="2956422"/>
            <a:ext cx="6934200" cy="3661882"/>
            <a:chOff x="201742" y="2956422"/>
            <a:chExt cx="6934200" cy="366188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87E5112-EE0A-A568-FB0C-800B49EAA828}"/>
                </a:ext>
              </a:extLst>
            </p:cNvPr>
            <p:cNvGrpSpPr/>
            <p:nvPr/>
          </p:nvGrpSpPr>
          <p:grpSpPr>
            <a:xfrm>
              <a:off x="201742" y="2956422"/>
              <a:ext cx="6934200" cy="3661882"/>
              <a:chOff x="2590801" y="2672070"/>
              <a:chExt cx="6934200" cy="3661882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3A30E535-E151-7B10-2482-D4C18A271CB8}"/>
                  </a:ext>
                </a:extLst>
              </p:cNvPr>
              <p:cNvSpPr/>
              <p:nvPr/>
            </p:nvSpPr>
            <p:spPr>
              <a:xfrm>
                <a:off x="5996855" y="267207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16155D8-6880-CAC9-337D-0F3B5F0C2BBB}"/>
                  </a:ext>
                </a:extLst>
              </p:cNvPr>
              <p:cNvSpPr/>
              <p:nvPr/>
            </p:nvSpPr>
            <p:spPr>
              <a:xfrm>
                <a:off x="4191001" y="3682289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3701FD1-D85F-35B3-CE7C-6CFF8DCBAC09}"/>
                  </a:ext>
                </a:extLst>
              </p:cNvPr>
              <p:cNvSpPr/>
              <p:nvPr/>
            </p:nvSpPr>
            <p:spPr>
              <a:xfrm>
                <a:off x="7858499" y="3653913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3A6BB66-2DDC-8C2E-6AB0-DA31FC02453E}"/>
                  </a:ext>
                </a:extLst>
              </p:cNvPr>
              <p:cNvSpPr/>
              <p:nvPr/>
            </p:nvSpPr>
            <p:spPr>
              <a:xfrm>
                <a:off x="3200401" y="438350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219BA91-50E2-9B4F-817E-664706C652CC}"/>
                  </a:ext>
                </a:extLst>
              </p:cNvPr>
              <p:cNvSpPr/>
              <p:nvPr/>
            </p:nvSpPr>
            <p:spPr>
              <a:xfrm>
                <a:off x="5211206" y="4425368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3B38612-C965-1385-57E2-DB495D63D40C}"/>
                  </a:ext>
                </a:extLst>
              </p:cNvPr>
              <p:cNvSpPr/>
              <p:nvPr/>
            </p:nvSpPr>
            <p:spPr>
              <a:xfrm>
                <a:off x="6934201" y="434199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C32BE3EF-F957-D7BD-78A2-BE2188A515E4}"/>
                  </a:ext>
                </a:extLst>
              </p:cNvPr>
              <p:cNvSpPr/>
              <p:nvPr/>
            </p:nvSpPr>
            <p:spPr>
              <a:xfrm>
                <a:off x="8836924" y="434199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67A0923A-D958-A1BA-1015-3E54B06E39E1}"/>
                  </a:ext>
                </a:extLst>
              </p:cNvPr>
              <p:cNvSpPr/>
              <p:nvPr/>
            </p:nvSpPr>
            <p:spPr>
              <a:xfrm>
                <a:off x="2590801" y="535274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14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2B9709BB-64D4-3FBE-7884-D1B0484114A6}"/>
                  </a:ext>
                </a:extLst>
              </p:cNvPr>
              <p:cNvSpPr/>
              <p:nvPr/>
            </p:nvSpPr>
            <p:spPr>
              <a:xfrm>
                <a:off x="3733801" y="535274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A089308-EAB4-3DF6-2168-FA9078D82274}"/>
                  </a:ext>
                </a:extLst>
              </p:cNvPr>
              <p:cNvCxnSpPr>
                <a:cxnSpLocks/>
                <a:stCxn id="28" idx="3"/>
                <a:endCxn id="29" idx="7"/>
              </p:cNvCxnSpPr>
              <p:nvPr/>
            </p:nvCxnSpPr>
            <p:spPr>
              <a:xfrm flipH="1">
                <a:off x="4778311" y="3259380"/>
                <a:ext cx="1319311" cy="52367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483BDF66-84DB-ABCB-4020-11642646E088}"/>
                  </a:ext>
                </a:extLst>
              </p:cNvPr>
              <p:cNvCxnSpPr>
                <a:cxnSpLocks/>
                <a:stCxn id="28" idx="5"/>
                <a:endCxn id="30" idx="1"/>
              </p:cNvCxnSpPr>
              <p:nvPr/>
            </p:nvCxnSpPr>
            <p:spPr>
              <a:xfrm>
                <a:off x="6584165" y="3259380"/>
                <a:ext cx="1375101" cy="4953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220F70A-FDDC-7762-B33A-06720ADD3AF7}"/>
                  </a:ext>
                </a:extLst>
              </p:cNvPr>
              <p:cNvCxnSpPr>
                <a:stCxn id="32" idx="1"/>
                <a:endCxn id="29" idx="5"/>
              </p:cNvCxnSpPr>
              <p:nvPr/>
            </p:nvCxnSpPr>
            <p:spPr>
              <a:xfrm flipH="1" flipV="1">
                <a:off x="4778310" y="4269598"/>
                <a:ext cx="533662" cy="2565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56022E8-594C-5224-728B-F2FC6AA874BE}"/>
                  </a:ext>
                </a:extLst>
              </p:cNvPr>
              <p:cNvCxnSpPr>
                <a:stCxn id="31" idx="7"/>
                <a:endCxn id="29" idx="3"/>
              </p:cNvCxnSpPr>
              <p:nvPr/>
            </p:nvCxnSpPr>
            <p:spPr>
              <a:xfrm flipV="1">
                <a:off x="3787711" y="4269598"/>
                <a:ext cx="504057" cy="214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3D94FFD-BC02-5F5A-FF9E-9C49B907172F}"/>
                  </a:ext>
                </a:extLst>
              </p:cNvPr>
              <p:cNvCxnSpPr>
                <a:stCxn id="36" idx="0"/>
                <a:endCxn id="31" idx="5"/>
              </p:cNvCxnSpPr>
              <p:nvPr/>
            </p:nvCxnSpPr>
            <p:spPr>
              <a:xfrm flipH="1" flipV="1">
                <a:off x="3787711" y="4970813"/>
                <a:ext cx="290129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5735856-C128-C713-C639-DB1757598AE1}"/>
                  </a:ext>
                </a:extLst>
              </p:cNvPr>
              <p:cNvCxnSpPr>
                <a:stCxn id="35" idx="0"/>
                <a:endCxn id="31" idx="3"/>
              </p:cNvCxnSpPr>
              <p:nvPr/>
            </p:nvCxnSpPr>
            <p:spPr>
              <a:xfrm flipV="1">
                <a:off x="2934839" y="4970813"/>
                <a:ext cx="366328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A8E5DDDC-1F60-E1BD-ED97-8C6BDFE31483}"/>
                  </a:ext>
                </a:extLst>
              </p:cNvPr>
              <p:cNvCxnSpPr>
                <a:stCxn id="33" idx="7"/>
                <a:endCxn id="30" idx="3"/>
              </p:cNvCxnSpPr>
              <p:nvPr/>
            </p:nvCxnSpPr>
            <p:spPr>
              <a:xfrm flipV="1">
                <a:off x="7521511" y="4241222"/>
                <a:ext cx="437755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202118E8-FE37-1B94-60E7-FF8DC87A02DF}"/>
                  </a:ext>
                </a:extLst>
              </p:cNvPr>
              <p:cNvCxnSpPr>
                <a:stCxn id="34" idx="1"/>
                <a:endCxn id="30" idx="5"/>
              </p:cNvCxnSpPr>
              <p:nvPr/>
            </p:nvCxnSpPr>
            <p:spPr>
              <a:xfrm flipH="1" flipV="1">
                <a:off x="8445808" y="4241222"/>
                <a:ext cx="491882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3F51C00-7BE4-C71B-CEC9-78F3E393B278}"/>
                  </a:ext>
                </a:extLst>
              </p:cNvPr>
              <p:cNvSpPr txBox="1"/>
              <p:nvPr/>
            </p:nvSpPr>
            <p:spPr>
              <a:xfrm>
                <a:off x="6190049" y="337129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E00191F-101E-453F-E05F-F79326EF7FFB}"/>
                  </a:ext>
                </a:extLst>
              </p:cNvPr>
              <p:cNvSpPr txBox="1"/>
              <p:nvPr/>
            </p:nvSpPr>
            <p:spPr>
              <a:xfrm>
                <a:off x="4384195" y="4377091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2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B19AC53-E3AB-F92F-CA0A-7EC078433879}"/>
                  </a:ext>
                </a:extLst>
              </p:cNvPr>
              <p:cNvSpPr txBox="1"/>
              <p:nvPr/>
            </p:nvSpPr>
            <p:spPr>
              <a:xfrm>
                <a:off x="8051693" y="431669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3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A690ADD-9D72-5CFC-ABA4-CFD3482C08B4}"/>
                  </a:ext>
                </a:extLst>
              </p:cNvPr>
              <p:cNvSpPr txBox="1"/>
              <p:nvPr/>
            </p:nvSpPr>
            <p:spPr>
              <a:xfrm>
                <a:off x="3352081" y="507158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4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25CA634-CACD-54BE-4661-54DEF3A780C5}"/>
                  </a:ext>
                </a:extLst>
              </p:cNvPr>
              <p:cNvSpPr txBox="1"/>
              <p:nvPr/>
            </p:nvSpPr>
            <p:spPr>
              <a:xfrm>
                <a:off x="7122005" y="5012677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6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F6D568-E05C-26F2-EBD8-57839FC7687F}"/>
                  </a:ext>
                </a:extLst>
              </p:cNvPr>
              <p:cNvSpPr txBox="1"/>
              <p:nvPr/>
            </p:nvSpPr>
            <p:spPr>
              <a:xfrm>
                <a:off x="5404400" y="5108902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5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E1DFACA-646B-2F3B-1F0D-554B10C6DCB7}"/>
                  </a:ext>
                </a:extLst>
              </p:cNvPr>
              <p:cNvSpPr txBox="1"/>
              <p:nvPr/>
            </p:nvSpPr>
            <p:spPr>
              <a:xfrm>
                <a:off x="9030118" y="503006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7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96EE955-07B4-4EE0-219A-7BF193FD11F3}"/>
                  </a:ext>
                </a:extLst>
              </p:cNvPr>
              <p:cNvSpPr txBox="1"/>
              <p:nvPr/>
            </p:nvSpPr>
            <p:spPr>
              <a:xfrm>
                <a:off x="2783996" y="59646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8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AE0ABF5-B591-93A9-75F6-25B4A6AB23BE}"/>
                  </a:ext>
                </a:extLst>
              </p:cNvPr>
              <p:cNvSpPr txBox="1"/>
              <p:nvPr/>
            </p:nvSpPr>
            <p:spPr>
              <a:xfrm>
                <a:off x="3920467" y="59646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9</a:t>
                </a:r>
              </a:p>
            </p:txBody>
          </p:sp>
        </p:grp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76035EC9-3610-8FDE-B3D0-38593B0EF572}"/>
                </a:ext>
              </a:extLst>
            </p:cNvPr>
            <p:cNvSpPr/>
            <p:nvPr/>
          </p:nvSpPr>
          <p:spPr>
            <a:xfrm>
              <a:off x="2330369" y="5636036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001DADF-BD70-7B05-56C0-31B3799F72C0}"/>
                </a:ext>
              </a:extLst>
            </p:cNvPr>
            <p:cNvCxnSpPr>
              <a:cxnSpLocks/>
              <a:stCxn id="54" idx="0"/>
              <a:endCxn id="32" idx="3"/>
            </p:cNvCxnSpPr>
            <p:nvPr/>
          </p:nvCxnSpPr>
          <p:spPr>
            <a:xfrm flipV="1">
              <a:off x="2674408" y="5297030"/>
              <a:ext cx="248506" cy="3390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4CC9DA3-E3B4-4532-1F70-7E2BF83F9167}"/>
                </a:ext>
              </a:extLst>
            </p:cNvPr>
            <p:cNvSpPr txBox="1"/>
            <p:nvPr/>
          </p:nvSpPr>
          <p:spPr>
            <a:xfrm>
              <a:off x="2446730" y="6243373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10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B43941B0-86D8-D533-366D-B46802C30744}"/>
              </a:ext>
            </a:extLst>
          </p:cNvPr>
          <p:cNvSpPr txBox="1"/>
          <p:nvPr/>
        </p:nvSpPr>
        <p:spPr>
          <a:xfrm>
            <a:off x="737595" y="3266383"/>
            <a:ext cx="2376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Violate Heap Property!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4902B8-F5AB-50D9-18C4-FF07B8E03412}"/>
              </a:ext>
            </a:extLst>
          </p:cNvPr>
          <p:cNvSpPr txBox="1"/>
          <p:nvPr/>
        </p:nvSpPr>
        <p:spPr>
          <a:xfrm>
            <a:off x="8434060" y="4571102"/>
            <a:ext cx="32637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buildHeap</a:t>
            </a:r>
            <a:r>
              <a:rPr lang="en-US" sz="2400" dirty="0"/>
              <a:t>(){</a:t>
            </a:r>
          </a:p>
          <a:p>
            <a:r>
              <a:rPr lang="en-US" sz="2400" dirty="0"/>
              <a:t>    for(int </a:t>
            </a:r>
            <a:r>
              <a:rPr lang="en-US" sz="2400" dirty="0" err="1"/>
              <a:t>i</a:t>
            </a:r>
            <a:r>
              <a:rPr lang="en-US" sz="2400" dirty="0"/>
              <a:t> = size; </a:t>
            </a:r>
            <a:r>
              <a:rPr lang="en-US" sz="2400" dirty="0" err="1"/>
              <a:t>i</a:t>
            </a:r>
            <a:r>
              <a:rPr lang="en-US" sz="2400" dirty="0"/>
              <a:t>&gt;0; </a:t>
            </a:r>
            <a:r>
              <a:rPr lang="en-US" sz="2400" dirty="0" err="1"/>
              <a:t>i</a:t>
            </a:r>
            <a:r>
              <a:rPr lang="en-US" sz="2400" dirty="0"/>
              <a:t>--){</a:t>
            </a:r>
          </a:p>
          <a:p>
            <a:r>
              <a:rPr lang="en-US" sz="2400" dirty="0"/>
              <a:t>        </a:t>
            </a:r>
            <a:r>
              <a:rPr lang="en-US" sz="2400" dirty="0" err="1"/>
              <a:t>percolateDown</a:t>
            </a:r>
            <a:r>
              <a:rPr lang="en-US" sz="2400" dirty="0"/>
              <a:t>(</a:t>
            </a:r>
            <a:r>
              <a:rPr lang="en-US" sz="2400" dirty="0" err="1"/>
              <a:t>i</a:t>
            </a:r>
            <a:r>
              <a:rPr lang="en-US" sz="2400" dirty="0"/>
              <a:t>);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90394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905CF-DEFE-FCCE-A8B5-E5D05FB41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long did this take?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365F4-D608-38F3-EE98-2E277D48B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Worst case running time of </a:t>
            </a:r>
            <a:r>
              <a:rPr lang="en-US" dirty="0" err="1"/>
              <a:t>buildHeap</a:t>
            </a:r>
            <a:r>
              <a:rPr lang="en-US" dirty="0"/>
              <a:t>:</a:t>
            </a:r>
          </a:p>
          <a:p>
            <a:r>
              <a:rPr lang="en-US" dirty="0"/>
              <a:t>No node can percolate down more than the height of its subtree</a:t>
            </a:r>
          </a:p>
          <a:p>
            <a:pPr lvl="1"/>
            <a:r>
              <a:rPr lang="en-US" dirty="0"/>
              <a:t>When </a:t>
            </a:r>
            <a:r>
              <a:rPr lang="en-US" dirty="0" err="1"/>
              <a:t>i</a:t>
            </a:r>
            <a:r>
              <a:rPr lang="en-US" dirty="0"/>
              <a:t> is a leaf:</a:t>
            </a:r>
          </a:p>
          <a:p>
            <a:pPr lvl="1"/>
            <a:r>
              <a:rPr lang="en-US" dirty="0"/>
              <a:t>When </a:t>
            </a:r>
            <a:r>
              <a:rPr lang="en-US" dirty="0" err="1"/>
              <a:t>i</a:t>
            </a:r>
            <a:r>
              <a:rPr lang="en-US" dirty="0"/>
              <a:t> is second-from-last level:</a:t>
            </a:r>
          </a:p>
          <a:p>
            <a:pPr lvl="1"/>
            <a:r>
              <a:rPr lang="en-US" dirty="0"/>
              <a:t>When i is third-from-last level:</a:t>
            </a:r>
          </a:p>
          <a:p>
            <a:r>
              <a:rPr lang="en-US" dirty="0"/>
              <a:t>Overall Running time: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9625AA-3486-326F-E75E-91F40D9AD6A6}"/>
              </a:ext>
            </a:extLst>
          </p:cNvPr>
          <p:cNvSpPr txBox="1"/>
          <p:nvPr/>
        </p:nvSpPr>
        <p:spPr>
          <a:xfrm>
            <a:off x="8586460" y="283582"/>
            <a:ext cx="32637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buildHeap</a:t>
            </a:r>
            <a:r>
              <a:rPr lang="en-US" sz="2400" dirty="0"/>
              <a:t>(){</a:t>
            </a:r>
          </a:p>
          <a:p>
            <a:r>
              <a:rPr lang="en-US" sz="2400" dirty="0"/>
              <a:t>    for(int </a:t>
            </a:r>
            <a:r>
              <a:rPr lang="en-US" sz="2400" dirty="0" err="1"/>
              <a:t>i</a:t>
            </a:r>
            <a:r>
              <a:rPr lang="en-US" sz="2400" dirty="0"/>
              <a:t> = size; </a:t>
            </a:r>
            <a:r>
              <a:rPr lang="en-US" sz="2400" dirty="0" err="1"/>
              <a:t>i</a:t>
            </a:r>
            <a:r>
              <a:rPr lang="en-US" sz="2400" dirty="0"/>
              <a:t>&gt;0; </a:t>
            </a:r>
            <a:r>
              <a:rPr lang="en-US" sz="2400" dirty="0" err="1"/>
              <a:t>i</a:t>
            </a:r>
            <a:r>
              <a:rPr lang="en-US" sz="2400" dirty="0"/>
              <a:t>--){</a:t>
            </a:r>
          </a:p>
          <a:p>
            <a:r>
              <a:rPr lang="en-US" sz="2400" dirty="0"/>
              <a:t>        </a:t>
            </a:r>
            <a:r>
              <a:rPr lang="en-US" sz="2400" dirty="0" err="1"/>
              <a:t>percolateDown</a:t>
            </a:r>
            <a:r>
              <a:rPr lang="en-US" sz="2400" dirty="0"/>
              <a:t>(</a:t>
            </a:r>
            <a:r>
              <a:rPr lang="en-US" sz="2400" dirty="0" err="1"/>
              <a:t>i</a:t>
            </a:r>
            <a:r>
              <a:rPr lang="en-US" sz="2400" dirty="0"/>
              <a:t>);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463486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31F6E-59C9-2DCD-F5DC-0ABC3703B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B8E96-36C0-C6CE-0B6B-D980D09ED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search(value, </a:t>
            </a:r>
            <a:r>
              <a:rPr lang="en-US" dirty="0" err="1"/>
              <a:t>sortedArr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return helper(value, </a:t>
            </a:r>
            <a:r>
              <a:rPr lang="en-US" dirty="0" err="1"/>
              <a:t>sortedArr</a:t>
            </a:r>
            <a:r>
              <a:rPr lang="en-US" dirty="0"/>
              <a:t>, 0, </a:t>
            </a:r>
            <a:r>
              <a:rPr lang="en-US" dirty="0" err="1"/>
              <a:t>sortedArr.length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helper(value, </a:t>
            </a:r>
            <a:r>
              <a:rPr lang="en-US" dirty="0" err="1"/>
              <a:t>arr</a:t>
            </a:r>
            <a:r>
              <a:rPr lang="en-US" dirty="0"/>
              <a:t>, low, high){</a:t>
            </a:r>
          </a:p>
          <a:p>
            <a:pPr marL="0" indent="0">
              <a:buNone/>
            </a:pPr>
            <a:r>
              <a:rPr lang="en-US" dirty="0"/>
              <a:t>	if (low == high){ return false; }</a:t>
            </a:r>
          </a:p>
          <a:p>
            <a:pPr marL="0" indent="0">
              <a:buNone/>
            </a:pPr>
            <a:r>
              <a:rPr lang="en-US" dirty="0"/>
              <a:t>	mid = (high + low) / 2;</a:t>
            </a:r>
          </a:p>
          <a:p>
            <a:pPr marL="0" indent="0">
              <a:buNone/>
            </a:pPr>
            <a:r>
              <a:rPr lang="en-US" dirty="0"/>
              <a:t>	if (</a:t>
            </a:r>
            <a:r>
              <a:rPr lang="en-US" dirty="0" err="1"/>
              <a:t>arr</a:t>
            </a:r>
            <a:r>
              <a:rPr lang="en-US" dirty="0"/>
              <a:t>[mid] == value){ return true; }</a:t>
            </a:r>
          </a:p>
          <a:p>
            <a:pPr marL="0" indent="0">
              <a:buNone/>
            </a:pPr>
            <a:r>
              <a:rPr lang="en-US" dirty="0"/>
              <a:t>	if (</a:t>
            </a:r>
            <a:r>
              <a:rPr lang="en-US" dirty="0" err="1"/>
              <a:t>arr</a:t>
            </a:r>
            <a:r>
              <a:rPr lang="en-US" dirty="0"/>
              <a:t>[mid] &lt; value){ return helper(value, </a:t>
            </a:r>
            <a:r>
              <a:rPr lang="en-US" dirty="0" err="1"/>
              <a:t>arr</a:t>
            </a:r>
            <a:r>
              <a:rPr lang="en-US" dirty="0"/>
              <a:t>, mid+1, high); }</a:t>
            </a:r>
          </a:p>
          <a:p>
            <a:pPr marL="0" indent="0">
              <a:buNone/>
            </a:pPr>
            <a:r>
              <a:rPr lang="en-US" dirty="0"/>
              <a:t>	else { return helper(value, </a:t>
            </a:r>
            <a:r>
              <a:rPr lang="en-US" dirty="0" err="1"/>
              <a:t>arr</a:t>
            </a:r>
            <a:r>
              <a:rPr lang="en-US" dirty="0"/>
              <a:t>, low, mid);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160427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C13A8-F389-D526-27E0-2C577B791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Recursive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11F9DB-B627-51B1-AE8B-61E829E3EE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1480" y="1551304"/>
                <a:ext cx="10515600" cy="510349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Overall structure of recursion: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Do some non-recursive “work”</a:t>
                </a:r>
              </a:p>
              <a:p>
                <a:pPr lvl="1"/>
                <a:r>
                  <a:rPr lang="en-US" dirty="0">
                    <a:solidFill>
                      <a:srgbClr val="0070C0"/>
                    </a:solidFill>
                  </a:rPr>
                  <a:t>Do one or more recursive calls on some portion of your input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Do some more non-recursive “work”</a:t>
                </a:r>
              </a:p>
              <a:p>
                <a:pPr lvl="1"/>
                <a:r>
                  <a:rPr lang="en-US" dirty="0"/>
                  <a:t>Repeat until you reach a base case</a:t>
                </a:r>
              </a:p>
              <a:p>
                <a:r>
                  <a:rPr lang="en-US" dirty="0"/>
                  <a:t>Running time: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time it takes to run the algorithm on an input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is:</a:t>
                </a:r>
              </a:p>
              <a:p>
                <a:pPr lvl="1"/>
                <a:r>
                  <a:rPr lang="en-US" dirty="0">
                    <a:solidFill>
                      <a:srgbClr val="0070C0"/>
                    </a:solidFill>
                  </a:rPr>
                  <a:t>The sum of how long it takes to run the same algorithm on each smaller input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Plus the total amount of non-recursive work done at that step</a:t>
                </a:r>
              </a:p>
              <a:p>
                <a:r>
                  <a:rPr lang="en-US" dirty="0"/>
                  <a:t>Usually: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lvl="2"/>
                <a:r>
                  <a:rPr lang="en-US" dirty="0"/>
                  <a:t>Called “divide and conquer”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Called “chip and conquer”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11F9DB-B627-51B1-AE8B-61E829E3EE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1480" y="1551304"/>
                <a:ext cx="10515600" cy="5103495"/>
              </a:xfrm>
              <a:blipFill>
                <a:blip r:embed="rId2"/>
                <a:stretch>
                  <a:fillRect l="-928" t="-2387" b="-8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95941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Efficient Is It?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US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⌈"/>
                            <m:endChr m:val="⌉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Base case: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3D6D2D-7DE9-6D3E-2EF7-3E9EB7C1156D}"/>
                  </a:ext>
                </a:extLst>
              </p:cNvPr>
              <p:cNvSpPr txBox="1"/>
              <p:nvPr/>
            </p:nvSpPr>
            <p:spPr>
              <a:xfrm>
                <a:off x="6808424" y="1676400"/>
                <a:ext cx="500257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“cost” of running the entire algorithm on an array of length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3D6D2D-7DE9-6D3E-2EF7-3E9EB7C11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8424" y="1676400"/>
                <a:ext cx="5002576" cy="830997"/>
              </a:xfrm>
              <a:prstGeom prst="rect">
                <a:avLst/>
              </a:prstGeom>
              <a:blipFill>
                <a:blip r:embed="rId3"/>
                <a:stretch>
                  <a:fillRect l="-1949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9164B-D0D3-43CF-BBE2-17E6DAFC9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3965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Solve the Recurrence!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752871" y="1788762"/>
                <a:ext cx="3162982" cy="5847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871" y="1788762"/>
                <a:ext cx="3162982" cy="5847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52871" y="1295368"/>
                <a:ext cx="16503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871" y="1295368"/>
                <a:ext cx="165032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657600" y="2373477"/>
                <a:ext cx="1963679" cy="5831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2373477"/>
                <a:ext cx="1963679" cy="5831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/>
          <p:cNvCxnSpPr/>
          <p:nvPr/>
        </p:nvCxnSpPr>
        <p:spPr>
          <a:xfrm flipV="1">
            <a:off x="3923348" y="1818589"/>
            <a:ext cx="1258252" cy="39121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4556755" y="2452813"/>
            <a:ext cx="1196345" cy="36972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234155" y="2956650"/>
                <a:ext cx="1963679" cy="58753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8</m:t>
                          </m:r>
                        </m:den>
                      </m:f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4155" y="2956650"/>
                <a:ext cx="1963679" cy="5875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 rot="2181819">
            <a:off x="5632394" y="3341258"/>
            <a:ext cx="538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5791203" y="3896380"/>
                <a:ext cx="46519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3" y="3896380"/>
                <a:ext cx="46519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ight Brace 18"/>
          <p:cNvSpPr/>
          <p:nvPr/>
        </p:nvSpPr>
        <p:spPr>
          <a:xfrm>
            <a:off x="6641598" y="1607198"/>
            <a:ext cx="673602" cy="2812402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375131" y="2514600"/>
                <a:ext cx="3880229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0" dirty="0"/>
                  <a:t>Substitute until</a:t>
                </a:r>
                <a:r>
                  <a:rPr lang="en-US" sz="3200" b="0" i="1" dirty="0"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sz="3200" b="0" i="1" dirty="0">
                  <a:latin typeface="Cambria Math" panose="02040503050406030204" pitchFamily="18" charset="0"/>
                </a:endParaRPr>
              </a:p>
              <a:p>
                <a:r>
                  <a:rPr lang="en-US" sz="3200" b="0" dirty="0"/>
                  <a:t>So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latin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3200" b="0" i="1" smtClean="0">
                            <a:latin typeface="Cambria Math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3200" dirty="0"/>
                  <a:t> steps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5131" y="2514600"/>
                <a:ext cx="3880229" cy="1077218"/>
              </a:xfrm>
              <a:prstGeom prst="rect">
                <a:avLst/>
              </a:prstGeom>
              <a:blipFill>
                <a:blip r:embed="rId7"/>
                <a:stretch>
                  <a:fillRect l="-4088" t="-6818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874535" y="4953000"/>
                <a:ext cx="4327274" cy="15001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32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i="1">
                              <a:latin typeface="Cambria Math"/>
                            </a:rPr>
                            <m:t>𝑖</m:t>
                          </m:r>
                          <m:r>
                            <a:rPr lang="en-US" sz="3200" i="1">
                              <a:latin typeface="Cambria Math"/>
                            </a:rPr>
                            <m:t>=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3200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nary>
                      <m:r>
                        <a:rPr lang="en-US" sz="320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3200" i="1">
                              <a:latin typeface="Cambria Math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4535" y="4953000"/>
                <a:ext cx="4327274" cy="15001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/>
          <p:cNvSpPr/>
          <p:nvPr/>
        </p:nvSpPr>
        <p:spPr>
          <a:xfrm rot="2320398">
            <a:off x="2373991" y="2664031"/>
            <a:ext cx="4403655" cy="95721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 flipV="1">
            <a:off x="5128255" y="3065552"/>
            <a:ext cx="1196345" cy="36972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D36018-B814-5D27-1894-CCA132A396B0}"/>
                  </a:ext>
                </a:extLst>
              </p:cNvPr>
              <p:cNvSpPr txBox="1"/>
              <p:nvPr/>
            </p:nvSpPr>
            <p:spPr>
              <a:xfrm>
                <a:off x="8531950" y="5410689"/>
                <a:ext cx="305045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D36018-B814-5D27-1894-CCA132A39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1950" y="5410689"/>
                <a:ext cx="3050450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38719-4012-4362-B790-16D138412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8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3" grpId="0"/>
      <p:bldP spid="19" grpId="0" animBg="1"/>
      <p:bldP spid="20" grpId="0"/>
      <p:bldP spid="22" grpId="0"/>
      <p:bldP spid="25" grpId="0" animBg="1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297B4-2A3F-2017-6EF1-643BBC22A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Linear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CF144-B497-AAFB-9518-D03961E1F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search(value, list){</a:t>
            </a:r>
          </a:p>
          <a:p>
            <a:pPr marL="0" indent="0">
              <a:buNone/>
            </a:pPr>
            <a:r>
              <a:rPr lang="en-US" dirty="0"/>
              <a:t>	if(</a:t>
            </a:r>
            <a:r>
              <a:rPr lang="en-US" dirty="0" err="1"/>
              <a:t>list.isEmpty</a:t>
            </a:r>
            <a:r>
              <a:rPr lang="en-US" dirty="0"/>
              <a:t>()){</a:t>
            </a:r>
          </a:p>
          <a:p>
            <a:pPr marL="0" indent="0">
              <a:buNone/>
            </a:pPr>
            <a:r>
              <a:rPr lang="en-US" dirty="0"/>
              <a:t>		return false;</a:t>
            </a:r>
          </a:p>
          <a:p>
            <a:pPr marL="0" indent="0">
              <a:buNone/>
            </a:pPr>
            <a:r>
              <a:rPr lang="en-US" dirty="0"/>
              <a:t>	{</a:t>
            </a:r>
          </a:p>
          <a:p>
            <a:pPr marL="0" indent="0">
              <a:buNone/>
            </a:pPr>
            <a:r>
              <a:rPr lang="en-US" dirty="0"/>
              <a:t>	if (value == list[0]){</a:t>
            </a:r>
          </a:p>
          <a:p>
            <a:pPr marL="0" indent="0">
              <a:buNone/>
            </a:pPr>
            <a:r>
              <a:rPr lang="en-US" dirty="0"/>
              <a:t>		return true;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list.remove</a:t>
            </a:r>
            <a:r>
              <a:rPr lang="en-US" dirty="0"/>
              <a:t>(0);</a:t>
            </a:r>
          </a:p>
          <a:p>
            <a:pPr marL="0" indent="0">
              <a:buNone/>
            </a:pPr>
            <a:r>
              <a:rPr lang="en-US" dirty="0"/>
              <a:t>	return search(value, list);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949221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C0551-3A2F-687A-1956-D099E0600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Unrolling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B38CD2-812E-33C4-271C-2B94A5948C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Repeatedly substitute the recursive part of the recurrence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…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+…+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How many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’s?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B38CD2-812E-33C4-271C-2B94A5948C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93134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AE782-C07E-8C9D-F03B-E1555654D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List Summation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CB12C-1484-4384-0A8A-F40C8F089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sum(list){</a:t>
            </a:r>
          </a:p>
          <a:p>
            <a:pPr marL="0" indent="0">
              <a:buNone/>
            </a:pPr>
            <a:r>
              <a:rPr lang="en-US" dirty="0"/>
              <a:t>	return </a:t>
            </a:r>
            <a:r>
              <a:rPr lang="en-US" dirty="0" err="1"/>
              <a:t>sum_helper</a:t>
            </a:r>
            <a:r>
              <a:rPr lang="en-US" dirty="0"/>
              <a:t>(list, 0, </a:t>
            </a:r>
            <a:r>
              <a:rPr lang="en-US" dirty="0" err="1"/>
              <a:t>list.size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 err="1"/>
              <a:t>sum_helper</a:t>
            </a:r>
            <a:r>
              <a:rPr lang="en-US" dirty="0"/>
              <a:t>(list, low, high){</a:t>
            </a:r>
          </a:p>
          <a:p>
            <a:pPr marL="0" indent="0">
              <a:buNone/>
            </a:pPr>
            <a:r>
              <a:rPr lang="en-US" dirty="0"/>
              <a:t>	if (low == high){ return 0; }</a:t>
            </a:r>
          </a:p>
          <a:p>
            <a:pPr marL="0" indent="0">
              <a:buNone/>
            </a:pPr>
            <a:r>
              <a:rPr lang="en-US" dirty="0"/>
              <a:t>	if (low == high-1){ return list[low]; }</a:t>
            </a:r>
          </a:p>
          <a:p>
            <a:pPr marL="0" indent="0">
              <a:buNone/>
            </a:pPr>
            <a:r>
              <a:rPr lang="en-US" dirty="0"/>
              <a:t>	middle = (</a:t>
            </a:r>
            <a:r>
              <a:rPr lang="en-US" dirty="0" err="1"/>
              <a:t>high+low</a:t>
            </a:r>
            <a:r>
              <a:rPr lang="en-US" dirty="0"/>
              <a:t>)/2;</a:t>
            </a:r>
          </a:p>
          <a:p>
            <a:pPr marL="0" indent="0">
              <a:buNone/>
            </a:pPr>
            <a:r>
              <a:rPr lang="en-US" dirty="0"/>
              <a:t>	return </a:t>
            </a:r>
            <a:r>
              <a:rPr lang="en-US" dirty="0" err="1"/>
              <a:t>sum_helper</a:t>
            </a:r>
            <a:r>
              <a:rPr lang="en-US" dirty="0"/>
              <a:t>(list, low, middle) + </a:t>
            </a:r>
            <a:r>
              <a:rPr lang="en-US" dirty="0" err="1"/>
              <a:t>sum_helper</a:t>
            </a:r>
            <a:r>
              <a:rPr lang="en-US" dirty="0"/>
              <a:t>(list, middle, high);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567110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9B88A-1A71-A3B8-ACFA-4C282E7D9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D4C2CB-0100-821A-72BE-02AD2ED58C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D4C2CB-0100-821A-72BE-02AD2ED58C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11080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9B88A-1A71-A3B8-ACFA-4C282E7D9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D4C2CB-0100-821A-72BE-02AD2ED58C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=8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+7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r>
                  <a:rPr lang="en-US" dirty="0"/>
                  <a:t>…after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substitutions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D4C2CB-0100-821A-72BE-02AD2ED58C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88648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600" dirty="0">
                    <a:latin typeface="Symbol" pitchFamily="18" charset="2"/>
                  </a:rPr>
                  <a:t>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2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600" dirty="0">
                    <a:solidFill>
                      <a:srgbClr val="FF0000"/>
                    </a:solidFill>
                  </a:rPr>
                  <a:t> </a:t>
                </a:r>
                <a:r>
                  <a:rPr lang="en-US" sz="2600" dirty="0"/>
                  <a:t>work per level</a:t>
                </a:r>
              </a:p>
            </p:txBody>
          </p:sp>
        </mc:Choice>
        <mc:Fallback xmlns="">
          <p:sp>
            <p:nvSpPr>
              <p:cNvPr id="41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blipFill>
                <a:blip r:embed="rId2"/>
                <a:stretch>
                  <a:fillRect t="-12048" b="-3012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eft Brace 41"/>
          <p:cNvSpPr/>
          <p:nvPr/>
        </p:nvSpPr>
        <p:spPr>
          <a:xfrm flipH="1" flipV="1">
            <a:off x="8229600" y="2133600"/>
            <a:ext cx="250372" cy="3553177"/>
          </a:xfrm>
          <a:prstGeom prst="leftBrace">
            <a:avLst>
              <a:gd name="adj1" fmla="val 83199"/>
              <a:gd name="adj2" fmla="val 49631"/>
            </a:avLst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3676688"/>
                <a:ext cx="2312388" cy="954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log</m:t>
                        </m:r>
                      </m:e>
                      <m:sub>
                        <m:r>
                          <a:rPr lang="en-US" sz="2800" i="1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⁡</m:t>
                    </m:r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rgbClr val="FF00FF"/>
                    </a:solidFill>
                  </a:rPr>
                  <a:t> </a:t>
                </a:r>
                <a:r>
                  <a:rPr lang="en-US" sz="2800" dirty="0"/>
                  <a:t>levels</a:t>
                </a:r>
              </a:p>
              <a:p>
                <a:pPr algn="ctr"/>
                <a:r>
                  <a:rPr lang="en-US" sz="2800" dirty="0"/>
                  <a:t>of recursion</a:t>
                </a:r>
              </a:p>
            </p:txBody>
          </p:sp>
        </mc:Choice>
        <mc:Fallback xmlns="">
          <p:sp>
            <p:nvSpPr>
              <p:cNvPr id="4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3676688"/>
                <a:ext cx="2312388" cy="954107"/>
              </a:xfrm>
              <a:prstGeom prst="rect">
                <a:avLst/>
              </a:prstGeom>
              <a:blipFill>
                <a:blip r:embed="rId3"/>
                <a:stretch>
                  <a:fillRect t="-6579" b="-1578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41"/>
              <p:cNvSpPr txBox="1">
                <a:spLocks noChangeArrowheads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4465610" y="1182558"/>
                <a:ext cx="3222613" cy="7454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=2</m:t>
                      </m:r>
                      <m:r>
                        <a:rPr lang="en-US" sz="2400" i="1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i="1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610" y="1182558"/>
                <a:ext cx="3222613" cy="7454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41"/>
              <p:cNvSpPr txBox="1">
                <a:spLocks noChangeArrowheads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blipFill>
                <a:blip r:embed="rId7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41"/>
              <p:cNvSpPr txBox="1">
                <a:spLocks noChangeArrowheads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blipFill>
                <a:blip r:embed="rId8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Box 41"/>
              <p:cNvSpPr txBox="1">
                <a:spLocks noChangeArrowheads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blipFill>
                <a:blip r:embed="rId9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Box 41"/>
              <p:cNvSpPr txBox="1">
                <a:spLocks noChangeArrowheads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0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Box 41"/>
              <p:cNvSpPr txBox="1">
                <a:spLocks noChangeArrowheads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8491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41"/>
              <p:cNvSpPr txBox="1">
                <a:spLocks noChangeArrowheads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blipFill>
                <a:blip r:embed="rId11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/>
          <p:cNvSpPr/>
          <p:nvPr/>
        </p:nvSpPr>
        <p:spPr>
          <a:xfrm rot="16200000">
            <a:off x="2018785" y="428126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4" name="Rectangle 53"/>
          <p:cNvSpPr/>
          <p:nvPr/>
        </p:nvSpPr>
        <p:spPr>
          <a:xfrm rot="16200000">
            <a:off x="36943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5" name="Rectangle 54"/>
          <p:cNvSpPr/>
          <p:nvPr/>
        </p:nvSpPr>
        <p:spPr>
          <a:xfrm rot="16200000">
            <a:off x="56374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6" name="Rectangle 55"/>
          <p:cNvSpPr/>
          <p:nvPr/>
        </p:nvSpPr>
        <p:spPr>
          <a:xfrm rot="16200000">
            <a:off x="7123351" y="433529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 Box 41"/>
              <p:cNvSpPr txBox="1">
                <a:spLocks noChangeArrowheads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 Box 41"/>
              <p:cNvSpPr txBox="1">
                <a:spLocks noChangeArrowheads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Box 41"/>
              <p:cNvSpPr txBox="1">
                <a:spLocks noChangeArrowheads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/>
          <p:cNvSpPr/>
          <p:nvPr/>
        </p:nvSpPr>
        <p:spPr>
          <a:xfrm>
            <a:off x="4133849" y="4917337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Box 41"/>
              <p:cNvSpPr txBox="1">
                <a:spLocks noChangeArrowheads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Box 41"/>
              <p:cNvSpPr txBox="1">
                <a:spLocks noChangeArrowheads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41"/>
              <p:cNvSpPr txBox="1">
                <a:spLocks noChangeArrowheads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3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/>
          <p:cNvCxnSpPr>
            <a:stCxn id="44" idx="2"/>
            <a:endCxn id="47" idx="0"/>
          </p:cNvCxnSpPr>
          <p:nvPr/>
        </p:nvCxnSpPr>
        <p:spPr>
          <a:xfrm flipH="1">
            <a:off x="3357354" y="2590800"/>
            <a:ext cx="1690896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44" idx="2"/>
            <a:endCxn id="48" idx="0"/>
          </p:cNvCxnSpPr>
          <p:nvPr/>
        </p:nvCxnSpPr>
        <p:spPr>
          <a:xfrm>
            <a:off x="5048250" y="2590800"/>
            <a:ext cx="1600200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47" idx="2"/>
            <a:endCxn id="49" idx="0"/>
          </p:cNvCxnSpPr>
          <p:nvPr/>
        </p:nvCxnSpPr>
        <p:spPr>
          <a:xfrm flipH="1">
            <a:off x="2240630" y="3485452"/>
            <a:ext cx="1116724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47" idx="2"/>
            <a:endCxn id="50" idx="0"/>
          </p:cNvCxnSpPr>
          <p:nvPr/>
        </p:nvCxnSpPr>
        <p:spPr>
          <a:xfrm>
            <a:off x="3357354" y="3485452"/>
            <a:ext cx="624096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48" idx="2"/>
            <a:endCxn id="51" idx="0"/>
          </p:cNvCxnSpPr>
          <p:nvPr/>
        </p:nvCxnSpPr>
        <p:spPr>
          <a:xfrm flipH="1">
            <a:off x="5848350" y="3485452"/>
            <a:ext cx="800100" cy="34692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48" idx="2"/>
            <a:endCxn id="52" idx="0"/>
          </p:cNvCxnSpPr>
          <p:nvPr/>
        </p:nvCxnSpPr>
        <p:spPr>
          <a:xfrm>
            <a:off x="6648450" y="3485452"/>
            <a:ext cx="762000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7486650" y="4291526"/>
            <a:ext cx="499546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52" idx="2"/>
          </p:cNvCxnSpPr>
          <p:nvPr/>
        </p:nvCxnSpPr>
        <p:spPr>
          <a:xfrm flipH="1">
            <a:off x="7143432" y="4291526"/>
            <a:ext cx="267019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51" idx="2"/>
          </p:cNvCxnSpPr>
          <p:nvPr/>
        </p:nvCxnSpPr>
        <p:spPr>
          <a:xfrm>
            <a:off x="5848351" y="4289576"/>
            <a:ext cx="499545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51" idx="2"/>
          </p:cNvCxnSpPr>
          <p:nvPr/>
        </p:nvCxnSpPr>
        <p:spPr>
          <a:xfrm flipH="1">
            <a:off x="5581332" y="4289576"/>
            <a:ext cx="267019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50" idx="2"/>
          </p:cNvCxnSpPr>
          <p:nvPr/>
        </p:nvCxnSpPr>
        <p:spPr>
          <a:xfrm>
            <a:off x="3981450" y="4291526"/>
            <a:ext cx="526860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stCxn id="50" idx="2"/>
          </p:cNvCxnSpPr>
          <p:nvPr/>
        </p:nvCxnSpPr>
        <p:spPr>
          <a:xfrm flipH="1">
            <a:off x="3741748" y="4291526"/>
            <a:ext cx="239703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49" idx="2"/>
          </p:cNvCxnSpPr>
          <p:nvPr/>
        </p:nvCxnSpPr>
        <p:spPr>
          <a:xfrm>
            <a:off x="2240631" y="4291527"/>
            <a:ext cx="474963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49" idx="2"/>
          </p:cNvCxnSpPr>
          <p:nvPr/>
        </p:nvCxnSpPr>
        <p:spPr>
          <a:xfrm flipH="1">
            <a:off x="1949032" y="4291527"/>
            <a:ext cx="291599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5668215" y="1992868"/>
                <a:ext cx="3506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215" y="1992868"/>
                <a:ext cx="350672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3962400" y="2940302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2940302"/>
                <a:ext cx="350673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7246374" y="2974403"/>
                <a:ext cx="3506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374" y="2974403"/>
                <a:ext cx="350672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2819400" y="3778527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778527"/>
                <a:ext cx="350673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4639597" y="3774093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597" y="3774093"/>
                <a:ext cx="350673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6432433" y="3783622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433" y="3783622"/>
                <a:ext cx="350673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8001000" y="3779188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3779188"/>
                <a:ext cx="350673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012C2DE-48D7-4255-8090-ED57B66C05A8}"/>
              </a:ext>
            </a:extLst>
          </p:cNvPr>
          <p:cNvSpPr/>
          <p:nvPr/>
        </p:nvSpPr>
        <p:spPr>
          <a:xfrm>
            <a:off x="304801" y="1463359"/>
            <a:ext cx="2602580" cy="6397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Red box represents a problem instance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7C56E80-DC90-4EC4-92E0-C4399C5085E9}"/>
              </a:ext>
            </a:extLst>
          </p:cNvPr>
          <p:cNvSpPr/>
          <p:nvPr/>
        </p:nvSpPr>
        <p:spPr>
          <a:xfrm>
            <a:off x="304801" y="2129739"/>
            <a:ext cx="2602580" cy="811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Blue value represents time spent at that level of recursion</a:t>
            </a:r>
          </a:p>
        </p:txBody>
      </p:sp>
    </p:spTree>
    <p:extLst>
      <p:ext uri="{BB962C8B-B14F-4D97-AF65-F5344CB8AC3E}">
        <p14:creationId xmlns:p14="http://schemas.microsoft.com/office/powerpoint/2010/main" val="99370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 animBg="1"/>
      <p:bldP spid="43" grpId="0"/>
      <p:bldP spid="44" grpId="0" animBg="1"/>
      <p:bldP spid="46" grpId="0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/>
      <p:bldP spid="54" grpId="0"/>
      <p:bldP spid="55" grpId="0"/>
      <p:bldP spid="56" grpId="0"/>
      <p:bldP spid="57" grpId="0" animBg="1"/>
      <p:bldP spid="58" grpId="0" animBg="1"/>
      <p:bldP spid="59" grpId="0" animBg="1"/>
      <p:bldP spid="60" grpId="0"/>
      <p:bldP spid="61" grpId="0" animBg="1"/>
      <p:bldP spid="62" grpId="0" animBg="1"/>
      <p:bldP spid="63" grpId="0" animBg="1"/>
      <p:bldP spid="64" grpId="0"/>
      <p:bldP spid="66" grpId="0"/>
      <p:bldP spid="67" grpId="0"/>
      <p:bldP spid="68" grpId="0"/>
      <p:bldP spid="70" grpId="0"/>
      <p:bldP spid="71" grpId="0"/>
      <p:bldP spid="72" grpId="0"/>
      <p:bldP spid="74" grpId="0"/>
      <p:bldP spid="75" grpId="0"/>
      <p:bldP spid="77" grpId="0"/>
      <p:bldP spid="78" grpId="0"/>
      <p:bldP spid="80" grpId="0"/>
      <p:bldP spid="8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90D0C-1B23-3048-DE30-FDFDFF0F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Recurrence Relation idea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787A77-6AA3-D622-E32B-56253067DED6}"/>
                  </a:ext>
                </a:extLst>
              </p:cNvPr>
              <p:cNvSpPr txBox="1"/>
              <p:nvPr/>
            </p:nvSpPr>
            <p:spPr>
              <a:xfrm>
                <a:off x="2427317" y="1832697"/>
                <a:ext cx="4958730" cy="31926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        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represents the number of subproblems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represents the size of each subproblem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represents the amount of non-recursive work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is the work done in the base case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the size of the base case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787A77-6AA3-D622-E32B-56253067D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7317" y="1832697"/>
                <a:ext cx="4958730" cy="3192605"/>
              </a:xfrm>
              <a:prstGeom prst="rect">
                <a:avLst/>
              </a:prstGeom>
              <a:blipFill>
                <a:blip r:embed="rId2"/>
                <a:stretch>
                  <a:fillRect l="-369" r="-1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79877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Method Idea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2051914"/>
                <a:ext cx="3733827" cy="6911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600" dirty="0">
                    <a:latin typeface="Symbol" pitchFamily="18" charset="2"/>
                  </a:rPr>
                  <a:t>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2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6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26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sz="2600" dirty="0">
                    <a:solidFill>
                      <a:srgbClr val="FF0000"/>
                    </a:solidFill>
                  </a:rPr>
                  <a:t> </a:t>
                </a:r>
                <a:r>
                  <a:rPr lang="en-US" sz="2600" dirty="0"/>
                  <a:t>work per level</a:t>
                </a:r>
              </a:p>
            </p:txBody>
          </p:sp>
        </mc:Choice>
        <mc:Fallback xmlns="">
          <p:sp>
            <p:nvSpPr>
              <p:cNvPr id="41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2051914"/>
                <a:ext cx="3733827" cy="691151"/>
              </a:xfrm>
              <a:prstGeom prst="rect">
                <a:avLst/>
              </a:prstGeom>
              <a:blipFill>
                <a:blip r:embed="rId2"/>
                <a:stretch>
                  <a:fillRect l="-2121" r="-1794" b="-885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eft Brace 41"/>
          <p:cNvSpPr/>
          <p:nvPr/>
        </p:nvSpPr>
        <p:spPr>
          <a:xfrm flipH="1" flipV="1">
            <a:off x="8229600" y="2133600"/>
            <a:ext cx="250372" cy="3553177"/>
          </a:xfrm>
          <a:prstGeom prst="leftBrace">
            <a:avLst>
              <a:gd name="adj1" fmla="val 83199"/>
              <a:gd name="adj2" fmla="val 49631"/>
            </a:avLst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Box 2"/>
              <p:cNvSpPr txBox="1">
                <a:spLocks noChangeArrowheads="1"/>
              </p:cNvSpPr>
              <p:nvPr/>
            </p:nvSpPr>
            <p:spPr bwMode="auto">
              <a:xfrm>
                <a:off x="8267699" y="3676688"/>
                <a:ext cx="3049025" cy="954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sz="2800" i="1" dirty="0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log</m:t>
                        </m:r>
                      </m:e>
                      <m:sub>
                        <m:r>
                          <a:rPr lang="en-US" sz="2800" b="0" i="1" dirty="0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⁡</m:t>
                    </m:r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rgbClr val="FF00FF"/>
                    </a:solidFill>
                  </a:rPr>
                  <a:t> </a:t>
                </a:r>
                <a:r>
                  <a:rPr lang="en-US" sz="2800" dirty="0"/>
                  <a:t>levels</a:t>
                </a:r>
              </a:p>
              <a:p>
                <a:pPr algn="ctr"/>
                <a:r>
                  <a:rPr lang="en-US" sz="2800" dirty="0"/>
                  <a:t>of recursion</a:t>
                </a:r>
              </a:p>
            </p:txBody>
          </p:sp>
        </mc:Choice>
        <mc:Fallback xmlns="">
          <p:sp>
            <p:nvSpPr>
              <p:cNvPr id="4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699" y="3676688"/>
                <a:ext cx="3049025" cy="954107"/>
              </a:xfrm>
              <a:prstGeom prst="rect">
                <a:avLst/>
              </a:prstGeom>
              <a:blipFill>
                <a:blip r:embed="rId3"/>
                <a:stretch>
                  <a:fillRect t="-5732" b="-1719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41"/>
              <p:cNvSpPr txBox="1">
                <a:spLocks noChangeArrowheads="1"/>
              </p:cNvSpPr>
              <p:nvPr/>
            </p:nvSpPr>
            <p:spPr bwMode="auto">
              <a:xfrm>
                <a:off x="4381500" y="1643149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1500" y="1643149"/>
                <a:ext cx="13335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7986196" y="5455256"/>
                <a:ext cx="4075434" cy="13240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6196" y="5455256"/>
                <a:ext cx="4075434" cy="13240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41"/>
              <p:cNvSpPr txBox="1">
                <a:spLocks noChangeArrowheads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41"/>
              <p:cNvSpPr txBox="1">
                <a:spLocks noChangeArrowheads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Box 41"/>
              <p:cNvSpPr txBox="1">
                <a:spLocks noChangeArrowheads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Box 41"/>
              <p:cNvSpPr txBox="1">
                <a:spLocks noChangeArrowheads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0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Box 41"/>
              <p:cNvSpPr txBox="1">
                <a:spLocks noChangeArrowheads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41"/>
              <p:cNvSpPr txBox="1">
                <a:spLocks noChangeArrowheads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/>
          <p:cNvSpPr/>
          <p:nvPr/>
        </p:nvSpPr>
        <p:spPr>
          <a:xfrm rot="16200000">
            <a:off x="2018785" y="428126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4" name="Rectangle 53"/>
          <p:cNvSpPr/>
          <p:nvPr/>
        </p:nvSpPr>
        <p:spPr>
          <a:xfrm rot="16200000">
            <a:off x="36943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5" name="Rectangle 54"/>
          <p:cNvSpPr/>
          <p:nvPr/>
        </p:nvSpPr>
        <p:spPr>
          <a:xfrm rot="16200000">
            <a:off x="56374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6" name="Rectangle 55"/>
          <p:cNvSpPr/>
          <p:nvPr/>
        </p:nvSpPr>
        <p:spPr>
          <a:xfrm rot="16200000">
            <a:off x="7123351" y="433529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 Box 41"/>
              <p:cNvSpPr txBox="1">
                <a:spLocks noChangeArrowheads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 Box 41"/>
              <p:cNvSpPr txBox="1">
                <a:spLocks noChangeArrowheads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Box 41"/>
              <p:cNvSpPr txBox="1">
                <a:spLocks noChangeArrowheads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/>
          <p:cNvSpPr/>
          <p:nvPr/>
        </p:nvSpPr>
        <p:spPr>
          <a:xfrm>
            <a:off x="4133849" y="4917337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Box 41"/>
              <p:cNvSpPr txBox="1">
                <a:spLocks noChangeArrowheads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Box 41"/>
              <p:cNvSpPr txBox="1">
                <a:spLocks noChangeArrowheads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41"/>
              <p:cNvSpPr txBox="1">
                <a:spLocks noChangeArrowheads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3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/>
          <p:cNvCxnSpPr>
            <a:stCxn id="44" idx="2"/>
            <a:endCxn id="47" idx="0"/>
          </p:cNvCxnSpPr>
          <p:nvPr/>
        </p:nvCxnSpPr>
        <p:spPr>
          <a:xfrm flipH="1">
            <a:off x="3357354" y="2100349"/>
            <a:ext cx="1690896" cy="927903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44" idx="2"/>
            <a:endCxn id="48" idx="0"/>
          </p:cNvCxnSpPr>
          <p:nvPr/>
        </p:nvCxnSpPr>
        <p:spPr>
          <a:xfrm>
            <a:off x="5048250" y="2100349"/>
            <a:ext cx="1600200" cy="927903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47" idx="2"/>
            <a:endCxn id="49" idx="0"/>
          </p:cNvCxnSpPr>
          <p:nvPr/>
        </p:nvCxnSpPr>
        <p:spPr>
          <a:xfrm flipH="1">
            <a:off x="2240630" y="3485452"/>
            <a:ext cx="1116724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47" idx="2"/>
            <a:endCxn id="50" idx="0"/>
          </p:cNvCxnSpPr>
          <p:nvPr/>
        </p:nvCxnSpPr>
        <p:spPr>
          <a:xfrm>
            <a:off x="3357354" y="3485452"/>
            <a:ext cx="624096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48" idx="2"/>
            <a:endCxn id="51" idx="0"/>
          </p:cNvCxnSpPr>
          <p:nvPr/>
        </p:nvCxnSpPr>
        <p:spPr>
          <a:xfrm flipH="1">
            <a:off x="5848350" y="3485452"/>
            <a:ext cx="800100" cy="34692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48" idx="2"/>
            <a:endCxn id="52" idx="0"/>
          </p:cNvCxnSpPr>
          <p:nvPr/>
        </p:nvCxnSpPr>
        <p:spPr>
          <a:xfrm>
            <a:off x="6648450" y="3485452"/>
            <a:ext cx="762000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7486650" y="4291526"/>
            <a:ext cx="499546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52" idx="2"/>
          </p:cNvCxnSpPr>
          <p:nvPr/>
        </p:nvCxnSpPr>
        <p:spPr>
          <a:xfrm flipH="1">
            <a:off x="7143432" y="4291526"/>
            <a:ext cx="267019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51" idx="2"/>
          </p:cNvCxnSpPr>
          <p:nvPr/>
        </p:nvCxnSpPr>
        <p:spPr>
          <a:xfrm>
            <a:off x="5848351" y="4289576"/>
            <a:ext cx="499545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51" idx="2"/>
          </p:cNvCxnSpPr>
          <p:nvPr/>
        </p:nvCxnSpPr>
        <p:spPr>
          <a:xfrm flipH="1">
            <a:off x="5581332" y="4289576"/>
            <a:ext cx="267019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50" idx="2"/>
          </p:cNvCxnSpPr>
          <p:nvPr/>
        </p:nvCxnSpPr>
        <p:spPr>
          <a:xfrm>
            <a:off x="3981450" y="4291526"/>
            <a:ext cx="526860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stCxn id="50" idx="2"/>
          </p:cNvCxnSpPr>
          <p:nvPr/>
        </p:nvCxnSpPr>
        <p:spPr>
          <a:xfrm flipH="1">
            <a:off x="3741748" y="4291526"/>
            <a:ext cx="239703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49" idx="2"/>
          </p:cNvCxnSpPr>
          <p:nvPr/>
        </p:nvCxnSpPr>
        <p:spPr>
          <a:xfrm>
            <a:off x="2240631" y="4291527"/>
            <a:ext cx="474963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49" idx="2"/>
          </p:cNvCxnSpPr>
          <p:nvPr/>
        </p:nvCxnSpPr>
        <p:spPr>
          <a:xfrm flipH="1">
            <a:off x="1949032" y="4291527"/>
            <a:ext cx="291599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5668215" y="1502417"/>
                <a:ext cx="7003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215" y="1502417"/>
                <a:ext cx="700320" cy="369332"/>
              </a:xfrm>
              <a:prstGeom prst="rect">
                <a:avLst/>
              </a:prstGeom>
              <a:blipFill>
                <a:blip r:embed="rId1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3938703" y="3000181"/>
                <a:ext cx="774571" cy="5821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8703" y="3000181"/>
                <a:ext cx="774571" cy="58214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7243746" y="2913525"/>
                <a:ext cx="774571" cy="5821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746" y="2913525"/>
                <a:ext cx="774571" cy="58214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1905000" y="5105400"/>
                <a:ext cx="3506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105400"/>
                <a:ext cx="350672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907380" y="5105400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380" y="5105400"/>
                <a:ext cx="350673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TextBox 76"/>
          <p:cNvSpPr txBox="1"/>
          <p:nvPr/>
        </p:nvSpPr>
        <p:spPr>
          <a:xfrm>
            <a:off x="3821292" y="510540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5958794" y="5117390"/>
                <a:ext cx="3506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794" y="5117390"/>
                <a:ext cx="350672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6949394" y="5117390"/>
                <a:ext cx="3506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394" y="5117390"/>
                <a:ext cx="350672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7863794" y="5117390"/>
                <a:ext cx="3506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794" y="5117390"/>
                <a:ext cx="350672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012C2DE-48D7-4255-8090-ED57B66C05A8}"/>
              </a:ext>
            </a:extLst>
          </p:cNvPr>
          <p:cNvSpPr/>
          <p:nvPr/>
        </p:nvSpPr>
        <p:spPr>
          <a:xfrm>
            <a:off x="304801" y="1463359"/>
            <a:ext cx="2602580" cy="6397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Red box represents a problem instance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7C56E80-DC90-4EC4-92E0-C4399C5085E9}"/>
              </a:ext>
            </a:extLst>
          </p:cNvPr>
          <p:cNvSpPr/>
          <p:nvPr/>
        </p:nvSpPr>
        <p:spPr>
          <a:xfrm>
            <a:off x="304801" y="2129739"/>
            <a:ext cx="2602580" cy="811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Blue value represents time spent at that level of recursion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70D56C-90C3-C3EB-7F64-F539787EB840}"/>
                  </a:ext>
                </a:extLst>
              </p:cNvPr>
              <p:cNvSpPr txBox="1"/>
              <p:nvPr/>
            </p:nvSpPr>
            <p:spPr>
              <a:xfrm>
                <a:off x="5262405" y="388072"/>
                <a:ext cx="6097384" cy="9766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        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70D56C-90C3-C3EB-7F64-F539787EB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2405" y="388072"/>
                <a:ext cx="6097384" cy="97661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18E53FA-1AE9-8846-9CED-F859FC592CEF}"/>
              </a:ext>
            </a:extLst>
          </p:cNvPr>
          <p:cNvCxnSpPr>
            <a:cxnSpLocks/>
            <a:stCxn id="44" idx="2"/>
            <a:endCxn id="9" idx="0"/>
          </p:cNvCxnSpPr>
          <p:nvPr/>
        </p:nvCxnSpPr>
        <p:spPr>
          <a:xfrm flipH="1">
            <a:off x="4721907" y="2100349"/>
            <a:ext cx="326343" cy="74209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41">
                <a:extLst>
                  <a:ext uri="{FF2B5EF4-FFF2-40B4-BE49-F238E27FC236}">
                    <a16:creationId xmlns:a16="http://schemas.microsoft.com/office/drawing/2014/main" id="{D638AD2F-DDB1-6E9F-2463-946DDD7FD4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46570" y="2842444"/>
                <a:ext cx="350673" cy="205556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" name="Text Box 41">
                <a:extLst>
                  <a:ext uri="{FF2B5EF4-FFF2-40B4-BE49-F238E27FC236}">
                    <a16:creationId xmlns:a16="http://schemas.microsoft.com/office/drawing/2014/main" id="{D638AD2F-DDB1-6E9F-2463-946DDD7FD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46570" y="2842444"/>
                <a:ext cx="350673" cy="205556"/>
              </a:xfrm>
              <a:prstGeom prst="rect">
                <a:avLst/>
              </a:prstGeom>
              <a:blipFill>
                <a:blip r:embed="rId26"/>
                <a:stretch>
                  <a:fillRect l="-40678" t="-130556" r="-91525" b="-200000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A39BC03-6272-5F29-CED8-0BE19616D3B2}"/>
              </a:ext>
            </a:extLst>
          </p:cNvPr>
          <p:cNvCxnSpPr>
            <a:cxnSpLocks/>
            <a:stCxn id="44" idx="2"/>
            <a:endCxn id="13" idx="0"/>
          </p:cNvCxnSpPr>
          <p:nvPr/>
        </p:nvCxnSpPr>
        <p:spPr>
          <a:xfrm>
            <a:off x="5048250" y="2100349"/>
            <a:ext cx="249377" cy="73700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41">
                <a:extLst>
                  <a:ext uri="{FF2B5EF4-FFF2-40B4-BE49-F238E27FC236}">
                    <a16:creationId xmlns:a16="http://schemas.microsoft.com/office/drawing/2014/main" id="{54734CEF-E279-81A9-873C-9FA5E0C44E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22290" y="2837354"/>
                <a:ext cx="350673" cy="205556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3" name="Text Box 41">
                <a:extLst>
                  <a:ext uri="{FF2B5EF4-FFF2-40B4-BE49-F238E27FC236}">
                    <a16:creationId xmlns:a16="http://schemas.microsoft.com/office/drawing/2014/main" id="{54734CEF-E279-81A9-873C-9FA5E0C44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22290" y="2837354"/>
                <a:ext cx="350673" cy="205556"/>
              </a:xfrm>
              <a:prstGeom prst="rect">
                <a:avLst/>
              </a:prstGeom>
              <a:blipFill>
                <a:blip r:embed="rId27"/>
                <a:stretch>
                  <a:fillRect l="-40000" t="-130556" r="-88333" b="-200000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B11AB328-83EB-CA4F-78C7-A3F59BEEC0C8}"/>
              </a:ext>
            </a:extLst>
          </p:cNvPr>
          <p:cNvSpPr txBox="1"/>
          <p:nvPr/>
        </p:nvSpPr>
        <p:spPr>
          <a:xfrm>
            <a:off x="4868058" y="2290708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59C7E86-D6BA-A25A-7646-D7F898FD4982}"/>
                  </a:ext>
                </a:extLst>
              </p:cNvPr>
              <p:cNvSpPr txBox="1"/>
              <p:nvPr/>
            </p:nvSpPr>
            <p:spPr>
              <a:xfrm>
                <a:off x="5998489" y="2193106"/>
                <a:ext cx="11330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 children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59C7E86-D6BA-A25A-7646-D7F898FD4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8489" y="2193106"/>
                <a:ext cx="1133067" cy="369332"/>
              </a:xfrm>
              <a:prstGeom prst="rect">
                <a:avLst/>
              </a:prstGeom>
              <a:blipFill>
                <a:blip r:embed="rId28"/>
                <a:stretch>
                  <a:fillRect t="-10000" r="-537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>
            <a:extLst>
              <a:ext uri="{FF2B5EF4-FFF2-40B4-BE49-F238E27FC236}">
                <a16:creationId xmlns:a16="http://schemas.microsoft.com/office/drawing/2014/main" id="{72212A49-968F-2FE6-E749-CF9D50A816E1}"/>
              </a:ext>
            </a:extLst>
          </p:cNvPr>
          <p:cNvSpPr/>
          <p:nvPr/>
        </p:nvSpPr>
        <p:spPr>
          <a:xfrm>
            <a:off x="3917190" y="2192780"/>
            <a:ext cx="2105380" cy="541231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57C221-868E-B869-572C-E0BC23B98019}"/>
              </a:ext>
            </a:extLst>
          </p:cNvPr>
          <p:cNvSpPr txBox="1"/>
          <p:nvPr/>
        </p:nvSpPr>
        <p:spPr>
          <a:xfrm>
            <a:off x="3158074" y="3434878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44A0F7-DE41-E731-8D25-FE8C14C31D27}"/>
              </a:ext>
            </a:extLst>
          </p:cNvPr>
          <p:cNvSpPr txBox="1"/>
          <p:nvPr/>
        </p:nvSpPr>
        <p:spPr>
          <a:xfrm>
            <a:off x="6500332" y="3422981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B5EFCC8-2511-2CBA-BC3F-4FC7D99D1888}"/>
                  </a:ext>
                </a:extLst>
              </p:cNvPr>
              <p:cNvSpPr txBox="1"/>
              <p:nvPr/>
            </p:nvSpPr>
            <p:spPr>
              <a:xfrm>
                <a:off x="2682951" y="3664905"/>
                <a:ext cx="599428" cy="418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sz="1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B5EFCC8-2511-2CBA-BC3F-4FC7D99D1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951" y="3664905"/>
                <a:ext cx="599428" cy="418897"/>
              </a:xfrm>
              <a:prstGeom prst="rect">
                <a:avLst/>
              </a:prstGeom>
              <a:blipFill>
                <a:blip r:embed="rId29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D1EE505-AD29-75CF-18DE-408C90F622F7}"/>
                  </a:ext>
                </a:extLst>
              </p:cNvPr>
              <p:cNvSpPr txBox="1"/>
              <p:nvPr/>
            </p:nvSpPr>
            <p:spPr>
              <a:xfrm>
                <a:off x="4428694" y="3534513"/>
                <a:ext cx="599428" cy="418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sz="1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D1EE505-AD29-75CF-18DE-408C90F62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8694" y="3534513"/>
                <a:ext cx="599428" cy="418897"/>
              </a:xfrm>
              <a:prstGeom prst="rect">
                <a:avLst/>
              </a:prstGeom>
              <a:blipFill>
                <a:blip r:embed="rId30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FEEBB53-2F63-88EC-F2A3-B099814D5D8B}"/>
                  </a:ext>
                </a:extLst>
              </p:cNvPr>
              <p:cNvSpPr txBox="1"/>
              <p:nvPr/>
            </p:nvSpPr>
            <p:spPr>
              <a:xfrm>
                <a:off x="6243095" y="3607647"/>
                <a:ext cx="599428" cy="418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sz="1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FEEBB53-2F63-88EC-F2A3-B099814D5D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3095" y="3607647"/>
                <a:ext cx="599428" cy="418897"/>
              </a:xfrm>
              <a:prstGeom prst="rect">
                <a:avLst/>
              </a:prstGeom>
              <a:blipFill>
                <a:blip r:embed="rId31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970A6AF-23D7-7AA6-DAD7-98F4800EE782}"/>
                  </a:ext>
                </a:extLst>
              </p:cNvPr>
              <p:cNvSpPr txBox="1"/>
              <p:nvPr/>
            </p:nvSpPr>
            <p:spPr>
              <a:xfrm>
                <a:off x="7731945" y="3619544"/>
                <a:ext cx="599428" cy="418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sz="1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970A6AF-23D7-7AA6-DAD7-98F4800EE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1945" y="3619544"/>
                <a:ext cx="599428" cy="418897"/>
              </a:xfrm>
              <a:prstGeom prst="rect">
                <a:avLst/>
              </a:prstGeom>
              <a:blipFill>
                <a:blip r:embed="rId32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3FBF37B7-F939-C99F-F69C-68F40B42206D}"/>
              </a:ext>
            </a:extLst>
          </p:cNvPr>
          <p:cNvSpPr/>
          <p:nvPr/>
        </p:nvSpPr>
        <p:spPr>
          <a:xfrm>
            <a:off x="7559371" y="457200"/>
            <a:ext cx="2424214" cy="3021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06E93E2-2D58-B661-6261-BDD94F5F4666}"/>
              </a:ext>
            </a:extLst>
          </p:cNvPr>
          <p:cNvSpPr txBox="1"/>
          <p:nvPr/>
        </p:nvSpPr>
        <p:spPr>
          <a:xfrm>
            <a:off x="7986196" y="141470"/>
            <a:ext cx="3520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Asymptotically, these never matter!</a:t>
            </a:r>
          </a:p>
        </p:txBody>
      </p:sp>
    </p:spTree>
    <p:extLst>
      <p:ext uri="{BB962C8B-B14F-4D97-AF65-F5344CB8AC3E}">
        <p14:creationId xmlns:p14="http://schemas.microsoft.com/office/powerpoint/2010/main" val="2628390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 animBg="1"/>
      <p:bldP spid="43" grpId="0"/>
      <p:bldP spid="44" grpId="0" animBg="1"/>
      <p:bldP spid="46" grpId="0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/>
      <p:bldP spid="54" grpId="0"/>
      <p:bldP spid="55" grpId="0"/>
      <p:bldP spid="56" grpId="0"/>
      <p:bldP spid="57" grpId="0" animBg="1"/>
      <p:bldP spid="58" grpId="0" animBg="1"/>
      <p:bldP spid="59" grpId="0" animBg="1"/>
      <p:bldP spid="60" grpId="0"/>
      <p:bldP spid="61" grpId="0" animBg="1"/>
      <p:bldP spid="62" grpId="0" animBg="1"/>
      <p:bldP spid="63" grpId="0" animBg="1"/>
      <p:bldP spid="64" grpId="0"/>
      <p:bldP spid="66" grpId="0"/>
      <p:bldP spid="67" grpId="0"/>
      <p:bldP spid="74" grpId="0"/>
      <p:bldP spid="75" grpId="0"/>
      <p:bldP spid="77" grpId="0"/>
      <p:bldP spid="78" grpId="0"/>
      <p:bldP spid="80" grpId="0"/>
      <p:bldP spid="81" grpId="0"/>
      <p:bldP spid="9" grpId="0" animBg="1"/>
      <p:bldP spid="13" grpId="0" animBg="1"/>
      <p:bldP spid="35" grpId="0"/>
      <p:bldP spid="36" grpId="0"/>
      <p:bldP spid="37" grpId="0"/>
      <p:bldP spid="3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AE782-C07E-8C9D-F03B-E1555654D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List Summation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4CB12C-1484-4384-0A8A-F40C8F0890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nary>
                    </m:oMath>
                  </m:oMathPara>
                </a14:m>
                <a:endParaRPr lang="en-US" sz="2800" b="0" dirty="0"/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b="0" dirty="0"/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func>
                                    <m:func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b="0" i="0" smtClean="0"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sup>
                              </m:sSup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1−2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800" dirty="0"/>
              </a:p>
              <a:p>
                <a:pPr marL="457200" lvl="1" indent="0"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4CB12C-1484-4384-0A8A-F40C8F0890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250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23060</TotalTime>
  <Words>2646</Words>
  <Application>Microsoft Office PowerPoint</Application>
  <PresentationFormat>Widescreen</PresentationFormat>
  <Paragraphs>798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Symbol</vt:lpstr>
      <vt:lpstr>Calibri Light</vt:lpstr>
      <vt:lpstr>Cambria Math</vt:lpstr>
      <vt:lpstr>Calibri</vt:lpstr>
      <vt:lpstr>Arial</vt:lpstr>
      <vt:lpstr>Office Theme</vt:lpstr>
      <vt:lpstr>CSE 332 Winter 2024 Lecture 6: Priority Queues and recurrences</vt:lpstr>
      <vt:lpstr>ADT: Priority Queue</vt:lpstr>
      <vt:lpstr>Thinking through implementations</vt:lpstr>
      <vt:lpstr>(Min) Heap Data Structure</vt:lpstr>
      <vt:lpstr>Representing a Heap</vt:lpstr>
      <vt:lpstr>Representing a Heap</vt:lpstr>
      <vt:lpstr>Insert Psuedocode</vt:lpstr>
      <vt:lpstr>Heap extract</vt:lpstr>
      <vt:lpstr>Percolate Up and Down (for a Min Heap)</vt:lpstr>
      <vt:lpstr>Percolate Up</vt:lpstr>
      <vt:lpstr>Percolate Down</vt:lpstr>
      <vt:lpstr>Other Operations</vt:lpstr>
      <vt:lpstr>Building a Heap From “Scratch”</vt:lpstr>
      <vt:lpstr>Floyd’s buildHeap method</vt:lpstr>
      <vt:lpstr>Floyd’s buildHeap method</vt:lpstr>
      <vt:lpstr>Floyd’s buildHeap method</vt:lpstr>
      <vt:lpstr>Floyd’s buildHeap method</vt:lpstr>
      <vt:lpstr>Floyd’s buildHeap method</vt:lpstr>
      <vt:lpstr>Floyd’s buildHeap method</vt:lpstr>
      <vt:lpstr>Floyd’s buildHeap method</vt:lpstr>
      <vt:lpstr>How long did this take?</vt:lpstr>
      <vt:lpstr>Binary Search</vt:lpstr>
      <vt:lpstr>Analysis of Recursive Algorithms</vt:lpstr>
      <vt:lpstr>How Efficient Is It?</vt:lpstr>
      <vt:lpstr>Let’s Solve the Recurrence!</vt:lpstr>
      <vt:lpstr>Recursive Linear Search</vt:lpstr>
      <vt:lpstr>Unrolling Method</vt:lpstr>
      <vt:lpstr>Recursive List Summation</vt:lpstr>
      <vt:lpstr>Loop Unrolling Method</vt:lpstr>
      <vt:lpstr>Loop Unrolling Method</vt:lpstr>
      <vt:lpstr>Tree Method</vt:lpstr>
      <vt:lpstr>Recurrence Relation idea</vt:lpstr>
      <vt:lpstr>Tree Method Idea</vt:lpstr>
      <vt:lpstr>Recursive List Summation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1: Intro to ADTs, Stacks, Queues</dc:title>
  <dc:creator>Nathan Brunelle</dc:creator>
  <cp:lastModifiedBy>Nathan Brunelle</cp:lastModifiedBy>
  <cp:revision>129</cp:revision>
  <dcterms:created xsi:type="dcterms:W3CDTF">2023-09-26T20:08:20Z</dcterms:created>
  <dcterms:modified xsi:type="dcterms:W3CDTF">2026-01-16T14:05:16Z</dcterms:modified>
</cp:coreProperties>
</file>